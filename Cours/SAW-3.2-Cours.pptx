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28bcddcb804658" /><Relationship Type="http://schemas.openxmlformats.org/officeDocument/2006/relationships/extended-properties" Target="/docProps/app.xml" Id="R22e56eae042e46b6" /><Relationship Type="http://schemas.openxmlformats.org/officeDocument/2006/relationships/officeDocument" Target="/ppt/presentation.xml" Id="R26be3cc91d254f8f" /></Relationships>
</file>

<file path=ppt/presentation.xml><?xml version="1.0" encoding="utf-8"?>
<p:presentation xmlns:p="http://schemas.openxmlformats.org/presentationml/2006/main">
  <p:sldMasterIdLst>
    <p:sldMasterId xmlns:r="http://schemas.openxmlformats.org/officeDocument/2006/relationships" id="2147483648" r:id="R3e84012f1c1147a6"/>
  </p:sldMasterIdLst>
  <p:notesMasterIdLst>
    <p:notesMasterId xmlns:r="http://schemas.openxmlformats.org/officeDocument/2006/relationships" r:id="R6659f70bf32a4c8e"/>
  </p:notesMasterIdLst>
  <p:sldIdLst>
    <p:sldId xmlns:r="http://schemas.openxmlformats.org/officeDocument/2006/relationships" id="256" r:id="R51d06931ef7a41be"/>
    <p:sldId xmlns:r="http://schemas.openxmlformats.org/officeDocument/2006/relationships" id="257" r:id="Re90eefc0f4044489"/>
    <p:sldId xmlns:r="http://schemas.openxmlformats.org/officeDocument/2006/relationships" id="258" r:id="Ra7a421fe6e6c478e"/>
    <p:sldId xmlns:r="http://schemas.openxmlformats.org/officeDocument/2006/relationships" id="259" r:id="R6bffcf76c9674724"/>
    <p:sldId xmlns:r="http://schemas.openxmlformats.org/officeDocument/2006/relationships" id="260" r:id="R34f2067dcd1c42ae"/>
    <p:sldId xmlns:r="http://schemas.openxmlformats.org/officeDocument/2006/relationships" id="261" r:id="Rb19ba61289fb49e5"/>
    <p:sldId xmlns:r="http://schemas.openxmlformats.org/officeDocument/2006/relationships" id="262" r:id="Ra8a75e308c3e4eaa"/>
    <p:sldId xmlns:r="http://schemas.openxmlformats.org/officeDocument/2006/relationships" id="263" r:id="R28dd47b287a14625"/>
    <p:sldId xmlns:r="http://schemas.openxmlformats.org/officeDocument/2006/relationships" id="264" r:id="Rf393231669594202"/>
    <p:sldId xmlns:r="http://schemas.openxmlformats.org/officeDocument/2006/relationships" id="265" r:id="R70edc50ee0f94ed5"/>
    <p:sldId xmlns:r="http://schemas.openxmlformats.org/officeDocument/2006/relationships" id="266" r:id="R6ab9565410b64565"/>
    <p:sldId xmlns:r="http://schemas.openxmlformats.org/officeDocument/2006/relationships" id="267" r:id="R317cb0e80c694714"/>
    <p:sldId xmlns:r="http://schemas.openxmlformats.org/officeDocument/2006/relationships" id="268" r:id="R1c719636cd654725"/>
    <p:sldId xmlns:r="http://schemas.openxmlformats.org/officeDocument/2006/relationships" id="269" r:id="Rd54e0cb5ab854a67"/>
    <p:sldId xmlns:r="http://schemas.openxmlformats.org/officeDocument/2006/relationships" id="270" r:id="R27b0a5265fe0473c"/>
    <p:sldId xmlns:r="http://schemas.openxmlformats.org/officeDocument/2006/relationships" id="271" r:id="Rd7c911e7de7f4ba1"/>
    <p:sldId xmlns:r="http://schemas.openxmlformats.org/officeDocument/2006/relationships" id="272" r:id="R05092cdff89347ef"/>
    <p:sldId xmlns:r="http://schemas.openxmlformats.org/officeDocument/2006/relationships" id="273" r:id="Rd28044f32eb8428b"/>
    <p:sldId xmlns:r="http://schemas.openxmlformats.org/officeDocument/2006/relationships" id="274" r:id="Rbf37dc4ddd3542bb"/>
    <p:sldId xmlns:r="http://schemas.openxmlformats.org/officeDocument/2006/relationships" id="275" r:id="R94eab670cb854c85"/>
    <p:sldId xmlns:r="http://schemas.openxmlformats.org/officeDocument/2006/relationships" id="276" r:id="Rc81dbcb59be24a3e"/>
    <p:sldId xmlns:r="http://schemas.openxmlformats.org/officeDocument/2006/relationships" id="277" r:id="R974d52478fb34f5a"/>
    <p:sldId xmlns:r="http://schemas.openxmlformats.org/officeDocument/2006/relationships" id="278" r:id="Re1c93cbb4d08493e"/>
    <p:sldId xmlns:r="http://schemas.openxmlformats.org/officeDocument/2006/relationships" id="279" r:id="R874b0f42f8e4466b"/>
    <p:sldId xmlns:r="http://schemas.openxmlformats.org/officeDocument/2006/relationships" id="280" r:id="Ra03cf1e33ad54fe0"/>
    <p:sldId xmlns:r="http://schemas.openxmlformats.org/officeDocument/2006/relationships" id="281" r:id="R56090d59b5774a90"/>
    <p:sldId xmlns:r="http://schemas.openxmlformats.org/officeDocument/2006/relationships" id="282" r:id="Rff25b40d48f84b54"/>
    <p:sldId xmlns:r="http://schemas.openxmlformats.org/officeDocument/2006/relationships" id="283" r:id="R20f80dd1d6f047a0"/>
    <p:sldId xmlns:r="http://schemas.openxmlformats.org/officeDocument/2006/relationships" id="284" r:id="R873a37bb062a40fa"/>
    <p:sldId xmlns:r="http://schemas.openxmlformats.org/officeDocument/2006/relationships" id="285" r:id="Rdecd88837b8247a7"/>
    <p:sldId xmlns:r="http://schemas.openxmlformats.org/officeDocument/2006/relationships" id="286" r:id="R9c6a7ea9599246d9"/>
    <p:sldId xmlns:r="http://schemas.openxmlformats.org/officeDocument/2006/relationships" id="287" r:id="R7dc3f0680d8a40e5"/>
    <p:sldId xmlns:r="http://schemas.openxmlformats.org/officeDocument/2006/relationships" id="288" r:id="Rcbb2dbd1714047d9"/>
    <p:sldId xmlns:r="http://schemas.openxmlformats.org/officeDocument/2006/relationships" id="289" r:id="R4d27945985ad4f0f"/>
    <p:sldId xmlns:r="http://schemas.openxmlformats.org/officeDocument/2006/relationships" id="290" r:id="Rf48051ceb257406c"/>
    <p:sldId xmlns:r="http://schemas.openxmlformats.org/officeDocument/2006/relationships" id="291" r:id="R9a373cc19e0d471f"/>
    <p:sldId xmlns:r="http://schemas.openxmlformats.org/officeDocument/2006/relationships" id="292" r:id="R5da539d16ad64533"/>
    <p:sldId xmlns:r="http://schemas.openxmlformats.org/officeDocument/2006/relationships" id="293" r:id="Rf14b9e5de73d49e9"/>
    <p:sldId xmlns:r="http://schemas.openxmlformats.org/officeDocument/2006/relationships" id="294" r:id="R66a0a16e54ca45e7"/>
    <p:sldId xmlns:r="http://schemas.openxmlformats.org/officeDocument/2006/relationships" id="295" r:id="R7b59ce0b53e544db"/>
    <p:sldId xmlns:r="http://schemas.openxmlformats.org/officeDocument/2006/relationships" id="296" r:id="R45d90b47327f44fc"/>
    <p:sldId xmlns:r="http://schemas.openxmlformats.org/officeDocument/2006/relationships" id="297" r:id="R923bb8c7a8244572"/>
    <p:sldId xmlns:r="http://schemas.openxmlformats.org/officeDocument/2006/relationships" id="298" r:id="Ra7dc746a4c934a10"/>
    <p:sldId xmlns:r="http://schemas.openxmlformats.org/officeDocument/2006/relationships" id="299" r:id="R978864307d244ff1"/>
    <p:sldId xmlns:r="http://schemas.openxmlformats.org/officeDocument/2006/relationships" id="300" r:id="Rf78a65213ae54a93"/>
    <p:sldId xmlns:r="http://schemas.openxmlformats.org/officeDocument/2006/relationships" id="301" r:id="R157b383afddf45f4"/>
    <p:sldId xmlns:r="http://schemas.openxmlformats.org/officeDocument/2006/relationships" id="302" r:id="Rfb1ccfdbaa964a47"/>
    <p:sldId xmlns:r="http://schemas.openxmlformats.org/officeDocument/2006/relationships" id="303" r:id="Rfa0b2486ad154a21"/>
    <p:sldId xmlns:r="http://schemas.openxmlformats.org/officeDocument/2006/relationships" id="304" r:id="Rc22a6e7709cf4316"/>
    <p:sldId xmlns:r="http://schemas.openxmlformats.org/officeDocument/2006/relationships" id="305" r:id="R9f021f9dc5294842"/>
    <p:sldId xmlns:r="http://schemas.openxmlformats.org/officeDocument/2006/relationships" id="306" r:id="Ra5b58ab09f744181"/>
    <p:sldId xmlns:r="http://schemas.openxmlformats.org/officeDocument/2006/relationships" id="307" r:id="Rebeebb92ec00463b"/>
    <p:sldId xmlns:r="http://schemas.openxmlformats.org/officeDocument/2006/relationships" id="308" r:id="R57f28391657e4065"/>
    <p:sldId xmlns:r="http://schemas.openxmlformats.org/officeDocument/2006/relationships" id="309" r:id="Re6bfe130afe64e94"/>
    <p:sldId xmlns:r="http://schemas.openxmlformats.org/officeDocument/2006/relationships" id="310" r:id="R4eaf02503a9d4499"/>
    <p:sldId xmlns:r="http://schemas.openxmlformats.org/officeDocument/2006/relationships" id="311" r:id="R46bebf658d944ca9"/>
    <p:sldId xmlns:r="http://schemas.openxmlformats.org/officeDocument/2006/relationships" id="312" r:id="R2585ef96d1884725"/>
    <p:sldId xmlns:r="http://schemas.openxmlformats.org/officeDocument/2006/relationships" id="313" r:id="Re276d57baf47440e"/>
    <p:sldId xmlns:r="http://schemas.openxmlformats.org/officeDocument/2006/relationships" id="314" r:id="Rb5a038455c624d36"/>
    <p:sldId xmlns:r="http://schemas.openxmlformats.org/officeDocument/2006/relationships" id="315" r:id="R2f2b8fd522444eb0"/>
    <p:sldId xmlns:r="http://schemas.openxmlformats.org/officeDocument/2006/relationships" id="316" r:id="R551b11da9992423d"/>
    <p:sldId xmlns:r="http://schemas.openxmlformats.org/officeDocument/2006/relationships" id="317" r:id="R577b0b9e49ab4dc1"/>
    <p:sldId xmlns:r="http://schemas.openxmlformats.org/officeDocument/2006/relationships" id="318" r:id="R61ebfad2232d4f8f"/>
    <p:sldId xmlns:r="http://schemas.openxmlformats.org/officeDocument/2006/relationships" id="319" r:id="R8fcf97e74e1941d2"/>
    <p:sldId xmlns:r="http://schemas.openxmlformats.org/officeDocument/2006/relationships" id="320" r:id="R60f3bfb5a7e245dc"/>
    <p:sldId xmlns:r="http://schemas.openxmlformats.org/officeDocument/2006/relationships" id="321" r:id="Rf39b230bdf314609"/>
    <p:sldId xmlns:r="http://schemas.openxmlformats.org/officeDocument/2006/relationships" id="322" r:id="R3a7e064d4ae047ed"/>
    <p:sldId xmlns:r="http://schemas.openxmlformats.org/officeDocument/2006/relationships" id="323" r:id="Red5a9d752bb9463a"/>
    <p:sldId xmlns:r="http://schemas.openxmlformats.org/officeDocument/2006/relationships" id="324" r:id="Rf46395522a044d92"/>
    <p:sldId xmlns:r="http://schemas.openxmlformats.org/officeDocument/2006/relationships" id="325" r:id="Ra9dcfb8ff8684652"/>
    <p:sldId xmlns:r="http://schemas.openxmlformats.org/officeDocument/2006/relationships" id="326" r:id="Rce3e5d1aab454028"/>
    <p:sldId xmlns:r="http://schemas.openxmlformats.org/officeDocument/2006/relationships" id="327" r:id="Rc623bffc2e1e48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d181a87cca4252" /><Relationship Type="http://schemas.openxmlformats.org/officeDocument/2006/relationships/slideMaster" Target="/ppt/slideMasters/slideMaster1.xml" Id="R3e84012f1c1147a6" /><Relationship Type="http://schemas.openxmlformats.org/officeDocument/2006/relationships/notesMaster" Target="/ppt/notesMasters/notesMaster1.xml" Id="R6659f70bf32a4c8e" /><Relationship Type="http://schemas.openxmlformats.org/officeDocument/2006/relationships/presProps" Target="/ppt/presProps.xml" Id="R2b0cf57276274c91" /><Relationship Type="http://schemas.openxmlformats.org/officeDocument/2006/relationships/tableStyles" Target="/ppt/tableStyles.xml" Id="Rfd6019e09f9745dd" /><Relationship Type="http://schemas.openxmlformats.org/officeDocument/2006/relationships/slide" Target="/ppt/slides/slide1.xml" Id="R51d06931ef7a41be" /><Relationship Type="http://schemas.openxmlformats.org/officeDocument/2006/relationships/slide" Target="/ppt/slides/slide2.xml" Id="Re90eefc0f4044489" /><Relationship Type="http://schemas.openxmlformats.org/officeDocument/2006/relationships/slide" Target="/ppt/slides/slide3.xml" Id="Ra7a421fe6e6c478e" /><Relationship Type="http://schemas.openxmlformats.org/officeDocument/2006/relationships/slide" Target="/ppt/slides/slide4.xml" Id="R6bffcf76c9674724" /><Relationship Type="http://schemas.openxmlformats.org/officeDocument/2006/relationships/slide" Target="/ppt/slides/slide5.xml" Id="R34f2067dcd1c42ae" /><Relationship Type="http://schemas.openxmlformats.org/officeDocument/2006/relationships/slide" Target="/ppt/slides/slide6.xml" Id="Rb19ba61289fb49e5" /><Relationship Type="http://schemas.openxmlformats.org/officeDocument/2006/relationships/slide" Target="/ppt/slides/slide7.xml" Id="Ra8a75e308c3e4eaa" /><Relationship Type="http://schemas.openxmlformats.org/officeDocument/2006/relationships/slide" Target="/ppt/slides/slide8.xml" Id="R28dd47b287a14625" /><Relationship Type="http://schemas.openxmlformats.org/officeDocument/2006/relationships/slide" Target="/ppt/slides/slide9.xml" Id="Rf393231669594202" /><Relationship Type="http://schemas.openxmlformats.org/officeDocument/2006/relationships/slide" Target="/ppt/slides/slide10.xml" Id="R70edc50ee0f94ed5" /><Relationship Type="http://schemas.openxmlformats.org/officeDocument/2006/relationships/slide" Target="/ppt/slides/slide11.xml" Id="R6ab9565410b64565" /><Relationship Type="http://schemas.openxmlformats.org/officeDocument/2006/relationships/slide" Target="/ppt/slides/slide12.xml" Id="R317cb0e80c694714" /><Relationship Type="http://schemas.openxmlformats.org/officeDocument/2006/relationships/slide" Target="/ppt/slides/slide13.xml" Id="R1c719636cd654725" /><Relationship Type="http://schemas.openxmlformats.org/officeDocument/2006/relationships/slide" Target="/ppt/slides/slide14.xml" Id="Rd54e0cb5ab854a67" /><Relationship Type="http://schemas.openxmlformats.org/officeDocument/2006/relationships/slide" Target="/ppt/slides/slide15.xml" Id="R27b0a5265fe0473c" /><Relationship Type="http://schemas.openxmlformats.org/officeDocument/2006/relationships/slide" Target="/ppt/slides/slide16.xml" Id="Rd7c911e7de7f4ba1" /><Relationship Type="http://schemas.openxmlformats.org/officeDocument/2006/relationships/slide" Target="/ppt/slides/slide17.xml" Id="R05092cdff89347ef" /><Relationship Type="http://schemas.openxmlformats.org/officeDocument/2006/relationships/slide" Target="/ppt/slides/slide18.xml" Id="Rd28044f32eb8428b" /><Relationship Type="http://schemas.openxmlformats.org/officeDocument/2006/relationships/slide" Target="/ppt/slides/slide19.xml" Id="Rbf37dc4ddd3542bb" /><Relationship Type="http://schemas.openxmlformats.org/officeDocument/2006/relationships/slide" Target="/ppt/slides/slide20.xml" Id="R94eab670cb854c85" /><Relationship Type="http://schemas.openxmlformats.org/officeDocument/2006/relationships/slide" Target="/ppt/slides/slide21.xml" Id="Rc81dbcb59be24a3e" /><Relationship Type="http://schemas.openxmlformats.org/officeDocument/2006/relationships/slide" Target="/ppt/slides/slide22.xml" Id="R974d52478fb34f5a" /><Relationship Type="http://schemas.openxmlformats.org/officeDocument/2006/relationships/slide" Target="/ppt/slides/slide23.xml" Id="Re1c93cbb4d08493e" /><Relationship Type="http://schemas.openxmlformats.org/officeDocument/2006/relationships/slide" Target="/ppt/slides/slide24.xml" Id="R874b0f42f8e4466b" /><Relationship Type="http://schemas.openxmlformats.org/officeDocument/2006/relationships/slide" Target="/ppt/slides/slide25.xml" Id="Ra03cf1e33ad54fe0" /><Relationship Type="http://schemas.openxmlformats.org/officeDocument/2006/relationships/slide" Target="/ppt/slides/slide26.xml" Id="R56090d59b5774a90" /><Relationship Type="http://schemas.openxmlformats.org/officeDocument/2006/relationships/slide" Target="/ppt/slides/slide27.xml" Id="Rff25b40d48f84b54" /><Relationship Type="http://schemas.openxmlformats.org/officeDocument/2006/relationships/slide" Target="/ppt/slides/slide28.xml" Id="R20f80dd1d6f047a0" /><Relationship Type="http://schemas.openxmlformats.org/officeDocument/2006/relationships/slide" Target="/ppt/slides/slide29.xml" Id="R873a37bb062a40fa" /><Relationship Type="http://schemas.openxmlformats.org/officeDocument/2006/relationships/slide" Target="/ppt/slides/slide30.xml" Id="Rdecd88837b8247a7" /><Relationship Type="http://schemas.openxmlformats.org/officeDocument/2006/relationships/slide" Target="/ppt/slides/slide31.xml" Id="R9c6a7ea9599246d9" /><Relationship Type="http://schemas.openxmlformats.org/officeDocument/2006/relationships/slide" Target="/ppt/slides/slide32.xml" Id="R7dc3f0680d8a40e5" /><Relationship Type="http://schemas.openxmlformats.org/officeDocument/2006/relationships/slide" Target="/ppt/slides/slide33.xml" Id="Rcbb2dbd1714047d9" /><Relationship Type="http://schemas.openxmlformats.org/officeDocument/2006/relationships/slide" Target="/ppt/slides/slide34.xml" Id="R4d27945985ad4f0f" /><Relationship Type="http://schemas.openxmlformats.org/officeDocument/2006/relationships/slide" Target="/ppt/slides/slide35.xml" Id="Rf48051ceb257406c" /><Relationship Type="http://schemas.openxmlformats.org/officeDocument/2006/relationships/slide" Target="/ppt/slides/slide36.xml" Id="R9a373cc19e0d471f" /><Relationship Type="http://schemas.openxmlformats.org/officeDocument/2006/relationships/slide" Target="/ppt/slides/slide37.xml" Id="R5da539d16ad64533" /><Relationship Type="http://schemas.openxmlformats.org/officeDocument/2006/relationships/slide" Target="/ppt/slides/slide38.xml" Id="Rf14b9e5de73d49e9" /><Relationship Type="http://schemas.openxmlformats.org/officeDocument/2006/relationships/slide" Target="/ppt/slides/slide39.xml" Id="R66a0a16e54ca45e7" /><Relationship Type="http://schemas.openxmlformats.org/officeDocument/2006/relationships/slide" Target="/ppt/slides/slide40.xml" Id="R7b59ce0b53e544db" /><Relationship Type="http://schemas.openxmlformats.org/officeDocument/2006/relationships/slide" Target="/ppt/slides/slide41.xml" Id="R45d90b47327f44fc" /><Relationship Type="http://schemas.openxmlformats.org/officeDocument/2006/relationships/slide" Target="/ppt/slides/slide42.xml" Id="R923bb8c7a8244572" /><Relationship Type="http://schemas.openxmlformats.org/officeDocument/2006/relationships/slide" Target="/ppt/slides/slide43.xml" Id="Ra7dc746a4c934a10" /><Relationship Type="http://schemas.openxmlformats.org/officeDocument/2006/relationships/slide" Target="/ppt/slides/slide44.xml" Id="R978864307d244ff1" /><Relationship Type="http://schemas.openxmlformats.org/officeDocument/2006/relationships/slide" Target="/ppt/slides/slide45.xml" Id="Rf78a65213ae54a93" /><Relationship Type="http://schemas.openxmlformats.org/officeDocument/2006/relationships/slide" Target="/ppt/slides/slide46.xml" Id="R157b383afddf45f4" /><Relationship Type="http://schemas.openxmlformats.org/officeDocument/2006/relationships/slide" Target="/ppt/slides/slide47.xml" Id="Rfb1ccfdbaa964a47" /><Relationship Type="http://schemas.openxmlformats.org/officeDocument/2006/relationships/slide" Target="/ppt/slides/slide48.xml" Id="Rfa0b2486ad154a21" /><Relationship Type="http://schemas.openxmlformats.org/officeDocument/2006/relationships/slide" Target="/ppt/slides/slide49.xml" Id="Rc22a6e7709cf4316" /><Relationship Type="http://schemas.openxmlformats.org/officeDocument/2006/relationships/slide" Target="/ppt/slides/slide50.xml" Id="R9f021f9dc5294842" /><Relationship Type="http://schemas.openxmlformats.org/officeDocument/2006/relationships/slide" Target="/ppt/slides/slide51.xml" Id="Ra5b58ab09f744181" /><Relationship Type="http://schemas.openxmlformats.org/officeDocument/2006/relationships/slide" Target="/ppt/slides/slide52.xml" Id="Rebeebb92ec00463b" /><Relationship Type="http://schemas.openxmlformats.org/officeDocument/2006/relationships/slide" Target="/ppt/slides/slide53.xml" Id="R57f28391657e4065" /><Relationship Type="http://schemas.openxmlformats.org/officeDocument/2006/relationships/slide" Target="/ppt/slides/slide54.xml" Id="Re6bfe130afe64e94" /><Relationship Type="http://schemas.openxmlformats.org/officeDocument/2006/relationships/slide" Target="/ppt/slides/slide55.xml" Id="R4eaf02503a9d4499" /><Relationship Type="http://schemas.openxmlformats.org/officeDocument/2006/relationships/slide" Target="/ppt/slides/slide56.xml" Id="R46bebf658d944ca9" /><Relationship Type="http://schemas.openxmlformats.org/officeDocument/2006/relationships/slide" Target="/ppt/slides/slide57.xml" Id="R2585ef96d1884725" /><Relationship Type="http://schemas.openxmlformats.org/officeDocument/2006/relationships/slide" Target="/ppt/slides/slide58.xml" Id="Re276d57baf47440e" /><Relationship Type="http://schemas.openxmlformats.org/officeDocument/2006/relationships/slide" Target="/ppt/slides/slide59.xml" Id="Rb5a038455c624d36" /><Relationship Type="http://schemas.openxmlformats.org/officeDocument/2006/relationships/slide" Target="/ppt/slides/slide60.xml" Id="R2f2b8fd522444eb0" /><Relationship Type="http://schemas.openxmlformats.org/officeDocument/2006/relationships/slide" Target="/ppt/slides/slide61.xml" Id="R551b11da9992423d" /><Relationship Type="http://schemas.openxmlformats.org/officeDocument/2006/relationships/slide" Target="/ppt/slides/slide62.xml" Id="R577b0b9e49ab4dc1" /><Relationship Type="http://schemas.openxmlformats.org/officeDocument/2006/relationships/slide" Target="/ppt/slides/slide63.xml" Id="R61ebfad2232d4f8f" /><Relationship Type="http://schemas.openxmlformats.org/officeDocument/2006/relationships/slide" Target="/ppt/slides/slide64.xml" Id="R8fcf97e74e1941d2" /><Relationship Type="http://schemas.openxmlformats.org/officeDocument/2006/relationships/slide" Target="/ppt/slides/slide65.xml" Id="R60f3bfb5a7e245dc" /><Relationship Type="http://schemas.openxmlformats.org/officeDocument/2006/relationships/slide" Target="/ppt/slides/slide66.xml" Id="Rf39b230bdf314609" /><Relationship Type="http://schemas.openxmlformats.org/officeDocument/2006/relationships/slide" Target="/ppt/slides/slide67.xml" Id="R3a7e064d4ae047ed" /><Relationship Type="http://schemas.openxmlformats.org/officeDocument/2006/relationships/slide" Target="/ppt/slides/slide68.xml" Id="Red5a9d752bb9463a" /><Relationship Type="http://schemas.openxmlformats.org/officeDocument/2006/relationships/slide" Target="/ppt/slides/slide69.xml" Id="Rf46395522a044d92" /><Relationship Type="http://schemas.openxmlformats.org/officeDocument/2006/relationships/slide" Target="/ppt/slides/slide70.xml" Id="Ra9dcfb8ff8684652" /><Relationship Type="http://schemas.openxmlformats.org/officeDocument/2006/relationships/slide" Target="/ppt/slides/slide71.xml" Id="Rce3e5d1aab454028" /><Relationship Type="http://schemas.openxmlformats.org/officeDocument/2006/relationships/slide" Target="/ppt/slides/slide72.xml" Id="Rc623bffc2e1e48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0e0c73cd2442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28226a91684137" /><Relationship Type="http://schemas.openxmlformats.org/officeDocument/2006/relationships/notesMaster" Target="/ppt/notesMasters/notesMaster1.xml" Id="Rf036369f90464f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36c5e87d8741e9" /><Relationship Type="http://schemas.openxmlformats.org/officeDocument/2006/relationships/notesMaster" Target="/ppt/notesMasters/notesMaster1.xml" Id="R2f96a81a65ce4f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9b561fb2c5489d" /><Relationship Type="http://schemas.openxmlformats.org/officeDocument/2006/relationships/notesMaster" Target="/ppt/notesMasters/notesMaster1.xml" Id="R926fdb1e341d40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9f4f377ae34ac5" /><Relationship Type="http://schemas.openxmlformats.org/officeDocument/2006/relationships/notesMaster" Target="/ppt/notesMasters/notesMaster1.xml" Id="Rc289b56d00ac41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fce20020694c22" /><Relationship Type="http://schemas.openxmlformats.org/officeDocument/2006/relationships/notesMaster" Target="/ppt/notesMasters/notesMaster1.xml" Id="R47a80266f09e43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762e8bbb9342d6" /><Relationship Type="http://schemas.openxmlformats.org/officeDocument/2006/relationships/notesMaster" Target="/ppt/notesMasters/notesMaster1.xml" Id="Rdbb09b27940b44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0780d3222d4a24" /><Relationship Type="http://schemas.openxmlformats.org/officeDocument/2006/relationships/notesMaster" Target="/ppt/notesMasters/notesMaster1.xml" Id="Rc185118cf5c547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066f76f3014077" /><Relationship Type="http://schemas.openxmlformats.org/officeDocument/2006/relationships/notesMaster" Target="/ppt/notesMasters/notesMaster1.xml" Id="R3dd8229a5fa643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8832c9cf224008" /><Relationship Type="http://schemas.openxmlformats.org/officeDocument/2006/relationships/notesMaster" Target="/ppt/notesMasters/notesMaster1.xml" Id="Ra3d1162ec37e4a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e87ea10b2d4035" /><Relationship Type="http://schemas.openxmlformats.org/officeDocument/2006/relationships/notesMaster" Target="/ppt/notesMasters/notesMaster1.xml" Id="R0aee447294a949a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44d7801b3b4225" /><Relationship Type="http://schemas.openxmlformats.org/officeDocument/2006/relationships/notesMaster" Target="/ppt/notesMasters/notesMaster1.xml" Id="Rf500bae50f1d40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b7d1b797d04b24" /><Relationship Type="http://schemas.openxmlformats.org/officeDocument/2006/relationships/notesMaster" Target="/ppt/notesMasters/notesMaster1.xml" Id="Ra86d052fd2d94f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db37e5db004069" /><Relationship Type="http://schemas.openxmlformats.org/officeDocument/2006/relationships/notesMaster" Target="/ppt/notesMasters/notesMaster1.xml" Id="R6464c87b4dde41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dd59faa5b14ecb" /><Relationship Type="http://schemas.openxmlformats.org/officeDocument/2006/relationships/notesMaster" Target="/ppt/notesMasters/notesMaster1.xml" Id="R103f3369dce449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c44ebd96d09430c" /><Relationship Type="http://schemas.openxmlformats.org/officeDocument/2006/relationships/notesMaster" Target="/ppt/notesMasters/notesMaster1.xml" Id="R47f786e9548644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68c7b86912848b0" /><Relationship Type="http://schemas.openxmlformats.org/officeDocument/2006/relationships/notesMaster" Target="/ppt/notesMasters/notesMaster1.xml" Id="R9eab2dfd87414b6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24e200dc0c4016" /><Relationship Type="http://schemas.openxmlformats.org/officeDocument/2006/relationships/notesMaster" Target="/ppt/notesMasters/notesMaster1.xml" Id="Re48c9321ab534e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8cfa3a3ce034574" /><Relationship Type="http://schemas.openxmlformats.org/officeDocument/2006/relationships/notesMaster" Target="/ppt/notesMasters/notesMaster1.xml" Id="R4cf9c85191f844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1295d37a8f4656" /><Relationship Type="http://schemas.openxmlformats.org/officeDocument/2006/relationships/notesMaster" Target="/ppt/notesMasters/notesMaster1.xml" Id="R2823c8a3dfa5447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5f810c5674477b" /><Relationship Type="http://schemas.openxmlformats.org/officeDocument/2006/relationships/notesMaster" Target="/ppt/notesMasters/notesMaster1.xml" Id="Rec61829c55cc455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8f2b532a2b49d7" /><Relationship Type="http://schemas.openxmlformats.org/officeDocument/2006/relationships/notesMaster" Target="/ppt/notesMasters/notesMaster1.xml" Id="R836ff103c08a412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a054ee994e54a89" /><Relationship Type="http://schemas.openxmlformats.org/officeDocument/2006/relationships/notesMaster" Target="/ppt/notesMasters/notesMaster1.xml" Id="R3d0c421935554d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21be27a18d346e7" /><Relationship Type="http://schemas.openxmlformats.org/officeDocument/2006/relationships/notesMaster" Target="/ppt/notesMasters/notesMaster1.xml" Id="Rcb8d9dd60a094bb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833b30dd5084e83" /><Relationship Type="http://schemas.openxmlformats.org/officeDocument/2006/relationships/notesMaster" Target="/ppt/notesMasters/notesMaster1.xml" Id="R3b9d27882bca4b3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6a496e123704782" /><Relationship Type="http://schemas.openxmlformats.org/officeDocument/2006/relationships/notesMaster" Target="/ppt/notesMasters/notesMaster1.xml" Id="R5a35640f70dd477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523fffb948c453f" /><Relationship Type="http://schemas.openxmlformats.org/officeDocument/2006/relationships/notesMaster" Target="/ppt/notesMasters/notesMaster1.xml" Id="R59b1e76e60674cc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8efffa2bef462f" /><Relationship Type="http://schemas.openxmlformats.org/officeDocument/2006/relationships/notesMaster" Target="/ppt/notesMasters/notesMaster1.xml" Id="Rec348dba821349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859a1aa64c8497e" /><Relationship Type="http://schemas.openxmlformats.org/officeDocument/2006/relationships/notesMaster" Target="/ppt/notesMasters/notesMaster1.xml" Id="R754ee365e9414bb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404d4af279d405c" /><Relationship Type="http://schemas.openxmlformats.org/officeDocument/2006/relationships/notesMaster" Target="/ppt/notesMasters/notesMaster1.xml" Id="R6b0543ca33da41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22c20ee008f4681" /><Relationship Type="http://schemas.openxmlformats.org/officeDocument/2006/relationships/notesMaster" Target="/ppt/notesMasters/notesMaster1.xml" Id="R5c803d738e204f1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0a9c48dfdcf49b8" /><Relationship Type="http://schemas.openxmlformats.org/officeDocument/2006/relationships/notesMaster" Target="/ppt/notesMasters/notesMaster1.xml" Id="Re9e4a605f5874c5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f7d8f830bdf4d5e" /><Relationship Type="http://schemas.openxmlformats.org/officeDocument/2006/relationships/notesMaster" Target="/ppt/notesMasters/notesMaster1.xml" Id="Rf3c385a14bac4f1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a9f23c9b8c14282" /><Relationship Type="http://schemas.openxmlformats.org/officeDocument/2006/relationships/notesMaster" Target="/ppt/notesMasters/notesMaster1.xml" Id="Re1f10acd5a6f42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fa0ae09414a4029" /><Relationship Type="http://schemas.openxmlformats.org/officeDocument/2006/relationships/notesMaster" Target="/ppt/notesMasters/notesMaster1.xml" Id="Rbe21bc710229465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f39c2697a734855" /><Relationship Type="http://schemas.openxmlformats.org/officeDocument/2006/relationships/notesMaster" Target="/ppt/notesMasters/notesMaster1.xml" Id="Ra0299a9aa07f4cd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db23bf0da8f4e0e" /><Relationship Type="http://schemas.openxmlformats.org/officeDocument/2006/relationships/notesMaster" Target="/ppt/notesMasters/notesMaster1.xml" Id="R63d522984a6648b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15ad93ef9ae4dde" /><Relationship Type="http://schemas.openxmlformats.org/officeDocument/2006/relationships/notesMaster" Target="/ppt/notesMasters/notesMaster1.xml" Id="R849fb2e7551f407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dba5c069b374139" /><Relationship Type="http://schemas.openxmlformats.org/officeDocument/2006/relationships/notesMaster" Target="/ppt/notesMasters/notesMaster1.xml" Id="R620d2bdd085f43b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38c37e728a94339" /><Relationship Type="http://schemas.openxmlformats.org/officeDocument/2006/relationships/notesMaster" Target="/ppt/notesMasters/notesMaster1.xml" Id="R0c004d89ce4a4e4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e0c3e1039484224" /><Relationship Type="http://schemas.openxmlformats.org/officeDocument/2006/relationships/notesMaster" Target="/ppt/notesMasters/notesMaster1.xml" Id="Rbb8653359ec54c8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8467b062fbe4b70" /><Relationship Type="http://schemas.openxmlformats.org/officeDocument/2006/relationships/notesMaster" Target="/ppt/notesMasters/notesMaster1.xml" Id="R6f4373b4e24b4af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bcb4898bed04fc7" /><Relationship Type="http://schemas.openxmlformats.org/officeDocument/2006/relationships/notesMaster" Target="/ppt/notesMasters/notesMaster1.xml" Id="R9ada54ea948c4cc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54b66dc015c451c" /><Relationship Type="http://schemas.openxmlformats.org/officeDocument/2006/relationships/notesMaster" Target="/ppt/notesMasters/notesMaster1.xml" Id="Rd59fa812f3554e5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76d59306b0741d2" /><Relationship Type="http://schemas.openxmlformats.org/officeDocument/2006/relationships/notesMaster" Target="/ppt/notesMasters/notesMaster1.xml" Id="Rcf4a22ecd750498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1099a81d9b647b4" /><Relationship Type="http://schemas.openxmlformats.org/officeDocument/2006/relationships/notesMaster" Target="/ppt/notesMasters/notesMaster1.xml" Id="Rd0afdb1371fc458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d5b25960bb74ce0" /><Relationship Type="http://schemas.openxmlformats.org/officeDocument/2006/relationships/notesMaster" Target="/ppt/notesMasters/notesMaster1.xml" Id="R73034d2905c448c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493c6edb3bc49e3" /><Relationship Type="http://schemas.openxmlformats.org/officeDocument/2006/relationships/notesMaster" Target="/ppt/notesMasters/notesMaster1.xml" Id="R0618000989a84df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137bdf63b0c42fc" /><Relationship Type="http://schemas.openxmlformats.org/officeDocument/2006/relationships/notesMaster" Target="/ppt/notesMasters/notesMaster1.xml" Id="R252ea38c8ea64e1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9550da083d74e13" /><Relationship Type="http://schemas.openxmlformats.org/officeDocument/2006/relationships/notesMaster" Target="/ppt/notesMasters/notesMaster1.xml" Id="R903f7c085c5c42e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2829e56bd514ed7" /><Relationship Type="http://schemas.openxmlformats.org/officeDocument/2006/relationships/notesMaster" Target="/ppt/notesMasters/notesMaster1.xml" Id="Rccc991a080324d8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c4d717f49894d7d" /><Relationship Type="http://schemas.openxmlformats.org/officeDocument/2006/relationships/notesMaster" Target="/ppt/notesMasters/notesMaster1.xml" Id="Rcf06eed8204b487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b87939be1b64ebf" /><Relationship Type="http://schemas.openxmlformats.org/officeDocument/2006/relationships/notesMaster" Target="/ppt/notesMasters/notesMaster1.xml" Id="R64760b0ca24b45a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2a850df21e843a2" /><Relationship Type="http://schemas.openxmlformats.org/officeDocument/2006/relationships/notesMaster" Target="/ppt/notesMasters/notesMaster1.xml" Id="R9a07c5927ed34d6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1c76c58b1d841ae" /><Relationship Type="http://schemas.openxmlformats.org/officeDocument/2006/relationships/notesMaster" Target="/ppt/notesMasters/notesMaster1.xml" Id="Ra13c2fff6d28467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71fc6cc94d84269" /><Relationship Type="http://schemas.openxmlformats.org/officeDocument/2006/relationships/notesMaster" Target="/ppt/notesMasters/notesMaster1.xml" Id="Rdf30838e884a430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ce87ac9352542bc" /><Relationship Type="http://schemas.openxmlformats.org/officeDocument/2006/relationships/notesMaster" Target="/ppt/notesMasters/notesMaster1.xml" Id="R35c800df2667465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c378f7974b14439" /><Relationship Type="http://schemas.openxmlformats.org/officeDocument/2006/relationships/notesMaster" Target="/ppt/notesMasters/notesMaster1.xml" Id="Re55b307830a84a8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46241caa9014653" /><Relationship Type="http://schemas.openxmlformats.org/officeDocument/2006/relationships/notesMaster" Target="/ppt/notesMasters/notesMaster1.xml" Id="Rf83eaf47c6644cb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84294b04a4f4926" /><Relationship Type="http://schemas.openxmlformats.org/officeDocument/2006/relationships/notesMaster" Target="/ppt/notesMasters/notesMaster1.xml" Id="R4edd5337329e4d9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66f65b7667749ee" /><Relationship Type="http://schemas.openxmlformats.org/officeDocument/2006/relationships/notesMaster" Target="/ppt/notesMasters/notesMaster1.xml" Id="Rbbb9edffde1644e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8a86e1e96f9469f" /><Relationship Type="http://schemas.openxmlformats.org/officeDocument/2006/relationships/notesMaster" Target="/ppt/notesMasters/notesMaster1.xml" Id="R64348030261a44b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b3d9637949f4e05" /><Relationship Type="http://schemas.openxmlformats.org/officeDocument/2006/relationships/notesMaster" Target="/ppt/notesMasters/notesMaster1.xml" Id="R104f83f396de4a8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d7f59850bc146d8" /><Relationship Type="http://schemas.openxmlformats.org/officeDocument/2006/relationships/notesMaster" Target="/ppt/notesMasters/notesMaster1.xml" Id="R43b70fc141f449e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63d4cd4577e84737" /><Relationship Type="http://schemas.openxmlformats.org/officeDocument/2006/relationships/notesMaster" Target="/ppt/notesMasters/notesMaster1.xml" Id="R1fc0f6c95d0040b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32b6dd2f98bd4860" /><Relationship Type="http://schemas.openxmlformats.org/officeDocument/2006/relationships/notesMaster" Target="/ppt/notesMasters/notesMaster1.xml" Id="R331624eca2174bb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0f88bb39a3774085" /><Relationship Type="http://schemas.openxmlformats.org/officeDocument/2006/relationships/notesMaster" Target="/ppt/notesMasters/notesMaster1.xml" Id="Redacc65602dd45c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21d65aacf184c4e" /><Relationship Type="http://schemas.openxmlformats.org/officeDocument/2006/relationships/notesMaster" Target="/ppt/notesMasters/notesMaster1.xml" Id="R4ee536eec53d4f5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ee5fa39c9754424" /><Relationship Type="http://schemas.openxmlformats.org/officeDocument/2006/relationships/notesMaster" Target="/ppt/notesMasters/notesMaster1.xml" Id="R48733d546a62408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969e5911fe341f8" /><Relationship Type="http://schemas.openxmlformats.org/officeDocument/2006/relationships/notesMaster" Target="/ppt/notesMasters/notesMaster1.xml" Id="R831244ae5ef249e8"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fc1fa4d608a846fa" /><Relationship Type="http://schemas.openxmlformats.org/officeDocument/2006/relationships/notesMaster" Target="/ppt/notesMasters/notesMaster1.xml" Id="R94b358d1f3324d2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54f9d39201464a69" /><Relationship Type="http://schemas.openxmlformats.org/officeDocument/2006/relationships/notesMaster" Target="/ppt/notesMasters/notesMaster1.xml" Id="R0609b7e2b226403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eafb33d4a18d42e3" /><Relationship Type="http://schemas.openxmlformats.org/officeDocument/2006/relationships/notesMaster" Target="/ppt/notesMasters/notesMaster1.xml" Id="R72bb79345d754e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SAW 3.2 en pratique</a:t>
            </a:r>
          </a:p>
          <a:p xmlns:a="http://schemas.openxmlformats.org/drawingml/2006/main">
            <a:r>
              <a:t>Module : Présentation générale | Durée indicative : 2 min</a:t>
            </a:r>
          </a:p>
          <a:p xmlns:a="http://schemas.openxmlformats.org/drawingml/2006/main">
            <a:r>
              <a:t>Objectif : Situer la formation et son fil rouge.</a:t>
            </a:r>
          </a:p>
          <a:p xmlns:a="http://schemas.openxmlformats.org/drawingml/2006/main">
            <a:r>
              <a:t/>
            </a:r>
          </a:p>
          <a:p xmlns:a="http://schemas.openxmlformats.org/drawingml/2006/main">
            <a:r>
              <a:t>Texte à prononcer</a:t>
            </a:r>
          </a:p>
          <a:p xmlns:a="http://schemas.openxmlformats.org/drawingml/2006/main">
            <a:r>
              <a:t>Bienvenue. Nous allons apprendre à utiliser SAW, SDD Another Way, dans sa version 3.2. Le cours suit les gestes que vous aurez à accomplir sur un projet : préparer l'intention, construire des lots, lancer le travail, examiner les résultats et décider de leur fermeture. Nous utiliserons TextAid, une application Windows réellement réalisée avec Pro-Spec 3, la méthode dont SAW est issue. Vous verrez des exigences, des découvertes et des validations conservées dans ses fichiers. Nous allons apprendre à lire ces traces et à piloter le travail. Les détails du code serviront seulement lorsqu'ils éclairent une décision.</a:t>
            </a:r>
          </a:p>
          <a:p xmlns:a="http://schemas.openxmlformats.org/drawingml/2006/main">
            <a:r>
              <a:t/>
            </a:r>
          </a:p>
          <a:p xmlns:a="http://schemas.openxmlformats.org/drawingml/2006/main">
            <a:r>
              <a:t>Question</a:t>
            </a:r>
          </a:p>
          <a:p xmlns:a="http://schemas.openxmlformats.org/drawingml/2006/main">
            <a:r>
              <a:t>Quelle difficulté rencontrez-vous lorsque vous déléguez du développement à une IA ?</a:t>
            </a:r>
          </a:p>
          <a:p xmlns:a="http://schemas.openxmlformats.org/drawingml/2006/main">
            <a:r>
              <a:t/>
            </a:r>
          </a:p>
          <a:p xmlns:a="http://schemas.openxmlformats.org/drawingml/2006/main">
            <a:r>
              <a:t>Réponse attendue / correction</a:t>
            </a:r>
          </a:p>
          <a:p xmlns:a="http://schemas.openxmlformats.org/drawingml/2006/main">
            <a:r>
              <a:t>Recueillir quelques situations concrètes sans engager encore leur résolution.</a:t>
            </a:r>
          </a:p>
          <a:p xmlns:a="http://schemas.openxmlformats.org/drawingml/2006/main">
            <a:r>
              <a:t/>
            </a:r>
          </a:p>
          <a:p xmlns:a="http://schemas.openxmlformats.org/drawingml/2006/main">
            <a:r>
              <a:t>Transition : Ce que vous saurez faire</a:t>
            </a:r>
          </a:p>
          <a:p xmlns:a="http://schemas.openxmlformats.org/drawingml/2006/main">
            <a:r>
              <a:t/>
            </a:r>
          </a:p>
          <a:p xmlns:a="http://schemas.openxmlformats.org/drawingml/2006/main">
            <a:r>
              <a:t>Sources</a:t>
            </a:r>
          </a:p>
          <a:p xmlns:a="http://schemas.openxmlformats.org/drawingml/2006/main">
            <a:r>
              <a:t>SAW-FR/SAW-3.2-SPECIFICATION.md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Ce que vous saurez faire</a:t>
            </a:r>
          </a:p>
          <a:p xmlns:a="http://schemas.openxmlformats.org/drawingml/2006/main">
            <a:r>
              <a:t>Module : Présentation générale | Durée indicative : 4 min</a:t>
            </a:r>
          </a:p>
          <a:p xmlns:a="http://schemas.openxmlformats.org/drawingml/2006/main">
            <a:r>
              <a:t>Objectif : Formuler les compétences attendues.</a:t>
            </a:r>
          </a:p>
          <a:p xmlns:a="http://schemas.openxmlformats.org/drawingml/2006/main">
            <a:r>
              <a:t/>
            </a:r>
          </a:p>
          <a:p xmlns:a="http://schemas.openxmlformats.org/drawingml/2006/main">
            <a:r>
              <a:t>Texte à prononcer</a:t>
            </a:r>
          </a:p>
          <a:p xmlns:a="http://schemas.openxmlformats.org/drawingml/2006/main">
            <a:r>
              <a:t>À l'issue de la formation, vous devez pouvoir expliquer où se trouve chaque information importante et utiliser cette organisation pour conduire un lot. Vous saurez définir ce que vous attendez avant de lancer l'IA, puis vérifier ce qui a effectivement été obtenu. Vous saurez aussi identifier une décision qui vous revient, demander une correction et préserver les informations utiles à la prochaine session. Aucun IDE particulier n'est nécessaire à la méthode. Pour les exercices, savoir lire un fichier Markdown suffit ; une expérience du développement ou du pilotage de produit aidera à discuter les exemples. Nous alternerons explications, lecture de fichiers et exercices.</a:t>
            </a:r>
          </a:p>
          <a:p xmlns:a="http://schemas.openxmlformats.org/drawingml/2006/main">
            <a:r>
              <a:t/>
            </a:r>
          </a:p>
          <a:p xmlns:a="http://schemas.openxmlformats.org/drawingml/2006/main">
            <a:r>
              <a:t>Question</a:t>
            </a:r>
          </a:p>
          <a:p xmlns:a="http://schemas.openxmlformats.org/drawingml/2006/main">
            <a:r>
              <a:t>Quelqu’un doit-il savoir développer en WPF pour suivre le cas TextAid ?</a:t>
            </a:r>
          </a:p>
          <a:p xmlns:a="http://schemas.openxmlformats.org/drawingml/2006/main">
            <a:r>
              <a:t/>
            </a:r>
          </a:p>
          <a:p xmlns:a="http://schemas.openxmlformats.org/drawingml/2006/main">
            <a:r>
              <a:t>Réponse attendue / correction</a:t>
            </a:r>
          </a:p>
          <a:p xmlns:a="http://schemas.openxmlformats.org/drawingml/2006/main">
            <a:r>
              <a:t>Non. Le cours porte sur le pilotage et la validation ; WPF est le contexte du cas.</a:t>
            </a:r>
          </a:p>
          <a:p xmlns:a="http://schemas.openxmlformats.org/drawingml/2006/main">
            <a:r>
              <a:t/>
            </a:r>
          </a:p>
          <a:p xmlns:a="http://schemas.openxmlformats.org/drawingml/2006/main">
            <a:r>
              <a:t>Transition : Le besoin d’une intention explicite</a:t>
            </a:r>
          </a:p>
          <a:p xmlns:a="http://schemas.openxmlformats.org/drawingml/2006/main">
            <a:r>
              <a:t/>
            </a:r>
          </a:p>
          <a:p xmlns:a="http://schemas.openxmlformats.org/drawingml/2006/main">
            <a:r>
              <a:t>Sources</a:t>
            </a:r>
          </a:p>
          <a:p xmlns:a="http://schemas.openxmlformats.org/drawingml/2006/main">
            <a:r>
              <a:t>SAW-FR/SAW-3.2-SPECIFICATION.md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Le besoin d’une intention explicite</a:t>
            </a:r>
          </a:p>
          <a:p xmlns:a="http://schemas.openxmlformats.org/drawingml/2006/main">
            <a:r>
              <a:t>Module : Présentation générale | Durée indicative : 5 min</a:t>
            </a:r>
          </a:p>
          <a:p xmlns:a="http://schemas.openxmlformats.org/drawingml/2006/main">
            <a:r>
              <a:t>Objectif : Relier la demande initiale à une intention partageable.</a:t>
            </a:r>
          </a:p>
          <a:p xmlns:a="http://schemas.openxmlformats.org/drawingml/2006/main">
            <a:r>
              <a:t/>
            </a:r>
          </a:p>
          <a:p xmlns:a="http://schemas.openxmlformats.org/drawingml/2006/main">
            <a:r>
              <a:t>Texte à prononcer</a:t>
            </a:r>
          </a:p>
          <a:p xmlns:a="http://schemas.openxmlformats.org/drawingml/2006/main">
            <a:r>
              <a:t>Lorsque nous demandons une fonction à une IA, nous lui transmettons rarement toutes les informations nécessaires du premier coup. Des mots comme rapide, sûr ou intuitif restent ouverts à l'interprétation. Le résultat peut sembler convaincant sans résoudre le bon problème. Écrire l'intention permet de discuter ces ambiguïtés avant qu'elles ne se transforment en comportement livré. Il faut préciser le besoin, les limites et les critères qui permettront d'examiner la réponse. Cette préparation reste utile pendant l'exécution : elle permet de reconnaître un écart et de décider si l'on corrige le résultat ou si l'on fait évoluer l'intention.</a:t>
            </a:r>
          </a:p>
          <a:p xmlns:a="http://schemas.openxmlformats.org/drawingml/2006/main">
            <a:r>
              <a:t/>
            </a:r>
          </a:p>
          <a:p xmlns:a="http://schemas.openxmlformats.org/drawingml/2006/main">
            <a:r>
              <a:t>Question</a:t>
            </a:r>
          </a:p>
          <a:p xmlns:a="http://schemas.openxmlformats.org/drawingml/2006/main">
            <a:r>
              <a:t>Que manque-t-il dans « ajoute un export pratique » ?</a:t>
            </a:r>
          </a:p>
          <a:p xmlns:a="http://schemas.openxmlformats.org/drawingml/2006/main">
            <a:r>
              <a:t/>
            </a:r>
          </a:p>
          <a:p xmlns:a="http://schemas.openxmlformats.org/drawingml/2006/main">
            <a:r>
              <a:t>Réponse attendue / correction</a:t>
            </a:r>
          </a:p>
          <a:p xmlns:a="http://schemas.openxmlformats.org/drawingml/2006/main">
            <a:r>
              <a:t>Le destinataire, l’usage, le format, les limites et les critères d’acceptation.</a:t>
            </a:r>
          </a:p>
          <a:p xmlns:a="http://schemas.openxmlformats.org/drawingml/2006/main">
            <a:r>
              <a:t/>
            </a:r>
          </a:p>
          <a:p xmlns:a="http://schemas.openxmlformats.org/drawingml/2006/main">
            <a:r>
              <a:t>Transition : Le livre et le périmètre du cours</a:t>
            </a:r>
          </a:p>
          <a:p xmlns:a="http://schemas.openxmlformats.org/drawingml/2006/main">
            <a:r>
              <a:t/>
            </a:r>
          </a:p>
          <a:p xmlns:a="http://schemas.openxmlformats.org/drawingml/2006/main">
            <a:r>
              <a:t>Sources</a:t>
            </a:r>
          </a:p>
          <a:p xmlns:a="http://schemas.openxmlformats.org/drawingml/2006/main">
            <a:r>
              <a:t>Illustration du livre : 04_De_la_demande_a_l_intention.png ; spécification SAW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Le livre et le périmètre du cours</a:t>
            </a:r>
          </a:p>
          <a:p xmlns:a="http://schemas.openxmlformats.org/drawingml/2006/main">
            <a:r>
              <a:t>Module : Présentation générale | Durée indicative : 3 min</a:t>
            </a:r>
          </a:p>
          <a:p xmlns:a="http://schemas.openxmlformats.org/drawingml/2006/main">
            <a:r>
              <a:t>Objectif : Présenter le livre comme ressource complémentaire.</a:t>
            </a:r>
          </a:p>
          <a:p xmlns:a="http://schemas.openxmlformats.org/drawingml/2006/main">
            <a:r>
              <a:t/>
            </a:r>
          </a:p>
          <a:p xmlns:a="http://schemas.openxmlformats.org/drawingml/2006/main">
            <a:r>
              <a:t>Texte à prononcer</a:t>
            </a:r>
          </a:p>
          <a:p xmlns:a="http://schemas.openxmlformats.org/drawingml/2006/main">
            <a:r>
              <a:t>Le livre Le développement piloté par les spécifications à l'ère des agents IA développe les questions de fond : comment déléguer, rendre les contraintes visibles, comparer les preuves et conserver la maîtrise des décisions. Nous en reprenons ici quelques illustrations pour éclairer la pratique. Vous n'avez pas besoin d'avoir lu le livre pour suivre cette journée. Nous consacrons l'essentiel du cours à l'utilisation de SAW, avec ses documents et son cycle de travail. Le livre constitue une lecture complémentaire pour approfondir les raisons de cette organisation et replacer les gestes de la méthode dans une réflexion plus large sur le développement assisté par IA.</a:t>
            </a:r>
          </a:p>
          <a:p xmlns:a="http://schemas.openxmlformats.org/drawingml/2006/main">
            <a:r>
              <a:t/>
            </a:r>
          </a:p>
          <a:p xmlns:a="http://schemas.openxmlformats.org/drawingml/2006/main">
            <a:r>
              <a:t>Transition : Les principes de SAW</a:t>
            </a:r>
          </a:p>
          <a:p xmlns:a="http://schemas.openxmlformats.org/drawingml/2006/main">
            <a:r>
              <a:t/>
            </a:r>
          </a:p>
          <a:p xmlns:a="http://schemas.openxmlformats.org/drawingml/2006/main">
            <a:r>
              <a:t>Sources</a:t>
            </a:r>
          </a:p>
          <a:p xmlns:a="http://schemas.openxmlformats.org/drawingml/2006/main">
            <a:r>
              <a:t>Couverture fournie par Olivier Dahan ; https://www.amazon.fr/dp/B0HKLSFMM3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Les principes de SAW</a:t>
            </a:r>
          </a:p>
          <a:p xmlns:a="http://schemas.openxmlformats.org/drawingml/2006/main">
            <a:r>
              <a:t>Module : Présentation générale | Durée indicative : 6 min</a:t>
            </a:r>
          </a:p>
          <a:p xmlns:a="http://schemas.openxmlformats.org/drawingml/2006/main">
            <a:r>
              <a:t>Objectif : Comprendre la répartition des responsabilités.</a:t>
            </a:r>
          </a:p>
          <a:p xmlns:a="http://schemas.openxmlformats.org/drawingml/2006/main">
            <a:r>
              <a:t/>
            </a:r>
          </a:p>
          <a:p xmlns:a="http://schemas.openxmlformats.org/drawingml/2006/main">
            <a:r>
              <a:t>Texte à prononcer</a:t>
            </a:r>
          </a:p>
          <a:p xmlns:a="http://schemas.openxmlformats.org/drawingml/2006/main">
            <a:r>
              <a:t>SAW est un protocole documentaire de délégation et de continuité. Les fichiers permettent de reconstruire l'intention et l'état connu sans retrouver une ancienne conversation. Le même LLM peut produire le logiciel et prendre en charge le suivi documentaire. La méthode n'impose aucun agent, IDE, fournisseur ou système de gestion de versions. Vous pouvez employer Git si cela vous aide, mais il ne définit pas le protocole. Les commandes déterministes vérifient ce qu'elles savent vérifier. Le LLM traite les questions sémantiques. L'humain précise l'intention, prend les décisions qui lui appartiennent et accepte le résultat. Cette répartition sera présente à chaque étape du cours.</a:t>
            </a:r>
          </a:p>
          <a:p xmlns:a="http://schemas.openxmlformats.org/drawingml/2006/main">
            <a:r>
              <a:t/>
            </a:r>
          </a:p>
          <a:p xmlns:a="http://schemas.openxmlformats.org/drawingml/2006/main">
            <a:r>
              <a:t>Question</a:t>
            </a:r>
          </a:p>
          <a:p xmlns:a="http://schemas.openxmlformats.org/drawingml/2006/main">
            <a:r>
              <a:t>Une compilation réussie suffit-elle à valider l’usage attendu ?</a:t>
            </a:r>
          </a:p>
          <a:p xmlns:a="http://schemas.openxmlformats.org/drawingml/2006/main">
            <a:r>
              <a:t/>
            </a:r>
          </a:p>
          <a:p xmlns:a="http://schemas.openxmlformats.org/drawingml/2006/main">
            <a:r>
              <a:t>Réponse attendue / correction</a:t>
            </a:r>
          </a:p>
          <a:p xmlns:a="http://schemas.openxmlformats.org/drawingml/2006/main">
            <a:r>
              <a:t>Non. Elle fournit une preuve technique ; la validation métier reste humaine sauf décision conforme au protocole.</a:t>
            </a:r>
          </a:p>
          <a:p xmlns:a="http://schemas.openxmlformats.org/drawingml/2006/main">
            <a:r>
              <a:t/>
            </a:r>
          </a:p>
          <a:p xmlns:a="http://schemas.openxmlformats.org/drawingml/2006/main">
            <a:r>
              <a:t>Transition : TextAid, notre fil rouge</a:t>
            </a:r>
          </a:p>
          <a:p xmlns:a="http://schemas.openxmlformats.org/drawingml/2006/main">
            <a:r>
              <a:t/>
            </a:r>
          </a:p>
          <a:p xmlns:a="http://schemas.openxmlformats.org/drawingml/2006/main">
            <a:r>
              <a:t>Sources</a:t>
            </a:r>
          </a:p>
          <a:p xmlns:a="http://schemas.openxmlformats.org/drawingml/2006/main">
            <a:r>
              <a:t>SAW-FR/SAW-3.2-SPECIFICATION.md §3–4,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TextAid, notre fil rouge</a:t>
            </a:r>
          </a:p>
          <a:p xmlns:a="http://schemas.openxmlformats.org/drawingml/2006/main">
            <a:r>
              <a:t>Module : Présentation générale | Durée indicative : 5 min</a:t>
            </a:r>
          </a:p>
          <a:p xmlns:a="http://schemas.openxmlformats.org/drawingml/2006/main">
            <a:r>
              <a:t>Objectif : Comprendre le produit et distinguer les versions montrées.</a:t>
            </a:r>
          </a:p>
          <a:p xmlns:a="http://schemas.openxmlformats.org/drawingml/2006/main">
            <a:r>
              <a:t/>
            </a:r>
          </a:p>
          <a:p xmlns:a="http://schemas.openxmlformats.org/drawingml/2006/main">
            <a:r>
              <a:t>Texte à prononcer</a:t>
            </a:r>
          </a:p>
          <a:p xmlns:a="http://schemas.openxmlformats.org/drawingml/2006/main">
            <a:r>
              <a:t>TextAid capture du texte sélectionné, applique une transformation configurable et présente le résultat à l'utilisateur. Celui-ci choisit de remplacer le texte, de copier le résultat ou d'annuler. Le modèle local constitue le choix par défaut ; un fournisseur distant est une option explicite. Le dossier documentaire contient treize lots fermés. Nous suivrons surtout le lot 003 : il qualifie les actions Replace, Copy et Cancel avec une transformation temporaire en majuscules, avant l'intégration de l'IA. La capture affichée montre une version ultérieure du produit ; elle sert à comprendre l'usage, pas à prouver l'apparence de la V0.2 historique.</a:t>
            </a:r>
          </a:p>
          <a:p xmlns:a="http://schemas.openxmlformats.org/drawingml/2006/main">
            <a:r>
              <a:t/>
            </a:r>
          </a:p>
          <a:p xmlns:a="http://schemas.openxmlformats.org/drawingml/2006/main">
            <a:r>
              <a:t>Démonstration / animation</a:t>
            </a:r>
          </a:p>
          <a:p xmlns:a="http://schemas.openxmlformats.org/drawingml/2006/main">
            <a:r>
              <a:t>Ouvrir Ressources/TextAid/PROJECT.md et STATUS.md. Repérer LOT-003 et LOT-010. La capture est celle du produit ultérieur, pas celle du candidat historique.</a:t>
            </a:r>
          </a:p>
          <a:p xmlns:a="http://schemas.openxmlformats.org/drawingml/2006/main">
            <a:r>
              <a:t/>
            </a:r>
          </a:p>
          <a:p xmlns:a="http://schemas.openxmlformats.org/drawingml/2006/main">
            <a:r>
              <a:t>Transition : Projet, lot et sous-lot</a:t>
            </a:r>
          </a:p>
          <a:p xmlns:a="http://schemas.openxmlformats.org/drawingml/2006/main">
            <a:r>
              <a:t/>
            </a:r>
          </a:p>
          <a:p xmlns:a="http://schemas.openxmlformats.org/drawingml/2006/main">
            <a:r>
              <a:t>Sources</a:t>
            </a:r>
          </a:p>
          <a:p xmlns:a="http://schemas.openxmlformats.org/drawingml/2006/main">
            <a:r>
              <a:t>Ressources/TextAid/PROJECT.md ; Ressources/TextAid/STATUS.md ; capture fournie assets/Screenshots/02 Call TextAid to translate.png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Projet, lot et sous-lot</a:t>
            </a:r>
          </a:p>
          <a:p xmlns:a="http://schemas.openxmlformats.org/drawingml/2006/main">
            <a:r>
              <a:t>Module : Organisation de la méthode | Durée indicative : 5 min</a:t>
            </a:r>
          </a:p>
          <a:p xmlns:a="http://schemas.openxmlformats.org/drawingml/2006/main">
            <a:r>
              <a:t>Objectif : Définir les trois unités de travail.</a:t>
            </a:r>
          </a:p>
          <a:p xmlns:a="http://schemas.openxmlformats.org/drawingml/2006/main">
            <a:r>
              <a:t/>
            </a:r>
          </a:p>
          <a:p xmlns:a="http://schemas.openxmlformats.org/drawingml/2006/main">
            <a:r>
              <a:t>Texte à prononcer</a:t>
            </a:r>
          </a:p>
          <a:p xmlns:a="http://schemas.openxmlformats.org/drawingml/2006/main">
            <a:r>
              <a:t>Le mot projet désigne ici une unité de pilotage documentaire. Elle peut correspondre à une application entière ou à un périmètre plus restreint. Un lot décrit un objectif particulier et les conditions de sa fermeture. Son identité reste stable même lorsque les connaissances évoluent. Un sous-lot peut isoler une partie du travail, avec ses propres documents et validations. Il ne permet pas de faire travailler simultanément le parent et l'enfant : le parent est suspendu pendant son exécution. Dans TextAid, les lots successifs qualifient d'abord la base visuelle, puis les fondations Windows, les actions sûres et les fonctions suivantes.</a:t>
            </a:r>
          </a:p>
          <a:p xmlns:a="http://schemas.openxmlformats.org/drawingml/2006/main">
            <a:r>
              <a:t/>
            </a:r>
          </a:p>
          <a:p xmlns:a="http://schemas.openxmlformats.org/drawingml/2006/main">
            <a:r>
              <a:t>Question</a:t>
            </a:r>
          </a:p>
          <a:p xmlns:a="http://schemas.openxmlformats.org/drawingml/2006/main">
            <a:r>
              <a:t>Un projet SAW doit-il être un dépôt Git séparé ?</a:t>
            </a:r>
          </a:p>
          <a:p xmlns:a="http://schemas.openxmlformats.org/drawingml/2006/main">
            <a:r>
              <a:t/>
            </a:r>
          </a:p>
          <a:p xmlns:a="http://schemas.openxmlformats.org/drawingml/2006/main">
            <a:r>
              <a:t>Réponse attendue / correction</a:t>
            </a:r>
          </a:p>
          <a:p xmlns:a="http://schemas.openxmlformats.org/drawingml/2006/main">
            <a:r>
              <a:t>Non. Il doit avoir une racine documentaire identifiable, sans imposer un dépôt séparé.</a:t>
            </a:r>
          </a:p>
          <a:p xmlns:a="http://schemas.openxmlformats.org/drawingml/2006/main">
            <a:r>
              <a:t/>
            </a:r>
          </a:p>
          <a:p xmlns:a="http://schemas.openxmlformats.org/drawingml/2006/main">
            <a:r>
              <a:t>Transition : Les six fichiers globaux</a:t>
            </a:r>
          </a:p>
          <a:p xmlns:a="http://schemas.openxmlformats.org/drawingml/2006/main">
            <a:r>
              <a:t/>
            </a:r>
          </a:p>
          <a:p xmlns:a="http://schemas.openxmlformats.org/drawingml/2006/main">
            <a:r>
              <a:t>Sources</a:t>
            </a:r>
          </a:p>
          <a:p xmlns:a="http://schemas.openxmlformats.org/drawingml/2006/main">
            <a:r>
              <a:t>SAW-FR/SAW-3.2-SPECIFICATION.md §3, §6,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Les six fichiers globaux</a:t>
            </a:r>
          </a:p>
          <a:p xmlns:a="http://schemas.openxmlformats.org/drawingml/2006/main">
            <a:r>
              <a:t>Module : Organisation de la méthode | Durée indicative : 6 min</a:t>
            </a:r>
          </a:p>
          <a:p xmlns:a="http://schemas.openxmlformats.org/drawingml/2006/main">
            <a:r>
              <a:t>Objectif : Associer chaque fichier global à sa responsabilité.</a:t>
            </a:r>
          </a:p>
          <a:p xmlns:a="http://schemas.openxmlformats.org/drawingml/2006/main">
            <a:r>
              <a:t/>
            </a:r>
          </a:p>
          <a:p xmlns:a="http://schemas.openxmlformats.org/drawingml/2006/main">
            <a:r>
              <a:t>Texte à prononcer</a:t>
            </a:r>
          </a:p>
          <a:p xmlns:a="http://schemas.openxmlformats.org/drawingml/2006/main">
            <a:r>
              <a:t>Chaque document global répond à une question différente. README est le point d'entrée et explique le protocole local. PROJECT décrit le produit et son périmètre. RULES contient les contraintes actives. STATUS indique l'état courant des lots. LEDGER conserve les décisions durables et leurs raisons. HISTORY retrace les opérations significatives par ajout à la fin du fichier. Les six sont requis, y compris sur un petit projet. Cette séparation évite de mêler définition du produit, état du travail et décisions. Lorsqu'une information appartient à un autre document, un renvoi est généralement préférable à une copie qui risque de diverger.</a:t>
            </a:r>
          </a:p>
          <a:p xmlns:a="http://schemas.openxmlformats.org/drawingml/2006/main">
            <a:r>
              <a:t/>
            </a:r>
          </a:p>
          <a:p xmlns:a="http://schemas.openxmlformats.org/drawingml/2006/main">
            <a:r>
              <a:t>Démonstration / animation</a:t>
            </a:r>
          </a:p>
          <a:p xmlns:a="http://schemas.openxmlformats.org/drawingml/2006/main">
            <a:r>
              <a:t>Montrer les six fichiers dans Ressources/TextAid sans lire leur contenu intégral.</a:t>
            </a:r>
          </a:p>
          <a:p xmlns:a="http://schemas.openxmlformats.org/drawingml/2006/main">
            <a:r>
              <a:t/>
            </a:r>
          </a:p>
          <a:p xmlns:a="http://schemas.openxmlformats.org/drawingml/2006/main">
            <a:r>
              <a:t>Transition : Les quatre fichiers d’un lot</a:t>
            </a:r>
          </a:p>
          <a:p xmlns:a="http://schemas.openxmlformats.org/drawingml/2006/main">
            <a:r>
              <a:t/>
            </a:r>
          </a:p>
          <a:p xmlns:a="http://schemas.openxmlformats.org/drawingml/2006/main">
            <a:r>
              <a:t>Sources</a:t>
            </a:r>
          </a:p>
          <a:p xmlns:a="http://schemas.openxmlformats.org/drawingml/2006/main">
            <a:r>
              <a:t>SAW-FR/SAW-3.2-SPECIFICATION.md §5, §10–14 bis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Les quatre fichiers d’un lot</a:t>
            </a:r>
          </a:p>
          <a:p xmlns:a="http://schemas.openxmlformats.org/drawingml/2006/main">
            <a:r>
              <a:t>Module : Organisation de la méthode | Durée indicative : 5 min</a:t>
            </a:r>
          </a:p>
          <a:p xmlns:a="http://schemas.openxmlformats.org/drawingml/2006/main">
            <a:r>
              <a:t>Objectif : Comprendre la chaîne documentaire d’un lot.</a:t>
            </a:r>
          </a:p>
          <a:p xmlns:a="http://schemas.openxmlformats.org/drawingml/2006/main">
            <a:r>
              <a:t/>
            </a:r>
          </a:p>
          <a:p xmlns:a="http://schemas.openxmlformats.org/drawingml/2006/main">
            <a:r>
              <a:t>Texte à prononcer</a:t>
            </a:r>
          </a:p>
          <a:p xmlns:a="http://schemas.openxmlformats.org/drawingml/2006/main">
            <a:r>
              <a:t>Un lot possède une SPEC, des FINDINGS et des GATES dès sa préparation. La convergence peut attendre la préparation de la fermeture. SPEC exprime l'intention. FINDINGS conserve ce que l'on découvre, y compris un problème ou une limite. GATES définit les conditions à vérifier et conserve leurs évaluations. CONVERGENCE rapproche le résultat des exigences actives et atteste la fermeture. Ces fichiers commencent par un renvoi au README racine. Ils n'y recopient pas le bootstrap. Pour comprendre ce qui était attendu, lisez la SPEC ; pour comprendre ce qui a été accepté, lisez la convergence, puis les preuves auxquelles elle renvoie.</a:t>
            </a:r>
          </a:p>
          <a:p xmlns:a="http://schemas.openxmlformats.org/drawingml/2006/main">
            <a:r>
              <a:t/>
            </a:r>
          </a:p>
          <a:p xmlns:a="http://schemas.openxmlformats.org/drawingml/2006/main">
            <a:r>
              <a:t>Transition : Une arborescence lisible</a:t>
            </a:r>
          </a:p>
          <a:p xmlns:a="http://schemas.openxmlformats.org/drawingml/2006/main">
            <a:r>
              <a:t/>
            </a:r>
          </a:p>
          <a:p xmlns:a="http://schemas.openxmlformats.org/drawingml/2006/main">
            <a:r>
              <a:t>Sources</a:t>
            </a:r>
          </a:p>
          <a:p xmlns:a="http://schemas.openxmlformats.org/drawingml/2006/main">
            <a:r>
              <a:t>SAW-FR/SAW-3.2-SPECIFICATION.md §5–6, §15–18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Une arborescence lisible</a:t>
            </a:r>
          </a:p>
          <a:p xmlns:a="http://schemas.openxmlformats.org/drawingml/2006/main">
            <a:r>
              <a:t>Module : Organisation de la méthode | Durée indicative : 4 min</a:t>
            </a:r>
          </a:p>
          <a:p xmlns:a="http://schemas.openxmlformats.org/drawingml/2006/main">
            <a:r>
              <a:t>Objectif : Savoir retrouver les documents sans connaître une conversation antérieure.</a:t>
            </a:r>
          </a:p>
          <a:p xmlns:a="http://schemas.openxmlformats.org/drawingml/2006/main">
            <a:r>
              <a:t/>
            </a:r>
          </a:p>
          <a:p xmlns:a="http://schemas.openxmlformats.org/drawingml/2006/main">
            <a:r>
              <a:t>Texte à prononcer</a:t>
            </a:r>
          </a:p>
          <a:p xmlns:a="http://schemas.openxmlformats.org/drawingml/2006/main">
            <a:r>
              <a:t>Les documents globaux se trouvent à la racine, les documents de lot dans Specs, sous un dossier portant un identifiant numérique et un nom court stable. Le fichier exécutable de la méthode est également distribué à la racine du projet ; README doit identifier sa version, sa révision et y mener directement. Il constitue une référence normative, pas un onzième type d'artefact. L'arborescence affichée est un modèle SAW de formation. TextAid conserve sa référence historique Pro-Spec dans docs. Nous utiliserons ses traces comme exemples réels, tout en préparant les nouveaux dossiers selon la spécification SAW corrigée.</a:t>
            </a:r>
          </a:p>
          <a:p xmlns:a="http://schemas.openxmlformats.org/drawingml/2006/main">
            <a:r>
              <a:t/>
            </a:r>
          </a:p>
          <a:p xmlns:a="http://schemas.openxmlformats.org/drawingml/2006/main">
            <a:r>
              <a:t>Transition : Identifiants et références</a:t>
            </a:r>
          </a:p>
          <a:p xmlns:a="http://schemas.openxmlformats.org/drawingml/2006/main">
            <a:r>
              <a:t/>
            </a:r>
          </a:p>
          <a:p xmlns:a="http://schemas.openxmlformats.org/drawingml/2006/main">
            <a:r>
              <a:t>Sources</a:t>
            </a:r>
          </a:p>
          <a:p xmlns:a="http://schemas.openxmlformats.org/drawingml/2006/main">
            <a:r>
              <a:t>SAW-FR/SAW-3.2-SPECIFICATION.md §6, §10.5 ; TextAid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Identifiants et références</a:t>
            </a:r>
          </a:p>
          <a:p xmlns:a="http://schemas.openxmlformats.org/drawingml/2006/main">
            <a:r>
              <a:t>Module : Organisation de la méthode | Durée indicative : 4 min</a:t>
            </a:r>
          </a:p>
          <a:p xmlns:a="http://schemas.openxmlformats.org/drawingml/2006/main">
            <a:r>
              <a:t>Objectif : Lire les références et préserver les identités.</a:t>
            </a:r>
          </a:p>
          <a:p xmlns:a="http://schemas.openxmlformats.org/drawingml/2006/main">
            <a:r>
              <a:t/>
            </a:r>
          </a:p>
          <a:p xmlns:a="http://schemas.openxmlformats.org/drawingml/2006/main">
            <a:r>
              <a:t>Texte à prononcer</a:t>
            </a:r>
          </a:p>
          <a:p xmlns:a="http://schemas.openxmlformats.org/drawingml/2006/main">
            <a:r>
              <a:t>Les identifiants sont uniques et immuables dans le projet. Ils permettent de relier une exigence à une découverte, une décision et une validation. Un lien Markdown facilite la navigation, mais c'est l'identifiant qui fait autorité. Un identifiant retiré ou devenu obsolète ne doit pas être réutilisé. D et R concernent le projet ; REQ, F et G incorporent l'identité du lot. Nous allons rencontrer REQ-003-004, qui exige un échec sûr, F-003-002, qui constate le problème de remplacement, et G-003-002, qui porte sur la validation humaine. Ces références nous aideront à suivre le raisonnement sans recopier tous les textes.</a:t>
            </a:r>
          </a:p>
          <a:p xmlns:a="http://schemas.openxmlformats.org/drawingml/2006/main">
            <a:r>
              <a:t/>
            </a:r>
          </a:p>
          <a:p xmlns:a="http://schemas.openxmlformats.org/drawingml/2006/main">
            <a:r>
              <a:t>Transition : Décision, état et historique</a:t>
            </a:r>
          </a:p>
          <a:p xmlns:a="http://schemas.openxmlformats.org/drawingml/2006/main">
            <a:r>
              <a:t/>
            </a:r>
          </a:p>
          <a:p xmlns:a="http://schemas.openxmlformats.org/drawingml/2006/main">
            <a:r>
              <a:t>Sources</a:t>
            </a:r>
          </a:p>
          <a:p xmlns:a="http://schemas.openxmlformats.org/drawingml/2006/main">
            <a:r>
              <a:t>SAW-FR/SAW-3.2-SPECIFICATION.md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Décision, état et historique</a:t>
            </a:r>
          </a:p>
          <a:p xmlns:a="http://schemas.openxmlformats.org/drawingml/2006/main">
            <a:r>
              <a:t>Module : Organisation de la méthode | Durée indicative : 6 min</a:t>
            </a:r>
          </a:p>
          <a:p xmlns:a="http://schemas.openxmlformats.org/drawingml/2006/main">
            <a:r>
              <a:t>Objectif : Éviter de confondre autorisation et opération achevée.</a:t>
            </a:r>
          </a:p>
          <a:p xmlns:a="http://schemas.openxmlformats.org/drawingml/2006/main">
            <a:r>
              <a:t/>
            </a:r>
          </a:p>
          <a:p xmlns:a="http://schemas.openxmlformats.org/drawingml/2006/main">
            <a:r>
              <a:t>Texte à prononcer</a:t>
            </a:r>
          </a:p>
          <a:p xmlns:a="http://schemas.openxmlformats.org/drawingml/2006/main">
            <a:r>
              <a:t>Ces trois fichiers se complètent. Une décision dit ce que l'humain a retenu et pourquoi. STATUS indique l'état enregistré. HISTORY raconte les opérations significatives effectuées sur le dossier documentaire. Une décision peut avoir été écrite sans que toutes ses conséquences aient été appliquées. Il faut donc examiner les documents concernés avant de conclure. Le journal est tenu par ajout ; les entrées antérieures sont conservées et une correction prend la forme d'une nouvelle entrée. Le format détaillé avec identifiants EVT est facultatif. SAW n'impose aucun script de contrôle du journal. Une date ou un acteur historique manquant ne doivent pas être inventés.</a:t>
            </a:r>
          </a:p>
          <a:p xmlns:a="http://schemas.openxmlformats.org/drawingml/2006/main">
            <a:r>
              <a:t/>
            </a:r>
          </a:p>
          <a:p xmlns:a="http://schemas.openxmlformats.org/drawingml/2006/main">
            <a:r>
              <a:t>Question</a:t>
            </a:r>
          </a:p>
          <a:p xmlns:a="http://schemas.openxmlformats.org/drawingml/2006/main">
            <a:r>
              <a:t>D-008 existe : cela prouve-t-il que la SPEC et les GATES ont été mises à jour ?</a:t>
            </a:r>
          </a:p>
          <a:p xmlns:a="http://schemas.openxmlformats.org/drawingml/2006/main">
            <a:r>
              <a:t/>
            </a:r>
          </a:p>
          <a:p xmlns:a="http://schemas.openxmlformats.org/drawingml/2006/main">
            <a:r>
              <a:t>Réponse attendue / correction</a:t>
            </a:r>
          </a:p>
          <a:p xmlns:a="http://schemas.openxmlformats.org/drawingml/2006/main">
            <a:r>
              <a:t>Non. Il faut vérifier ses conséquences dans les artefacts concernés.</a:t>
            </a:r>
          </a:p>
          <a:p xmlns:a="http://schemas.openxmlformats.org/drawingml/2006/main">
            <a:r>
              <a:t/>
            </a:r>
          </a:p>
          <a:p xmlns:a="http://schemas.openxmlformats.org/drawingml/2006/main">
            <a:r>
              <a:t>Transition : Recueillir les informations utiles</a:t>
            </a:r>
          </a:p>
          <a:p xmlns:a="http://schemas.openxmlformats.org/drawingml/2006/main">
            <a:r>
              <a:t/>
            </a:r>
          </a:p>
          <a:p xmlns:a="http://schemas.openxmlformats.org/drawingml/2006/main">
            <a:r>
              <a:t>Sources</a:t>
            </a:r>
          </a:p>
          <a:p xmlns:a="http://schemas.openxmlformats.org/drawingml/2006/main">
            <a:r>
              <a:t>SAW-FR/SAW-3.2-SPECIFICATION.md §13–14 bis, §22.8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Recueillir les informations utiles</a:t>
            </a:r>
          </a:p>
          <a:p xmlns:a="http://schemas.openxmlformats.org/drawingml/2006/main">
            <a:r>
              <a:t>Module : Préparation du projet | Durée indicative : 6 min</a:t>
            </a:r>
          </a:p>
          <a:p xmlns:a="http://schemas.openxmlformats.org/drawingml/2006/main">
            <a:r>
              <a:t>Objectif : Préparer la matière nécessaire aux spécifications.</a:t>
            </a:r>
          </a:p>
          <a:p xmlns:a="http://schemas.openxmlformats.org/drawingml/2006/main">
            <a:r>
              <a:t/>
            </a:r>
          </a:p>
          <a:p xmlns:a="http://schemas.openxmlformats.org/drawingml/2006/main">
            <a:r>
              <a:t>Texte à prononcer</a:t>
            </a:r>
          </a:p>
          <a:p xmlns:a="http://schemas.openxmlformats.org/drawingml/2006/main">
            <a:r>
              <a:t>Avant de préparer les lots, réunissons la matière qui permet de comprendre le problème. Il peut s'agir d'entretiens, de descriptions d'usage, de documents métier, d'une application existante ou de contrats d'interface. Nous devons savoir d'où vient une information et quel est son degré de confirmation. L'IA peut lire ces sources, en proposer une synthèse et signaler des contradictions. Elle peut aussi aider à formuler les questions à poser. L'humain confirme l'intention et tranche les ambiguïtés qui engagent le produit. Dans TextAid, une spécification produit conservée et une carte des sources relient cette matière aux règles et aux lots.</a:t>
            </a:r>
          </a:p>
          <a:p xmlns:a="http://schemas.openxmlformats.org/drawingml/2006/main">
            <a:r>
              <a:t/>
            </a:r>
          </a:p>
          <a:p xmlns:a="http://schemas.openxmlformats.org/drawingml/2006/main">
            <a:r>
              <a:t>Démonstration / animation</a:t>
            </a:r>
          </a:p>
          <a:p xmlns:a="http://schemas.openxmlformats.org/drawingml/2006/main">
            <a:r>
              <a:t>Ouvrir Ressources/TextAid/docs/SOURCE-MAP.md. Montrer le lien entre les sections produit et LOT-003.</a:t>
            </a:r>
          </a:p>
          <a:p xmlns:a="http://schemas.openxmlformats.org/drawingml/2006/main">
            <a:r>
              <a:t/>
            </a:r>
          </a:p>
          <a:p xmlns:a="http://schemas.openxmlformats.org/drawingml/2006/main">
            <a:r>
              <a:t>Transition : Analyser les besoins avant de découper</a:t>
            </a:r>
          </a:p>
          <a:p xmlns:a="http://schemas.openxmlformats.org/drawingml/2006/main">
            <a:r>
              <a:t/>
            </a:r>
          </a:p>
          <a:p xmlns:a="http://schemas.openxmlformats.org/drawingml/2006/main">
            <a:r>
              <a:t>Sources</a:t>
            </a:r>
          </a:p>
          <a:p xmlns:a="http://schemas.openxmlformats.org/drawingml/2006/main">
            <a:r>
              <a:t>Ressources/TextAid/docs/SOURCE-MAP.md ; préparation pédagogique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Analyser les besoins avant de découper</a:t>
            </a:r>
          </a:p>
          <a:p xmlns:a="http://schemas.openxmlformats.org/drawingml/2006/main">
            <a:r>
              <a:t>Module : Préparation du projet | Durée indicative : 5 min</a:t>
            </a:r>
          </a:p>
          <a:p xmlns:a="http://schemas.openxmlformats.org/drawingml/2006/main">
            <a:r>
              <a:t>Objectif : Expliquer la préparation sans l’enfermer dans un modèle de cycle.</a:t>
            </a:r>
          </a:p>
          <a:p xmlns:a="http://schemas.openxmlformats.org/drawingml/2006/main">
            <a:r>
              <a:t/>
            </a:r>
          </a:p>
          <a:p xmlns:a="http://schemas.openxmlformats.org/drawingml/2006/main">
            <a:r>
              <a:t>Texte à prononcer</a:t>
            </a:r>
          </a:p>
          <a:p xmlns:a="http://schemas.openxmlformats.org/drawingml/2006/main">
            <a:r>
              <a:t>Il faut comprendre les besoins avant de demander une réalisation. Cette activité peut s'appeler analyse, recueil de besoins ou clarification de user stories. Le mot analyse ne suffit pas à caractériser un cycle en V. Nous pouvons préparer un premier périmètre, apprendre pendant la réalisation et enrichir les lots suivants. L'enjeu est de rendre les hypothèses visibles. Prenons une user story sur le remplacement du texte : elle ne nous dit pas encore comment réagir lorsque la fenêtre source a disparu ou que le collage échoue. Ces questions influencent les exigences et les critères de validation. Les traiter prépare la délégation.</a:t>
            </a:r>
          </a:p>
          <a:p xmlns:a="http://schemas.openxmlformats.org/drawingml/2006/main">
            <a:r>
              <a:t/>
            </a:r>
          </a:p>
          <a:p xmlns:a="http://schemas.openxmlformats.org/drawingml/2006/main">
            <a:r>
              <a:t>Question</a:t>
            </a:r>
          </a:p>
          <a:p xmlns:a="http://schemas.openxmlformats.org/drawingml/2006/main">
            <a:r>
              <a:t>La story « je veux remplacer mon texte » couvre-t-elle un changement de fenêtre ?</a:t>
            </a:r>
          </a:p>
          <a:p xmlns:a="http://schemas.openxmlformats.org/drawingml/2006/main">
            <a:r>
              <a:t/>
            </a:r>
          </a:p>
          <a:p xmlns:a="http://schemas.openxmlformats.org/drawingml/2006/main">
            <a:r>
              <a:t>Réponse attendue / correction</a:t>
            </a:r>
          </a:p>
          <a:p xmlns:a="http://schemas.openxmlformats.org/drawingml/2006/main">
            <a:r>
              <a:t>Non. Il faut préciser la cible et les comportements en cas d’échec.</a:t>
            </a:r>
          </a:p>
          <a:p xmlns:a="http://schemas.openxmlformats.org/drawingml/2006/main">
            <a:r>
              <a:t/>
            </a:r>
          </a:p>
          <a:p xmlns:a="http://schemas.openxmlformats.org/drawingml/2006/main">
            <a:r>
              <a:t>Transition : Définir le produit dans PROJECT</a:t>
            </a:r>
          </a:p>
          <a:p xmlns:a="http://schemas.openxmlformats.org/drawingml/2006/main">
            <a:r>
              <a:t/>
            </a:r>
          </a:p>
          <a:p xmlns:a="http://schemas.openxmlformats.org/drawingml/2006/main">
            <a:r>
              <a:t>Sources</a:t>
            </a:r>
          </a:p>
          <a:p xmlns:a="http://schemas.openxmlformats.org/drawingml/2006/main">
            <a:r>
              <a:t>Apport pédagogique sur l’analyse des besoins ; TextAid SPEC-003.md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Définir le produit dans PROJECT</a:t>
            </a:r>
          </a:p>
          <a:p xmlns:a="http://schemas.openxmlformats.org/drawingml/2006/main">
            <a:r>
              <a:t>Module : Préparation du projet | Durée indicative : 5 min</a:t>
            </a:r>
          </a:p>
          <a:p xmlns:a="http://schemas.openxmlformats.org/drawingml/2006/main">
            <a:r>
              <a:t>Objectif : Écrire une définition du produit stable et délimitée.</a:t>
            </a:r>
          </a:p>
          <a:p xmlns:a="http://schemas.openxmlformats.org/drawingml/2006/main">
            <a:r>
              <a:t/>
            </a:r>
          </a:p>
          <a:p xmlns:a="http://schemas.openxmlformats.org/drawingml/2006/main">
            <a:r>
              <a:t>Texte à prononcer</a:t>
            </a:r>
          </a:p>
          <a:p xmlns:a="http://schemas.openxmlformats.org/drawingml/2006/main">
            <a:r>
              <a:t>PROJECT décrit ce qui est construit et pourquoi. Nous cherchons une définition stable, assez claire pour distinguer une fonction attendue d'une idée hors périmètre. Pour TextAid, le besoin est une transformation de texte dans le contexte de travail de l'utilisateur, sans passage obligé par une conversation. Le produit exclut notamment le chat, la mémoire de conversation et les workflows autonomes dans son périmètre V1. Ces exclusions empêchent une demande locale de transformer progressivement le produit en une autre application. Les tâches courantes et l'état des lots appartiennent à STATUS. Les choix techniques détaillés appartiennent aux règles et aux décisions appropriées.</a:t>
            </a:r>
          </a:p>
          <a:p xmlns:a="http://schemas.openxmlformats.org/drawingml/2006/main">
            <a:r>
              <a:t/>
            </a:r>
          </a:p>
          <a:p xmlns:a="http://schemas.openxmlformats.org/drawingml/2006/main">
            <a:r>
              <a:t>Démonstration / animation</a:t>
            </a:r>
          </a:p>
          <a:p xmlns:a="http://schemas.openxmlformats.org/drawingml/2006/main">
            <a:r>
              <a:t>Lire Purpose et Out of scope dans Ressources/TextAid/PROJECT.md.</a:t>
            </a:r>
          </a:p>
          <a:p xmlns:a="http://schemas.openxmlformats.org/drawingml/2006/main">
            <a:r>
              <a:t/>
            </a:r>
          </a:p>
          <a:p xmlns:a="http://schemas.openxmlformats.org/drawingml/2006/main">
            <a:r>
              <a:t>Transition : Établir les règles initiales</a:t>
            </a:r>
          </a:p>
          <a:p xmlns:a="http://schemas.openxmlformats.org/drawingml/2006/main">
            <a:r>
              <a:t/>
            </a:r>
          </a:p>
          <a:p xmlns:a="http://schemas.openxmlformats.org/drawingml/2006/main">
            <a:r>
              <a:t>Sources</a:t>
            </a:r>
          </a:p>
          <a:p xmlns:a="http://schemas.openxmlformats.org/drawingml/2006/main">
            <a:r>
              <a:t>SAW-FR/SAW-3.2-SPECIFICATION.md §11 ; Ressources/TextAid/PROJECT.md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 Établir les règles initiales</a:t>
            </a:r>
          </a:p>
          <a:p xmlns:a="http://schemas.openxmlformats.org/drawingml/2006/main">
            <a:r>
              <a:t>Module : Préparation du projet | Durée indicative : 5 min</a:t>
            </a:r>
          </a:p>
          <a:p xmlns:a="http://schemas.openxmlformats.org/drawingml/2006/main">
            <a:r>
              <a:t>Objectif : Distinguer contrainte initiale et évolution approuvée.</a:t>
            </a:r>
          </a:p>
          <a:p xmlns:a="http://schemas.openxmlformats.org/drawingml/2006/main">
            <a:r>
              <a:t/>
            </a:r>
          </a:p>
          <a:p xmlns:a="http://schemas.openxmlformats.org/drawingml/2006/main">
            <a:r>
              <a:t>Texte à prononcer</a:t>
            </a:r>
          </a:p>
          <a:p xmlns:a="http://schemas.openxmlformats.org/drawingml/2006/main">
            <a:r>
              <a:t>RULES exprime les contraintes du projet, par exemple la plateforme, l'architecture, la sécurité et les conventions de validation. Une règle initiale peut indiquer Initial project rule comme source, sans décision du ledger. Lorsqu'une règle évolue après l'initialisation, une décision humaine doit expliquer le choix et son champ d'application. Il faut examiner les lots concernés, y compris les résultats déjà fermés si la règle leur est applicable. Une nouvelle règle ne rouvre pas automatiquement ces lots. Le résultat historique reste attesté dans son contexte d'origine. Nous chercherons des règles assez précises pour guider le travail, sans y placer le journal des tâches.</a:t>
            </a:r>
          </a:p>
          <a:p xmlns:a="http://schemas.openxmlformats.org/drawingml/2006/main">
            <a:r>
              <a:t/>
            </a:r>
          </a:p>
          <a:p xmlns:a="http://schemas.openxmlformats.org/drawingml/2006/main">
            <a:r>
              <a:t>Démonstration / animation</a:t>
            </a:r>
          </a:p>
          <a:p xmlns:a="http://schemas.openxmlformats.org/drawingml/2006/main">
            <a:r>
              <a:t>Dans RULES.md, repérer une règle initiale et une règle référant à D-nnn.</a:t>
            </a:r>
          </a:p>
          <a:p xmlns:a="http://schemas.openxmlformats.org/drawingml/2006/main">
            <a:r>
              <a:t/>
            </a:r>
          </a:p>
          <a:p xmlns:a="http://schemas.openxmlformats.org/drawingml/2006/main">
            <a:r>
              <a:t>Transition : Préparer le point d’entrée</a:t>
            </a:r>
          </a:p>
          <a:p xmlns:a="http://schemas.openxmlformats.org/drawingml/2006/main">
            <a:r>
              <a:t/>
            </a:r>
          </a:p>
          <a:p xmlns:a="http://schemas.openxmlformats.org/drawingml/2006/main">
            <a:r>
              <a:t>Sources</a:t>
            </a:r>
          </a:p>
          <a:p xmlns:a="http://schemas.openxmlformats.org/drawingml/2006/main">
            <a:r>
              <a:t>SAW-FR/SAW-3.2-SPECIFICATION.md §12 ; Ressources/TextAid/RULES.md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 Préparer le point d’entrée</a:t>
            </a:r>
          </a:p>
          <a:p xmlns:a="http://schemas.openxmlformats.org/drawingml/2006/main">
            <a:r>
              <a:t>Module : Préparation du projet | Durée indicative : 4 min</a:t>
            </a:r>
          </a:p>
          <a:p xmlns:a="http://schemas.openxmlformats.org/drawingml/2006/main">
            <a:r>
              <a:t>Objectif : Construire un bootstrap autonome.</a:t>
            </a:r>
          </a:p>
          <a:p xmlns:a="http://schemas.openxmlformats.org/drawingml/2006/main">
            <a:r>
              <a:t/>
            </a:r>
          </a:p>
          <a:p xmlns:a="http://schemas.openxmlformats.org/drawingml/2006/main">
            <a:r>
              <a:t>Texte à prononcer</a:t>
            </a:r>
          </a:p>
          <a:p xmlns:a="http://schemas.openxmlformats.org/drawingml/2006/main">
            <a:r>
              <a:t>Le dossier doit pouvoir être transmis avant même l'exécution du premier lot. README explique comment commencer, travailler, valider et fermer. Il indique les décisions réservées à l'humain et les règles de mutation. Sa référence de protocole mène au fichier exécutable local et identifie la révision appliquée. Le ledger peut être initialement sans décision durable, mais sa fonction doit être claire. Le journal commence avec les opérations significatives de préparation. Nous ne recopions pas toute la méthode dans chaque fichier. Nous donnons à l'exécutant un chemin lisible vers les procédures dont il a besoin. Cela permet à un prompt court de déclencher un comportement complet.</a:t>
            </a:r>
          </a:p>
          <a:p xmlns:a="http://schemas.openxmlformats.org/drawingml/2006/main">
            <a:r>
              <a:t/>
            </a:r>
          </a:p>
          <a:p xmlns:a="http://schemas.openxmlformats.org/drawingml/2006/main">
            <a:r>
              <a:t>Démonstration / animation</a:t>
            </a:r>
          </a:p>
          <a:p xmlns:a="http://schemas.openxmlformats.org/drawingml/2006/main">
            <a:r>
              <a:t>Montrer Ressources/Modeles/README.md et la référence normative distribuée.</a:t>
            </a:r>
          </a:p>
          <a:p xmlns:a="http://schemas.openxmlformats.org/drawingml/2006/main">
            <a:r>
              <a:t/>
            </a:r>
          </a:p>
          <a:p xmlns:a="http://schemas.openxmlformats.org/drawingml/2006/main">
            <a:r>
              <a:t>Transition : Atelier 1 • ranger les informations</a:t>
            </a:r>
          </a:p>
          <a:p xmlns:a="http://schemas.openxmlformats.org/drawingml/2006/main">
            <a:r>
              <a:t/>
            </a:r>
          </a:p>
          <a:p xmlns:a="http://schemas.openxmlformats.org/drawingml/2006/main">
            <a:r>
              <a:t>Sources</a:t>
            </a:r>
          </a:p>
          <a:p xmlns:a="http://schemas.openxmlformats.org/drawingml/2006/main">
            <a:r>
              <a:t>SAW-FR/SAW-3.2-SPECIFICATION.md §10, §13–14 bis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 Atelier 1 • ranger les informations</a:t>
            </a:r>
          </a:p>
          <a:p xmlns:a="http://schemas.openxmlformats.org/drawingml/2006/main">
            <a:r>
              <a:t>Module : Préparation du projet | Durée indicative : 10 min</a:t>
            </a:r>
          </a:p>
          <a:p xmlns:a="http://schemas.openxmlformats.org/drawingml/2006/main">
            <a:r>
              <a:t>Objectif : Appliquer la séparation des responsabilités.</a:t>
            </a:r>
          </a:p>
          <a:p xmlns:a="http://schemas.openxmlformats.org/drawingml/2006/main">
            <a:r>
              <a:t/>
            </a:r>
          </a:p>
          <a:p xmlns:a="http://schemas.openxmlformats.org/drawingml/2006/main">
            <a:r>
              <a:t>Texte à prononcer</a:t>
            </a:r>
          </a:p>
          <a:p xmlns:a="http://schemas.openxmlformats.org/drawingml/2006/main">
            <a:r>
              <a:t>Vous allez classer ces informations dans les documents appropriés. Prenez la fiche Atelier 1. Travaillez deux minutes individuellement, puis comparez votre choix avec votre voisin pendant trois minutes. Pour chaque proposition, expliquez la question à laquelle le document doit répondre. Certaines informations appellent plusieurs écritures liées, mais chaque écriture garde son rôle. Dans la correction, nous distinguerons l'exigence qui exprime le comportement attendu, le finding qui décrit la découverte et la gate qui conserve l'évaluation. Une décision d'interface peut ensuite faire évoluer la SPEC et les GATES. Elle ne remplace pas ces mises à jour.</a:t>
            </a:r>
          </a:p>
          <a:p xmlns:a="http://schemas.openxmlformats.org/drawingml/2006/main">
            <a:r>
              <a:t/>
            </a:r>
          </a:p>
          <a:p xmlns:a="http://schemas.openxmlformats.org/drawingml/2006/main">
            <a:r>
              <a:t>Démonstration / animation</a:t>
            </a:r>
          </a:p>
          <a:p xmlns:a="http://schemas.openxmlformats.org/drawingml/2006/main">
            <a:r>
              <a:t>Distribuer Ressources/Ateliers/ATELIER-01.md. Temps : 2 min seul, 3 min en binôme, 5 min de correction.</a:t>
            </a:r>
          </a:p>
          <a:p xmlns:a="http://schemas.openxmlformats.org/drawingml/2006/main">
            <a:r>
              <a:t/>
            </a:r>
          </a:p>
          <a:p xmlns:a="http://schemas.openxmlformats.org/drawingml/2006/main">
            <a:r>
              <a:t>Réponse attendue / correction</a:t>
            </a:r>
          </a:p>
          <a:p xmlns:a="http://schemas.openxmlformats.org/drawingml/2006/main">
            <a:r>
              <a:t>Windows x64 → RULES ; cible capturée → SPEC ; échec constaté → FINDINGS et évaluation dans GATES ; nouvelle disposition approuvée → LEDGER, puis SPEC/GATES selon ses conséquences.</a:t>
            </a:r>
          </a:p>
          <a:p xmlns:a="http://schemas.openxmlformats.org/drawingml/2006/main">
            <a:r>
              <a:t/>
            </a:r>
          </a:p>
          <a:p xmlns:a="http://schemas.openxmlformats.org/drawingml/2006/main">
            <a:r>
              <a:t>Transition : Choisir un objectif de lot</a:t>
            </a:r>
          </a:p>
          <a:p xmlns:a="http://schemas.openxmlformats.org/drawingml/2006/main">
            <a:r>
              <a:t/>
            </a:r>
          </a:p>
          <a:p xmlns:a="http://schemas.openxmlformats.org/drawingml/2006/main">
            <a:r>
              <a:t>Sources</a:t>
            </a:r>
          </a:p>
          <a:p xmlns:a="http://schemas.openxmlformats.org/drawingml/2006/main">
            <a:r>
              <a:t>Exercice pédagogique inspiré de TextAid LOT-003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 Choisir un objectif de lot</a:t>
            </a:r>
          </a:p>
          <a:p xmlns:a="http://schemas.openxmlformats.org/drawingml/2006/main">
            <a:r>
              <a:t>Module : Préparation des lots | Durée indicative : 5 min</a:t>
            </a:r>
          </a:p>
          <a:p xmlns:a="http://schemas.openxmlformats.org/drawingml/2006/main">
            <a:r>
              <a:t>Objectif : Découper selon un résultat vérifiable.</a:t>
            </a:r>
          </a:p>
          <a:p xmlns:a="http://schemas.openxmlformats.org/drawingml/2006/main">
            <a:r>
              <a:t/>
            </a:r>
          </a:p>
          <a:p xmlns:a="http://schemas.openxmlformats.org/drawingml/2006/main">
            <a:r>
              <a:t>Texte à prononcer</a:t>
            </a:r>
          </a:p>
          <a:p xmlns:a="http://schemas.openxmlformats.org/drawingml/2006/main">
            <a:r>
              <a:t>Un lot doit permettre d'examiner un résultat, pas seulement d'annoncer un volume de tâches. Nous choisissons un objectif dont le périmètre et les limites sont explicites. Sa taille dépend de ce qui peut être réalisé et validé de manière cohérente ; SAW ne fixe pas un nombre universel de jours. TextAid qualifie les actions de résultat avant d'intégrer le modèle. Ce choix isole les problèmes de capture, de cible et de collage. Il permet de vérifier le contrat de sécurité sans dépendre de la qualité d'une réponse de LLM. Le lot suivant s'appuiera ainsi sur une base acceptée.</a:t>
            </a:r>
          </a:p>
          <a:p xmlns:a="http://schemas.openxmlformats.org/drawingml/2006/main">
            <a:r>
              <a:t/>
            </a:r>
          </a:p>
          <a:p xmlns:a="http://schemas.openxmlformats.org/drawingml/2006/main">
            <a:r>
              <a:t>Question</a:t>
            </a:r>
          </a:p>
          <a:p xmlns:a="http://schemas.openxmlformats.org/drawingml/2006/main">
            <a:r>
              <a:t>Pourquoi utiliser une transformation en majuscules dans LOT-003 ?</a:t>
            </a:r>
          </a:p>
          <a:p xmlns:a="http://schemas.openxmlformats.org/drawingml/2006/main">
            <a:r>
              <a:t/>
            </a:r>
          </a:p>
          <a:p xmlns:a="http://schemas.openxmlformats.org/drawingml/2006/main">
            <a:r>
              <a:t>Réponse attendue / correction</a:t>
            </a:r>
          </a:p>
          <a:p xmlns:a="http://schemas.openxmlformats.org/drawingml/2006/main">
            <a:r>
              <a:t>Pour valider les actions et leur sécurité sans introduire les incertitudes de l’intégration du modèle.</a:t>
            </a:r>
          </a:p>
          <a:p xmlns:a="http://schemas.openxmlformats.org/drawingml/2006/main">
            <a:r>
              <a:t/>
            </a:r>
          </a:p>
          <a:p xmlns:a="http://schemas.openxmlformats.org/drawingml/2006/main">
            <a:r>
              <a:t>Transition : Le parcours de TextAid</a:t>
            </a:r>
          </a:p>
          <a:p xmlns:a="http://schemas.openxmlformats.org/drawingml/2006/main">
            <a:r>
              <a:t/>
            </a:r>
          </a:p>
          <a:p xmlns:a="http://schemas.openxmlformats.org/drawingml/2006/main">
            <a:r>
              <a:t>Sources</a:t>
            </a:r>
          </a:p>
          <a:p xmlns:a="http://schemas.openxmlformats.org/drawingml/2006/main">
            <a:r>
              <a:t>SAW-FR/SAW-3.2-SPECIFICATION.md §15, §21 ; Ressources/TextAid/Specs/003-safe-accept/SPEC-003.md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 Le parcours de TextAid</a:t>
            </a:r>
          </a:p>
          <a:p xmlns:a="http://schemas.openxmlformats.org/drawingml/2006/main">
            <a:r>
              <a:t>Module : Préparation des lots | Durée indicative : 5 min</a:t>
            </a:r>
          </a:p>
          <a:p xmlns:a="http://schemas.openxmlformats.org/drawingml/2006/main">
            <a:r>
              <a:t>Objectif : Comprendre un découpage réel et ses dépendances.</a:t>
            </a:r>
          </a:p>
          <a:p xmlns:a="http://schemas.openxmlformats.org/drawingml/2006/main">
            <a:r>
              <a:t/>
            </a:r>
          </a:p>
          <a:p xmlns:a="http://schemas.openxmlformats.org/drawingml/2006/main">
            <a:r>
              <a:t>Texte à prononcer</a:t>
            </a:r>
          </a:p>
          <a:p xmlns:a="http://schemas.openxmlformats.org/drawingml/2006/main">
            <a:r>
              <a:t>Cette vue regroupe les treize lots de TextAid sans effacer leur identité. La progression commence par les fondations, introduit ensuite les capacités du produit et qualifie la livraison. Les deux derniers lots prolongent le produit après la V1. Les noms de version et les états détaillés se trouvent dans STATUS. Nous ne reconstruisons pas ici un historique de conversation : nous lisons l'organisation documentaire qui a été conservée. Observez que chaque lot a ses propres exigences et gates. Le découpage a permis de qualifier des résultats successifs. La présence de treize lots fermés ne signifie pas que tous les contrôles possibles ont été effectués ; les limites restent documentées.</a:t>
            </a:r>
          </a:p>
          <a:p xmlns:a="http://schemas.openxmlformats.org/drawingml/2006/main">
            <a:r>
              <a:t/>
            </a:r>
          </a:p>
          <a:p xmlns:a="http://schemas.openxmlformats.org/drawingml/2006/main">
            <a:r>
              <a:t>Démonstration / animation</a:t>
            </a:r>
          </a:p>
          <a:p xmlns:a="http://schemas.openxmlformats.org/drawingml/2006/main">
            <a:r>
              <a:t>Ouvrir STATUS.md et repérer la dépendance de LOT-003 à LOT-002.</a:t>
            </a:r>
          </a:p>
          <a:p xmlns:a="http://schemas.openxmlformats.org/drawingml/2006/main">
            <a:r>
              <a:t/>
            </a:r>
          </a:p>
          <a:p xmlns:a="http://schemas.openxmlformats.org/drawingml/2006/main">
            <a:r>
              <a:t>Transition : Écrire une SPEC exploitable</a:t>
            </a:r>
          </a:p>
          <a:p xmlns:a="http://schemas.openxmlformats.org/drawingml/2006/main">
            <a:r>
              <a:t/>
            </a:r>
          </a:p>
          <a:p xmlns:a="http://schemas.openxmlformats.org/drawingml/2006/main">
            <a:r>
              <a:t>Sources</a:t>
            </a:r>
          </a:p>
          <a:p xmlns:a="http://schemas.openxmlformats.org/drawingml/2006/main">
            <a:r>
              <a:t>Ressources/TextAid/STATUS.md ; Ressources/TextAid/docs/SOURCE-MAP.md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 Écrire une SPEC exploitable</a:t>
            </a:r>
          </a:p>
          <a:p xmlns:a="http://schemas.openxmlformats.org/drawingml/2006/main">
            <a:r>
              <a:t>Module : Préparation des lots | Durée indicative : 6 min</a:t>
            </a:r>
          </a:p>
          <a:p xmlns:a="http://schemas.openxmlformats.org/drawingml/2006/main">
            <a:r>
              <a:t>Objectif : Remplir les rubriques de la SPEC sans mélanger les responsabilités.</a:t>
            </a:r>
          </a:p>
          <a:p xmlns:a="http://schemas.openxmlformats.org/drawingml/2006/main">
            <a:r>
              <a:t/>
            </a:r>
          </a:p>
          <a:p xmlns:a="http://schemas.openxmlformats.org/drawingml/2006/main">
            <a:r>
              <a:t>Texte à prononcer</a:t>
            </a:r>
          </a:p>
          <a:p xmlns:a="http://schemas.openxmlformats.org/drawingml/2006/main">
            <a:r>
              <a:t>Une SPEC utile permet de comprendre ce qui doit être obtenu sans lire une ancienne conversation. L'objectif explique le résultat visé, le contexte sa place dans le projet. Les limites évitent les extensions implicites. Les exigences décrivent les comportements attendus ; les cas importants mettent en évidence les frontières et les erreurs. Les dépendances indiquent ce qui doit déjà être disponible. Les contraintes connues signalent une limite à respecter. Les règles globales restent dans RULES : la SPEC peut les référencer. Elle ne contient ni le journal du travail, ni les résultats de tests, ni la conclusion de fermeture. Ces informations ont leurs fichiers propres.</a:t>
            </a:r>
          </a:p>
          <a:p xmlns:a="http://schemas.openxmlformats.org/drawingml/2006/main">
            <a:r>
              <a:t/>
            </a:r>
          </a:p>
          <a:p xmlns:a="http://schemas.openxmlformats.org/drawingml/2006/main">
            <a:r>
              <a:t>Démonstration / animation</a:t>
            </a:r>
          </a:p>
          <a:p xmlns:a="http://schemas.openxmlformats.org/drawingml/2006/main">
            <a:r>
              <a:t>Parcourir SPEC-003.md et montrer les exclusions MAF/IA à cette étape.</a:t>
            </a:r>
          </a:p>
          <a:p xmlns:a="http://schemas.openxmlformats.org/drawingml/2006/main">
            <a:r>
              <a:t/>
            </a:r>
          </a:p>
          <a:p xmlns:a="http://schemas.openxmlformats.org/drawingml/2006/main">
            <a:r>
              <a:t>Transition : Exigence réelle • un échec sûr</a:t>
            </a:r>
          </a:p>
          <a:p xmlns:a="http://schemas.openxmlformats.org/drawingml/2006/main">
            <a:r>
              <a:t/>
            </a:r>
          </a:p>
          <a:p xmlns:a="http://schemas.openxmlformats.org/drawingml/2006/main">
            <a:r>
              <a:t>Sources</a:t>
            </a:r>
          </a:p>
          <a:p xmlns:a="http://schemas.openxmlformats.org/drawingml/2006/main">
            <a:r>
              <a:t>SAW-FR/SAW-3.2-SPECIFICATION.md §15 ; Ressources/TextAid/Specs/003-safe-accept/SPEC-003.md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 Exigence réelle • un échec sûr</a:t>
            </a:r>
          </a:p>
          <a:p xmlns:a="http://schemas.openxmlformats.org/drawingml/2006/main">
            <a:r>
              <a:t>Module : Préparation des lots | Durée indicative : 6 min</a:t>
            </a:r>
          </a:p>
          <a:p xmlns:a="http://schemas.openxmlformats.org/drawingml/2006/main">
            <a:r>
              <a:t>Objectif : Relier un comportement observé à une exigence identifiée.</a:t>
            </a:r>
          </a:p>
          <a:p xmlns:a="http://schemas.openxmlformats.org/drawingml/2006/main">
            <a:r>
              <a:t/>
            </a:r>
          </a:p>
          <a:p xmlns:a="http://schemas.openxmlformats.org/drawingml/2006/main">
            <a:r>
              <a:t>Texte à prononcer</a:t>
            </a:r>
          </a:p>
          <a:p xmlns:a="http://schemas.openxmlformats.org/drawingml/2006/main">
            <a:r>
              <a:t>Cette exigence vient du lot 003. Elle couvre les échecs de validation de la cible, de restauration de fenêtre, de relâchement des touches et de collage. Le comportement attendu protège la source et empêche une insertion dans une autre fenêtre. Le résultat reste disponible dans le presse-papiers, accompagné d'une erreur compréhensible. La slide est une reformulation française ; le fichier anglais conserve le texte de référence. Une exigence aussi précise aide à choisir les tests et les parcours humains. Elle permet aussi de reconnaître qu'un remplacement raté ne doit pas conduire à une tentative de collage ailleurs pour donner l'impression que l'action a réussi.</a:t>
            </a:r>
          </a:p>
          <a:p xmlns:a="http://schemas.openxmlformats.org/drawingml/2006/main">
            <a:r>
              <a:t/>
            </a:r>
          </a:p>
          <a:p xmlns:a="http://schemas.openxmlformats.org/drawingml/2006/main">
            <a:r>
              <a:t>Démonstration / animation</a:t>
            </a:r>
          </a:p>
          <a:p xmlns:a="http://schemas.openxmlformats.org/drawingml/2006/main">
            <a:r>
              <a:t>Lire REQ-003-004 dans la SPEC réelle.</a:t>
            </a:r>
          </a:p>
          <a:p xmlns:a="http://schemas.openxmlformats.org/drawingml/2006/main">
            <a:r>
              <a:t/>
            </a:r>
          </a:p>
          <a:p xmlns:a="http://schemas.openxmlformats.org/drawingml/2006/main">
            <a:r>
              <a:t>Transition : Définir les gates avec la SPEC</a:t>
            </a:r>
          </a:p>
          <a:p xmlns:a="http://schemas.openxmlformats.org/drawingml/2006/main">
            <a:r>
              <a:t/>
            </a:r>
          </a:p>
          <a:p xmlns:a="http://schemas.openxmlformats.org/drawingml/2006/main">
            <a:r>
              <a:t>Sources</a:t>
            </a:r>
          </a:p>
          <a:p xmlns:a="http://schemas.openxmlformats.org/drawingml/2006/main">
            <a:r>
              <a:t>Ressources/TextAid/Specs/003-safe-accept/SPEC-003.md, REQ-003-004 (reformulation française)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 Définir les gates avec la SPEC</a:t>
            </a:r>
          </a:p>
          <a:p xmlns:a="http://schemas.openxmlformats.org/drawingml/2006/main">
            <a:r>
              <a:t>Module : Préparation des lots | Durée indicative : 5 min</a:t>
            </a:r>
          </a:p>
          <a:p xmlns:a="http://schemas.openxmlformats.org/drawingml/2006/main">
            <a:r>
              <a:t>Objectif : Préparer des conditions de fermeture avant l’exécution.</a:t>
            </a:r>
          </a:p>
          <a:p xmlns:a="http://schemas.openxmlformats.org/drawingml/2006/main">
            <a:r>
              <a:t/>
            </a:r>
          </a:p>
          <a:p xmlns:a="http://schemas.openxmlformats.org/drawingml/2006/main">
            <a:r>
              <a:t>Texte à prononcer</a:t>
            </a:r>
          </a:p>
          <a:p xmlns:a="http://schemas.openxmlformats.org/drawingml/2006/main">
            <a:r>
              <a:t>La SPEC et les gates sont préparées ensemble. Nous exprimons le résultat attendu et le moyen de vérifier qu'il est acceptable. Une gate automatique peut exiger une compilation et des tests réussis. Une gate humaine peut décrire un parcours utilisateur et ses conditions de succès. Une gate LLM peut demander une analyse sémantique justifiée. GATES ne doit pas répéter toute la SPEC ou détailler l'implémentation. Les conditions doivent cependant être assez explicites pour que l'évaluation soit reproductible ou discutable selon son type. Nous éviterons les critères vagues comme tout semble correct, qui ne disent ni ce qui a été examiné ni pourquoi le verdict est fondé.</a:t>
            </a:r>
          </a:p>
          <a:p xmlns:a="http://schemas.openxmlformats.org/drawingml/2006/main">
            <a:r>
              <a:t/>
            </a:r>
          </a:p>
          <a:p xmlns:a="http://schemas.openxmlformats.org/drawingml/2006/main">
            <a:r>
              <a:t>Transition : Atelier 2 • spécifier Copy</a:t>
            </a:r>
          </a:p>
          <a:p xmlns:a="http://schemas.openxmlformats.org/drawingml/2006/main">
            <a:r>
              <a:t/>
            </a:r>
          </a:p>
          <a:p xmlns:a="http://schemas.openxmlformats.org/drawingml/2006/main">
            <a:r>
              <a:t>Sources</a:t>
            </a:r>
          </a:p>
          <a:p xmlns:a="http://schemas.openxmlformats.org/drawingml/2006/main">
            <a:r>
              <a:t>SAW-FR/SAW-3.2-SPECIFICATION.md §17.1–17.7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 Atelier 2 • spécifier Copy</a:t>
            </a:r>
          </a:p>
          <a:p xmlns:a="http://schemas.openxmlformats.org/drawingml/2006/main">
            <a:r>
              <a:t>Module : Préparation des lots | Durée indicative : 13 min</a:t>
            </a:r>
          </a:p>
          <a:p xmlns:a="http://schemas.openxmlformats.org/drawingml/2006/main">
            <a:r>
              <a:t>Objectif : Produire une SPEC et des gates cohérentes.</a:t>
            </a:r>
          </a:p>
          <a:p xmlns:a="http://schemas.openxmlformats.org/drawingml/2006/main">
            <a:r>
              <a:t/>
            </a:r>
          </a:p>
          <a:p xmlns:a="http://schemas.openxmlformats.org/drawingml/2006/main">
            <a:r>
              <a:t>Texte à prononcer</a:t>
            </a:r>
          </a:p>
          <a:p xmlns:a="http://schemas.openxmlformats.org/drawingml/2006/main">
            <a:r>
              <a:t>Nous allons préparer un mini-lot pédagogique centré sur Copy. Ce dossier est distinct des lots historiques de TextAid. Prenez la fiche Atelier 2. Pendant huit minutes, écrivez des exigences précises et deux gates. Demandez-vous ce que signifie copier le résultat complet, si un collage automatique est autorisé et quand l'action devient disponible. Décrivez les cas importants avant d'imaginer une architecture. Nous consacrerons cinq minutes à la mise en commun. La correction proposée n'est pas la seule formulation possible : nous vérifierons surtout que les exigences sont observables, que les gates correspondent au résultat attendu et que l'humain garde la validation de l'usage.</a:t>
            </a:r>
          </a:p>
          <a:p xmlns:a="http://schemas.openxmlformats.org/drawingml/2006/main">
            <a:r>
              <a:t/>
            </a:r>
          </a:p>
          <a:p xmlns:a="http://schemas.openxmlformats.org/drawingml/2006/main">
            <a:r>
              <a:t>Démonstration / animation</a:t>
            </a:r>
          </a:p>
          <a:p xmlns:a="http://schemas.openxmlformats.org/drawingml/2006/main">
            <a:r>
              <a:t>Ressources/Ateliers/ATELIER-02.md. 8 min de production, 5 min de mise en commun.</a:t>
            </a:r>
          </a:p>
          <a:p xmlns:a="http://schemas.openxmlformats.org/drawingml/2006/main">
            <a:r>
              <a:t/>
            </a:r>
          </a:p>
          <a:p xmlns:a="http://schemas.openxmlformats.org/drawingml/2006/main">
            <a:r>
              <a:t>Réponse attendue / correction</a:t>
            </a:r>
          </a:p>
          <a:p xmlns:a="http://schemas.openxmlformats.org/drawingml/2006/main">
            <a:r>
              <a:t>Copy disponible uniquement sur résultat complet ; copie exacte ; source inchangée ; aucune restauration de focus ni collage ; session fermée. AUTO : vérification déterministe du contrat. HUMAN : parcours dans une application source et contrôle du résultat.</a:t>
            </a:r>
          </a:p>
          <a:p xmlns:a="http://schemas.openxmlformats.org/drawingml/2006/main">
            <a:r>
              <a:t/>
            </a:r>
          </a:p>
          <a:p xmlns:a="http://schemas.openxmlformats.org/drawingml/2006/main">
            <a:r>
              <a:t>Transition : Passer de Draft à Planned</a:t>
            </a:r>
          </a:p>
          <a:p xmlns:a="http://schemas.openxmlformats.org/drawingml/2006/main">
            <a:r>
              <a:t/>
            </a:r>
          </a:p>
          <a:p xmlns:a="http://schemas.openxmlformats.org/drawingml/2006/main">
            <a:r>
              <a:t>Sources</a:t>
            </a:r>
          </a:p>
          <a:p xmlns:a="http://schemas.openxmlformats.org/drawingml/2006/main">
            <a:r>
              <a:t>Exercice pédagogique inspiré de REQ-003-001 et REQ-003-003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 Passer de Draft à Planned</a:t>
            </a:r>
          </a:p>
          <a:p xmlns:a="http://schemas.openxmlformats.org/drawingml/2006/main">
            <a:r>
              <a:t>Module : Préparation des lots | Durée indicative : 5 min</a:t>
            </a:r>
          </a:p>
          <a:p xmlns:a="http://schemas.openxmlformats.org/drawingml/2006/main">
            <a:r>
              <a:t>Objectif : Reconnaître un lot prêt à démarrer.</a:t>
            </a:r>
          </a:p>
          <a:p xmlns:a="http://schemas.openxmlformats.org/drawingml/2006/main">
            <a:r>
              <a:t/>
            </a:r>
          </a:p>
          <a:p xmlns:a="http://schemas.openxmlformats.org/drawingml/2006/main">
            <a:r>
              <a:t>Texte à prononcer</a:t>
            </a:r>
          </a:p>
          <a:p xmlns:a="http://schemas.openxmlformats.org/drawingml/2006/main">
            <a:r>
              <a:t>Créer trois fichiers ne rend pas automatiquement le lot planifié. Le brouillon reste Draft tant que son identité, son intention et ses gates ne sont pas suffisamment définies et qu'il n'est pas inscrit dans STATUS. La convergence n'est pas nécessaire à ce stade. Avant In-progress, la SPEC peut encore être complétée sans décision du ledger. Cela permet de travailler la préparation. Après le démarrage, un changement de sens suit le circuit d'une décision humaine et d'une conservation de l'ancien contenu. Planned signifie que le lot peut être commencé selon ses dépendances ; son démarrage reste une décision humaine.</a:t>
            </a:r>
          </a:p>
          <a:p xmlns:a="http://schemas.openxmlformats.org/drawingml/2006/main">
            <a:r>
              <a:t/>
            </a:r>
          </a:p>
          <a:p xmlns:a="http://schemas.openxmlformats.org/drawingml/2006/main">
            <a:r>
              <a:t>Question</a:t>
            </a:r>
          </a:p>
          <a:p xmlns:a="http://schemas.openxmlformats.org/drawingml/2006/main">
            <a:r>
              <a:t>Une SPEC détaillée avec des gates encore vides peut-elle être Planned ?</a:t>
            </a:r>
          </a:p>
          <a:p xmlns:a="http://schemas.openxmlformats.org/drawingml/2006/main">
            <a:r>
              <a:t/>
            </a:r>
          </a:p>
          <a:p xmlns:a="http://schemas.openxmlformats.org/drawingml/2006/main">
            <a:r>
              <a:t>Réponse attendue / correction</a:t>
            </a:r>
          </a:p>
          <a:p xmlns:a="http://schemas.openxmlformats.org/drawingml/2006/main">
            <a:r>
              <a:t>Non. Les gates doivent être définies avant la planification.</a:t>
            </a:r>
          </a:p>
          <a:p xmlns:a="http://schemas.openxmlformats.org/drawingml/2006/main">
            <a:r>
              <a:t/>
            </a:r>
          </a:p>
          <a:p xmlns:a="http://schemas.openxmlformats.org/drawingml/2006/main">
            <a:r>
              <a:t>Transition : Le prompt de démarrage</a:t>
            </a:r>
          </a:p>
          <a:p xmlns:a="http://schemas.openxmlformats.org/drawingml/2006/main">
            <a:r>
              <a:t/>
            </a:r>
          </a:p>
          <a:p xmlns:a="http://schemas.openxmlformats.org/drawingml/2006/main">
            <a:r>
              <a:t>Sources</a:t>
            </a:r>
          </a:p>
          <a:p xmlns:a="http://schemas.openxmlformats.org/drawingml/2006/main">
            <a:r>
              <a:t>SAW-FR/SAW-3.2-SPECIFICATION.md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 Le prompt de démarrage</a:t>
            </a:r>
          </a:p>
          <a:p xmlns:a="http://schemas.openxmlformats.org/drawingml/2006/main">
            <a:r>
              <a:t>Module : Démarrage et exécution | Durée indicative : 5 min</a:t>
            </a:r>
          </a:p>
          <a:p xmlns:a="http://schemas.openxmlformats.org/drawingml/2006/main">
            <a:r>
              <a:t>Objectif : Utiliser une consigne courte fondée sur des documents complets.</a:t>
            </a:r>
          </a:p>
          <a:p xmlns:a="http://schemas.openxmlformats.org/drawingml/2006/main">
            <a:r>
              <a:t/>
            </a:r>
          </a:p>
          <a:p xmlns:a="http://schemas.openxmlformats.org/drawingml/2006/main">
            <a:r>
              <a:t>Texte à prononcer</a:t>
            </a:r>
          </a:p>
          <a:p xmlns:a="http://schemas.openxmlformats.org/drawingml/2006/main">
            <a:r>
              <a:t>Voici le prompt de pilotage que nous allons utiliser : Lis le README et exécute le prochain lot. La consigne est courte parce que le protocole et les informations du projet sont dans les fichiers. Elle autorise le démarrage du prochain lot identifié, sous réserve des dépendances et de la disponibilité du créneau. Si plusieurs lots Planned sont possibles et que le choix reste ambigu, l'IA fait trancher l'humain. Si aucun lot n'est prévu, elle ne doit pas en inventer un. Le dossier actuel de TextAid n'a aucun prochain lot Planned : notre démonstration de lancement se fera donc dans une copie pédagogique préparée.</a:t>
            </a:r>
          </a:p>
          <a:p xmlns:a="http://schemas.openxmlformats.org/drawingml/2006/main">
            <a:r>
              <a:t/>
            </a:r>
          </a:p>
          <a:p xmlns:a="http://schemas.openxmlformats.org/drawingml/2006/main">
            <a:r>
              <a:t>Démonstration / animation</a:t>
            </a:r>
          </a:p>
          <a:p xmlns:a="http://schemas.openxmlformats.org/drawingml/2006/main">
            <a:r>
              <a:t>Montrer le prompt puis STATUS.md de TextAid. Constater qu’aucun lot ne doit être relancé dans le projet réel.</a:t>
            </a:r>
          </a:p>
          <a:p xmlns:a="http://schemas.openxmlformats.org/drawingml/2006/main">
            <a:r>
              <a:t/>
            </a:r>
          </a:p>
          <a:p xmlns:a="http://schemas.openxmlformats.org/drawingml/2006/main">
            <a:r>
              <a:t>Transition : Le bootstrap reconstruit le contexte</a:t>
            </a:r>
          </a:p>
          <a:p xmlns:a="http://schemas.openxmlformats.org/drawingml/2006/main">
            <a:r>
              <a:t/>
            </a:r>
          </a:p>
          <a:p xmlns:a="http://schemas.openxmlformats.org/drawingml/2006/main">
            <a:r>
              <a:t>Sources</a:t>
            </a:r>
          </a:p>
          <a:p xmlns:a="http://schemas.openxmlformats.org/drawingml/2006/main">
            <a:r>
              <a:t>Prompt fourni par Olivier Dahan ; spécification SAW §10, §19–22 ; TextAid 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 Le bootstrap reconstruit le contexte</a:t>
            </a:r>
          </a:p>
          <a:p xmlns:a="http://schemas.openxmlformats.org/drawingml/2006/main">
            <a:r>
              <a:t>Module : Démarrage et exécution | Durée indicative : 7 min</a:t>
            </a:r>
          </a:p>
          <a:p xmlns:a="http://schemas.openxmlformats.org/drawingml/2006/main">
            <a:r>
              <a:t>Objectif : Appliquer l’ordre de lecture obligatoire.</a:t>
            </a:r>
          </a:p>
          <a:p xmlns:a="http://schemas.openxmlformats.org/drawingml/2006/main">
            <a:r>
              <a:t/>
            </a:r>
          </a:p>
          <a:p xmlns:a="http://schemas.openxmlformats.org/drawingml/2006/main">
            <a:r>
              <a:t>Texte à prononcer</a:t>
            </a:r>
          </a:p>
          <a:p xmlns:a="http://schemas.openxmlformats.org/drawingml/2006/main">
            <a:r>
              <a:t>L'IA commence par reconstruire le contexte dans cet ordre. Elle lit toutes les décisions actives du ledger, pas seulement celles qu'elle estime pertinentes. Cette obligation évite qu'un classement imparfait masque une décision applicable. Elle consulte également les décisions obsolètes explicitement référencées. Elle lit ensuite l'état des lots et les fichiers du lot choisi. HISTORY n'est pas dans le bootstrap habituel ; il aide lorsque la chronologie est nécessaire à une reprise ou à une réconciliation. Avant de continuer, les incohérences touchant l'intention, les validations ou l'état doivent être résolues. Cette lecture donne au prompt court sa portée opérationnelle.</a:t>
            </a:r>
          </a:p>
          <a:p xmlns:a="http://schemas.openxmlformats.org/drawingml/2006/main">
            <a:r>
              <a:t/>
            </a:r>
          </a:p>
          <a:p xmlns:a="http://schemas.openxmlformats.org/drawingml/2006/main">
            <a:r>
              <a:t>Démonstration / animation</a:t>
            </a:r>
          </a:p>
          <a:p xmlns:a="http://schemas.openxmlformats.org/drawingml/2006/main">
            <a:r>
              <a:t>Dans les ressources, parcourir README puis les documents globaux et enfin le dossier 003.</a:t>
            </a:r>
          </a:p>
          <a:p xmlns:a="http://schemas.openxmlformats.org/drawingml/2006/main">
            <a:r>
              <a:t/>
            </a:r>
          </a:p>
          <a:p xmlns:a="http://schemas.openxmlformats.org/drawingml/2006/main">
            <a:r>
              <a:t>Transition : Un seul créneau actif par projet</a:t>
            </a:r>
          </a:p>
          <a:p xmlns:a="http://schemas.openxmlformats.org/drawingml/2006/main">
            <a:r>
              <a:t/>
            </a:r>
          </a:p>
          <a:p xmlns:a="http://schemas.openxmlformats.org/drawingml/2006/main">
            <a:r>
              <a:t>Sources</a:t>
            </a:r>
          </a:p>
          <a:p xmlns:a="http://schemas.openxmlformats.org/drawingml/2006/main">
            <a:r>
              <a:t>SAW-FR/SAW-3.2-SPECIFICATION.md §10.3, §22.1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 Un seul créneau actif par projet</a:t>
            </a:r>
          </a:p>
          <a:p xmlns:a="http://schemas.openxmlformats.org/drawingml/2006/main">
            <a:r>
              <a:t>Module : Démarrage et exécution | Durée indicative : 6 min</a:t>
            </a:r>
          </a:p>
          <a:p xmlns:a="http://schemas.openxmlformats.org/drawingml/2006/main">
            <a:r>
              <a:t>Objectif : Appliquer la séquentialité sans confondre travail terminé et lot fermé.</a:t>
            </a:r>
          </a:p>
          <a:p xmlns:a="http://schemas.openxmlformats.org/drawingml/2006/main">
            <a:r>
              <a:t/>
            </a:r>
          </a:p>
          <a:p xmlns:a="http://schemas.openxmlformats.org/drawingml/2006/main">
            <a:r>
              <a:t>Texte à prononcer</a:t>
            </a:r>
          </a:p>
          <a:p xmlns:a="http://schemas.openxmlformats.org/drawingml/2006/main">
            <a:r>
              <a:t>Le créneau actif est occupé aussi bien par un lot en cours que par un lot bloqué ou prêt à fermer. Un lot Ready-to-close n'a donc pas encore libéré le passage au suivant. Un lot Blocked bloque les autres lots du même projet. Nominalement, la fermeture permet de capitaliser les findings, de vérifier les validations et de fixer le résultat accepté avant de poursuivre. Cette séquentialité est locale au projet SAW. Nous verrons plus tard comment plusieurs projets d'une Application peuvent avancer en parallèle sous un contrat explicite. Il faut distinguer cette organisation de la simple présence de plusieurs fichiers ou branches.</a:t>
            </a:r>
          </a:p>
          <a:p xmlns:a="http://schemas.openxmlformats.org/drawingml/2006/main">
            <a:r>
              <a:t/>
            </a:r>
          </a:p>
          <a:p xmlns:a="http://schemas.openxmlformats.org/drawingml/2006/main">
            <a:r>
              <a:t>Question</a:t>
            </a:r>
          </a:p>
          <a:p xmlns:a="http://schemas.openxmlformats.org/drawingml/2006/main">
            <a:r>
              <a:t>Peut-on démarrer un autre lot pendant l’attente de fermeture ?</a:t>
            </a:r>
          </a:p>
          <a:p xmlns:a="http://schemas.openxmlformats.org/drawingml/2006/main">
            <a:r>
              <a:t/>
            </a:r>
          </a:p>
          <a:p xmlns:a="http://schemas.openxmlformats.org/drawingml/2006/main">
            <a:r>
              <a:t>Réponse attendue / correction</a:t>
            </a:r>
          </a:p>
          <a:p xmlns:a="http://schemas.openxmlformats.org/drawingml/2006/main">
            <a:r>
              <a:t>Non dans le même projet. Ready-to-close occupe le créneau actif.</a:t>
            </a:r>
          </a:p>
          <a:p xmlns:a="http://schemas.openxmlformats.org/drawingml/2006/main">
            <a:r>
              <a:t/>
            </a:r>
          </a:p>
          <a:p xmlns:a="http://schemas.openxmlformats.org/drawingml/2006/main">
            <a:r>
              <a:t>Transition : L’IA applique le protocole</a:t>
            </a:r>
          </a:p>
          <a:p xmlns:a="http://schemas.openxmlformats.org/drawingml/2006/main">
            <a:r>
              <a:t/>
            </a:r>
          </a:p>
          <a:p xmlns:a="http://schemas.openxmlformats.org/drawingml/2006/main">
            <a:r>
              <a:t>Sources</a:t>
            </a:r>
          </a:p>
          <a:p xmlns:a="http://schemas.openxmlformats.org/drawingml/2006/main">
            <a:r>
              <a:t>SAW-FR/SAW-3.2-SPECIFICATION.md §19–20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 L’IA applique le protocole</a:t>
            </a:r>
          </a:p>
          <a:p xmlns:a="http://schemas.openxmlformats.org/drawingml/2006/main">
            <a:r>
              <a:t>Module : Démarrage et exécution | Durée indicative : 8 min</a:t>
            </a:r>
          </a:p>
          <a:p xmlns:a="http://schemas.openxmlformats.org/drawingml/2006/main">
            <a:r>
              <a:t>Objectif : Comprendre la délégation complète du suivi documentaire.</a:t>
            </a:r>
          </a:p>
          <a:p xmlns:a="http://schemas.openxmlformats.org/drawingml/2006/main">
            <a:r>
              <a:t/>
            </a:r>
          </a:p>
          <a:p xmlns:a="http://schemas.openxmlformats.org/drawingml/2006/main">
            <a:r>
              <a:t>Texte à prononcer</a:t>
            </a:r>
          </a:p>
          <a:p xmlns:a="http://schemas.openxmlformats.org/drawingml/2006/main">
            <a:r>
              <a:t>L'utilisateur n'a pas à dicter chaque opération documentaire à l'IA. Celle-ci applique le protocole explicite du projet : elle réalise le travail, consigne les découvertes, lance les contrôles automatiques et prépare les évaluations sémantiques. Elle peut préparer une évolution de SPEC ou de règle, mais elle ne prend pas la décision humaine requise à la place de l'utilisateur. Elle demande également la validation des gates HUMAN. Pour maintenir la maîtrise du travail, lisons les changements et les preuves plutôt que la seule conclusion de la conversation. Un compte rendu affirmant que tout est fait doit pouvoir être rapproché des fichiers et du résultat identifié.</a:t>
            </a:r>
          </a:p>
          <a:p xmlns:a="http://schemas.openxmlformats.org/drawingml/2006/main">
            <a:r>
              <a:t/>
            </a:r>
          </a:p>
          <a:p xmlns:a="http://schemas.openxmlformats.org/drawingml/2006/main">
            <a:r>
              <a:t>Démonstration / animation</a:t>
            </a:r>
          </a:p>
          <a:p xmlns:a="http://schemas.openxmlformats.org/drawingml/2006/main">
            <a:r>
              <a:t>Dans LOT-003, suivre SPEC → FINDINGS → GATES. Demander au groupe d’identifier un acte de l’IA et un acte réservé à Olivier.</a:t>
            </a:r>
          </a:p>
          <a:p xmlns:a="http://schemas.openxmlformats.org/drawingml/2006/main">
            <a:r>
              <a:t/>
            </a:r>
          </a:p>
          <a:p xmlns:a="http://schemas.openxmlformats.org/drawingml/2006/main">
            <a:r>
              <a:t>Transition : Interrompre et reprendre une session</a:t>
            </a:r>
          </a:p>
          <a:p xmlns:a="http://schemas.openxmlformats.org/drawingml/2006/main">
            <a:r>
              <a:t/>
            </a:r>
          </a:p>
          <a:p xmlns:a="http://schemas.openxmlformats.org/drawingml/2006/main">
            <a:r>
              <a:t>Sources</a:t>
            </a:r>
          </a:p>
          <a:p xmlns:a="http://schemas.openxmlformats.org/drawingml/2006/main">
            <a:r>
              <a:t>SAW-FR/SAW-3.2-SPECIFICATION.md §4.5, §22, §25 ; TextAid LOT-003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 Interrompre et reprendre une session</a:t>
            </a:r>
          </a:p>
          <a:p xmlns:a="http://schemas.openxmlformats.org/drawingml/2006/main">
            <a:r>
              <a:t>Module : Démarrage et exécution | Durée indicative : 9 min</a:t>
            </a:r>
          </a:p>
          <a:p xmlns:a="http://schemas.openxmlformats.org/drawingml/2006/main">
            <a:r>
              <a:t>Objectif : Préparer une reprise autonome.</a:t>
            </a:r>
          </a:p>
          <a:p xmlns:a="http://schemas.openxmlformats.org/drawingml/2006/main">
            <a:r>
              <a:t/>
            </a:r>
          </a:p>
          <a:p xmlns:a="http://schemas.openxmlformats.org/drawingml/2006/main">
            <a:r>
              <a:t>Texte à prononcer</a:t>
            </a:r>
          </a:p>
          <a:p xmlns:a="http://schemas.openxmlformats.org/drawingml/2006/main">
            <a:r>
              <a:t>Une session peut être interrompue ou transmise à un autre exécutant. STATUS doit conserver les informations nécessaires à la reprise, directement ou par renvoi. Elles comprennent le lot actif, la prochaine action, les blocages, les décisions attendues et les résultats utiles. Les connaissances détaillées restent dans FINDINGS, les évaluations dans GATES. Nous ne nous reposons pas sur la mémoire de la conversation. Au retour, l'IA reconstruit le contexte et compare les artefacts avant de poursuivre. Une validation déjà obtenue n'est pas effacée ; sa validité est examinée au regard du résultat actuel. L'objectif est de reprendre le travail connu sans inventer une continuité.</a:t>
            </a:r>
          </a:p>
          <a:p xmlns:a="http://schemas.openxmlformats.org/drawingml/2006/main">
            <a:r>
              <a:t/>
            </a:r>
          </a:p>
          <a:p xmlns:a="http://schemas.openxmlformats.org/drawingml/2006/main">
            <a:r>
              <a:t>Démonstration / animation</a:t>
            </a:r>
          </a:p>
          <a:p xmlns:a="http://schemas.openxmlformats.org/drawingml/2006/main">
            <a:r>
              <a:t>Lecture guidée : proposer oralement une note de reprise de LOT-003 après le premier échec de Replace, sans modifier les archives.</a:t>
            </a:r>
          </a:p>
          <a:p xmlns:a="http://schemas.openxmlformats.org/drawingml/2006/main">
            <a:r>
              <a:t/>
            </a:r>
          </a:p>
          <a:p xmlns:a="http://schemas.openxmlformats.org/drawingml/2006/main">
            <a:r>
              <a:t>Question</a:t>
            </a:r>
          </a:p>
          <a:p xmlns:a="http://schemas.openxmlformats.org/drawingml/2006/main">
            <a:r>
              <a:t>Si vous transmettez seulement SPEC-003.md, que manque-t-il ?</a:t>
            </a:r>
          </a:p>
          <a:p xmlns:a="http://schemas.openxmlformats.org/drawingml/2006/main">
            <a:r>
              <a:t/>
            </a:r>
          </a:p>
          <a:p xmlns:a="http://schemas.openxmlformats.org/drawingml/2006/main">
            <a:r>
              <a:t>Réponse attendue / correction</a:t>
            </a:r>
          </a:p>
          <a:p xmlns:a="http://schemas.openxmlformats.org/drawingml/2006/main">
            <a:r>
              <a:t>Le bootstrap, les règles, les décisions, l’état, les findings, les gates et la référence de méthode, ainsi que les informations nécessaires à la reprise.</a:t>
            </a:r>
          </a:p>
          <a:p xmlns:a="http://schemas.openxmlformats.org/drawingml/2006/main">
            <a:r>
              <a:t/>
            </a:r>
          </a:p>
          <a:p xmlns:a="http://schemas.openxmlformats.org/drawingml/2006/main">
            <a:r>
              <a:t>Transition : Un finding décrit ce qui est appris</a:t>
            </a:r>
          </a:p>
          <a:p xmlns:a="http://schemas.openxmlformats.org/drawingml/2006/main">
            <a:r>
              <a:t/>
            </a:r>
          </a:p>
          <a:p xmlns:a="http://schemas.openxmlformats.org/drawingml/2006/main">
            <a:r>
              <a:t>Sources</a:t>
            </a:r>
          </a:p>
          <a:p xmlns:a="http://schemas.openxmlformats.org/drawingml/2006/main">
            <a:r>
              <a:t>SAW-FR/SAW-3.2-SPECIFICATION.md §10.5, §13.4, §22.1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 Un finding décrit ce qui est appris</a:t>
            </a:r>
          </a:p>
          <a:p xmlns:a="http://schemas.openxmlformats.org/drawingml/2006/main">
            <a:r>
              <a:t>Module : Découvertes et changements | Durée indicative : 5 min</a:t>
            </a:r>
          </a:p>
          <a:p xmlns:a="http://schemas.openxmlformats.org/drawingml/2006/main">
            <a:r>
              <a:t>Objectif : Rédiger un finding sans fabriquer une décision.</a:t>
            </a:r>
          </a:p>
          <a:p xmlns:a="http://schemas.openxmlformats.org/drawingml/2006/main">
            <a:r>
              <a:t/>
            </a:r>
          </a:p>
          <a:p xmlns:a="http://schemas.openxmlformats.org/drawingml/2006/main">
            <a:r>
              <a:t>Texte à prononcer</a:t>
            </a:r>
          </a:p>
          <a:p xmlns:a="http://schemas.openxmlformats.org/drawingml/2006/main">
            <a:r>
              <a:t>Un finding conserve une connaissance acquise pendant le lot. Ce peut être un défaut, une incompatibilité, une limite de test ou une observation utile pour l'avenir. Il ne constitue pas automatiquement une décision. Décrivons ce qui est connu et évitons de présenter une hypothèse comme une cause confirmée. Le format minimal permet d'indiquer le constat, le moment de découverte et le statut. Preuve et impact, même facultatifs dans le format, sont souvent utiles pour comprendre le traitement. La destination précise où le finding aboutit : résolution locale, décision, règle, lot ultérieur ou rejet motivé. Nous suivrons ce parcours jusqu'à la fermeture.</a:t>
            </a:r>
          </a:p>
          <a:p xmlns:a="http://schemas.openxmlformats.org/drawingml/2006/main">
            <a:r>
              <a:t/>
            </a:r>
          </a:p>
          <a:p xmlns:a="http://schemas.openxmlformats.org/drawingml/2006/main">
            <a:r>
              <a:t>Transition : Finding réel • Replace échoue</a:t>
            </a:r>
          </a:p>
          <a:p xmlns:a="http://schemas.openxmlformats.org/drawingml/2006/main">
            <a:r>
              <a:t/>
            </a:r>
          </a:p>
          <a:p xmlns:a="http://schemas.openxmlformats.org/drawingml/2006/main">
            <a:r>
              <a:t>Sources</a:t>
            </a:r>
          </a:p>
          <a:p xmlns:a="http://schemas.openxmlformats.org/drawingml/2006/main">
            <a:r>
              <a:t>SAW-FR/SAW-3.2-SPECIFICATION.md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 Finding réel • Replace échoue</a:t>
            </a:r>
          </a:p>
          <a:p xmlns:a="http://schemas.openxmlformats.org/drawingml/2006/main">
            <a:r>
              <a:t>Module : Découvertes et changements | Durée indicative : 6 min</a:t>
            </a:r>
          </a:p>
          <a:p xmlns:a="http://schemas.openxmlformats.org/drawingml/2006/main">
            <a:r>
              <a:t>Objectif : Suivre une découverte jusqu’à sa résolution.</a:t>
            </a:r>
          </a:p>
          <a:p xmlns:a="http://schemas.openxmlformats.org/drawingml/2006/main">
            <a:r>
              <a:t/>
            </a:r>
          </a:p>
          <a:p xmlns:a="http://schemas.openxmlformats.org/drawingml/2006/main">
            <a:r>
              <a:t>Texte à prononcer</a:t>
            </a:r>
          </a:p>
          <a:p xmlns:a="http://schemas.openxmlformats.org/drawingml/2006/main">
            <a:r>
              <a:t>Olivier constate que Replace ne modifie pas le texte source, alors que la capture et la transformation fonctionnent. Ce constat devient F-003-002. L'enquête identifie ensuite une structure native INPUT trop petite pour SendInput sur x64 : le membre clavier seul ne respecte pas la taille nécessaire. La correction rétablit la disposition native. Le détail technique explique ici pourquoi un test automatique réussi n'avait pas prouvé le fonctionnement réel du collage. Après correction, un nouveau candidat est produit et évalué. Le finding conserve le constat et la résolution ; GATES conserve les essais et la validation obtenue sur le résultat corrigé.</a:t>
            </a:r>
          </a:p>
          <a:p xmlns:a="http://schemas.openxmlformats.org/drawingml/2006/main">
            <a:r>
              <a:t/>
            </a:r>
          </a:p>
          <a:p xmlns:a="http://schemas.openxmlformats.org/drawingml/2006/main">
            <a:r>
              <a:t>Démonstration / animation</a:t>
            </a:r>
          </a:p>
          <a:p xmlns:a="http://schemas.openxmlformats.org/drawingml/2006/main">
            <a:r>
              <a:t>Lire F-003-002 puis les essais de G-003-002. Ne pas exécuter le code ni relancer l’ancien EXE.</a:t>
            </a:r>
          </a:p>
          <a:p xmlns:a="http://schemas.openxmlformats.org/drawingml/2006/main">
            <a:r>
              <a:t/>
            </a:r>
          </a:p>
          <a:p xmlns:a="http://schemas.openxmlformats.org/drawingml/2006/main">
            <a:r>
              <a:t>Transition : Correction locale ou changement d’intention</a:t>
            </a:r>
          </a:p>
          <a:p xmlns:a="http://schemas.openxmlformats.org/drawingml/2006/main">
            <a:r>
              <a:t/>
            </a:r>
          </a:p>
          <a:p xmlns:a="http://schemas.openxmlformats.org/drawingml/2006/main">
            <a:r>
              <a:t>Sources</a:t>
            </a:r>
          </a:p>
          <a:p xmlns:a="http://schemas.openxmlformats.org/drawingml/2006/main">
            <a:r>
              <a:t>Ressources/TextAid/Specs/003-safe-accept/FINDINGS-003.md, F-003-002 ; GATES-003.md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 Correction locale ou changement d’intention</a:t>
            </a:r>
          </a:p>
          <a:p xmlns:a="http://schemas.openxmlformats.org/drawingml/2006/main">
            <a:r>
              <a:t>Module : Découvertes et changements | Durée indicative : 6 min</a:t>
            </a:r>
          </a:p>
          <a:p xmlns:a="http://schemas.openxmlformats.org/drawingml/2006/main">
            <a:r>
              <a:t>Objectif : Déterminer quand une décision humaine est nécessaire.</a:t>
            </a:r>
          </a:p>
          <a:p xmlns:a="http://schemas.openxmlformats.org/drawingml/2006/main">
            <a:r>
              <a:t/>
            </a:r>
          </a:p>
          <a:p xmlns:a="http://schemas.openxmlformats.org/drawingml/2006/main">
            <a:r>
              <a:t>Texte à prononcer</a:t>
            </a:r>
          </a:p>
          <a:p xmlns:a="http://schemas.openxmlformats.org/drawingml/2006/main">
            <a:r>
              <a:t>La frontière se situe dans l'intention. Corriger SendInput pour respecter le comportement déjà exigé est une résolution locale. Ajouter une nouvelle exigence d'interface change ce que le résultat doit fournir. Après le passage à In-progress, cet ajout doit référencer une décision du ledger. Il en va de même pour un retrait ou une modification du sens d'une gate. Une simple correction de texte qui ne modifie pas le sens n'exige pas ce circuit. Dans chaque cas, l'impact sur les validations acquises doit être examiné. Il ne suffit pas de qualifier une modification de petite pour conclure qu'elle est sans effet.</a:t>
            </a:r>
          </a:p>
          <a:p xmlns:a="http://schemas.openxmlformats.org/drawingml/2006/main">
            <a:r>
              <a:t/>
            </a:r>
          </a:p>
          <a:p xmlns:a="http://schemas.openxmlformats.org/drawingml/2006/main">
            <a:r>
              <a:t>Question</a:t>
            </a:r>
          </a:p>
          <a:p xmlns:a="http://schemas.openxmlformats.org/drawingml/2006/main">
            <a:r>
              <a:t>Ajouter une exigence de redimensionnement après démarrage est-il une simple correction ?</a:t>
            </a:r>
          </a:p>
          <a:p xmlns:a="http://schemas.openxmlformats.org/drawingml/2006/main">
            <a:r>
              <a:t/>
            </a:r>
          </a:p>
          <a:p xmlns:a="http://schemas.openxmlformats.org/drawingml/2006/main">
            <a:r>
              <a:t>Réponse attendue / correction</a:t>
            </a:r>
          </a:p>
          <a:p xmlns:a="http://schemas.openxmlformats.org/drawingml/2006/main">
            <a:r>
              <a:t>Non, si ce comportement n’était pas dans l’intention active. Il faut une décision et examiner les gates affectées.</a:t>
            </a:r>
          </a:p>
          <a:p xmlns:a="http://schemas.openxmlformats.org/drawingml/2006/main">
            <a:r>
              <a:t/>
            </a:r>
          </a:p>
          <a:p xmlns:a="http://schemas.openxmlformats.org/drawingml/2006/main">
            <a:r>
              <a:t>Transition : Décision réelle • la comparaison en deux panneaux</a:t>
            </a:r>
          </a:p>
          <a:p xmlns:a="http://schemas.openxmlformats.org/drawingml/2006/main">
            <a:r>
              <a:t/>
            </a:r>
          </a:p>
          <a:p xmlns:a="http://schemas.openxmlformats.org/drawingml/2006/main">
            <a:r>
              <a:t>Sources</a:t>
            </a:r>
          </a:p>
          <a:p xmlns:a="http://schemas.openxmlformats.org/drawingml/2006/main">
            <a:r>
              <a:t>SAW-FR/SAW-3.2-SPECIFICATION.md §15.5, §17.2, §17.10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 Décision réelle • la comparaison en deux panneaux</a:t>
            </a:r>
          </a:p>
          <a:p xmlns:a="http://schemas.openxmlformats.org/drawingml/2006/main">
            <a:r>
              <a:t>Module : Découvertes et changements | Durée indicative : 6 min</a:t>
            </a:r>
          </a:p>
          <a:p xmlns:a="http://schemas.openxmlformats.org/drawingml/2006/main">
            <a:r>
              <a:t>Objectif : Lire un changement d’intention réel et ses effets documentaires.</a:t>
            </a:r>
          </a:p>
          <a:p xmlns:a="http://schemas.openxmlformats.org/drawingml/2006/main">
            <a:r>
              <a:t/>
            </a:r>
          </a:p>
          <a:p xmlns:a="http://schemas.openxmlformats.org/drawingml/2006/main">
            <a:r>
              <a:t>Texte à prononcer</a:t>
            </a:r>
          </a:p>
          <a:p xmlns:a="http://schemas.openxmlformats.org/drawingml/2006/main">
            <a:r>
              <a:t>Le statut de session recouvre l'aperçu et rend la lecture difficile. Olivier demande une comparaison côte à côte, avec deux panneaux de même taille et une ligne de statut indépendante. La décision D-008 explique ce choix et indique ses conséquences. Une nouvelle exigence REQ-003-006 est ajoutée à la SPEC et la gate humaine G-003-002 est enrichie pour contrôler la lisibilité et le redimensionnement. L'ancienne définition reste dans Definition history. Nous pouvons ainsi retrouver l'intention antérieure, l'origine de son évolution et le contrôle ajouté. Le ledger documente la décision ; il ne dispense pas d'appliquer ses conséquences aux fichiers du lot.</a:t>
            </a:r>
          </a:p>
          <a:p xmlns:a="http://schemas.openxmlformats.org/drawingml/2006/main">
            <a:r>
              <a:t/>
            </a:r>
          </a:p>
          <a:p xmlns:a="http://schemas.openxmlformats.org/drawingml/2006/main">
            <a:r>
              <a:t>Démonstration / animation</a:t>
            </a:r>
          </a:p>
          <a:p xmlns:a="http://schemas.openxmlformats.org/drawingml/2006/main">
            <a:r>
              <a:t>Ouvrir LEDGER.md à D-008, puis REQ-003-006 et Definition history de G-003-002.</a:t>
            </a:r>
          </a:p>
          <a:p xmlns:a="http://schemas.openxmlformats.org/drawingml/2006/main">
            <a:r>
              <a:t/>
            </a:r>
          </a:p>
          <a:p xmlns:a="http://schemas.openxmlformats.org/drawingml/2006/main">
            <a:r>
              <a:t>Transition : Conserver ce qui est remplacé</a:t>
            </a:r>
          </a:p>
          <a:p xmlns:a="http://schemas.openxmlformats.org/drawingml/2006/main">
            <a:r>
              <a:t/>
            </a:r>
          </a:p>
          <a:p xmlns:a="http://schemas.openxmlformats.org/drawingml/2006/main">
            <a:r>
              <a:t>Sources</a:t>
            </a:r>
          </a:p>
          <a:p xmlns:a="http://schemas.openxmlformats.org/drawingml/2006/main">
            <a:r>
              <a:t>Ressources/TextAid/LEDGER.md, D-008 ; SPEC-003.md ; GATES-003.md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35 — Conserver ce qui est remplacé</a:t>
            </a:r>
          </a:p>
          <a:p xmlns:a="http://schemas.openxmlformats.org/drawingml/2006/main">
            <a:r>
              <a:t>Module : Découvertes et changements | Durée indicative : 5 min</a:t>
            </a:r>
          </a:p>
          <a:p xmlns:a="http://schemas.openxmlformats.org/drawingml/2006/main">
            <a:r>
              <a:t>Objectif : Historiser une évolution sans détruire l’intention précédente.</a:t>
            </a:r>
          </a:p>
          <a:p xmlns:a="http://schemas.openxmlformats.org/drawingml/2006/main">
            <a:r>
              <a:t/>
            </a:r>
          </a:p>
          <a:p xmlns:a="http://schemas.openxmlformats.org/drawingml/2006/main">
            <a:r>
              <a:t>Texte à prononcer</a:t>
            </a:r>
          </a:p>
          <a:p xmlns:a="http://schemas.openxmlformats.org/drawingml/2006/main">
            <a:r>
              <a:t>Lorsqu'un élément est remplacé, il reste lisible. L'ancien titre est marqué OBSOLETE et indique Replaced by avec l'identifiant du remplaçant. Le nouvel élément indique Replaces. Nous n'attribuons pas l'ancien identifiant à une exigence différente. Une décision validée du ledger est également immuable : une correction de fond produit une nouvelle décision et rend l'ancienne obsolète. Cette conservation permet de comprendre pourquoi une validation ou une convergence historique portait sur une intention différente. Elle ne transforme pas les éléments obsolètes en obligations actives. Nous devons distinguer conservation pour l'histoire et contenu gouvernant le travail courant.</a:t>
            </a:r>
          </a:p>
          <a:p xmlns:a="http://schemas.openxmlformats.org/drawingml/2006/main">
            <a:r>
              <a:t/>
            </a:r>
          </a:p>
          <a:p xmlns:a="http://schemas.openxmlformats.org/drawingml/2006/main">
            <a:r>
              <a:t>Transition : Donner une destination aux findings</a:t>
            </a:r>
          </a:p>
          <a:p xmlns:a="http://schemas.openxmlformats.org/drawingml/2006/main">
            <a:r>
              <a:t/>
            </a:r>
          </a:p>
          <a:p xmlns:a="http://schemas.openxmlformats.org/drawingml/2006/main">
            <a:r>
              <a:t>Sources</a:t>
            </a:r>
          </a:p>
          <a:p xmlns:a="http://schemas.openxmlformats.org/drawingml/2006/main">
            <a:r>
              <a:t>SAW-FR/SAW-3.2-SPECIFICATION.md §7, §9, §14.3, §15.4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36 — Donner une destination aux findings</a:t>
            </a:r>
          </a:p>
          <a:p xmlns:a="http://schemas.openxmlformats.org/drawingml/2006/main">
            <a:r>
              <a:t>Module : Découvertes et changements | Durée indicative : 6 min</a:t>
            </a:r>
          </a:p>
          <a:p xmlns:a="http://schemas.openxmlformats.org/drawingml/2006/main">
            <a:r>
              <a:t>Objectif : Achever la capitalisation avant la fermeture.</a:t>
            </a:r>
          </a:p>
          <a:p xmlns:a="http://schemas.openxmlformats.org/drawingml/2006/main">
            <a:r>
              <a:t/>
            </a:r>
          </a:p>
          <a:p xmlns:a="http://schemas.openxmlformats.org/drawingml/2006/main">
            <a:r>
              <a:t>Texte à prononcer</a:t>
            </a:r>
          </a:p>
          <a:p xmlns:a="http://schemas.openxmlformats.org/drawingml/2006/main">
            <a:r>
              <a:t>Tous les findings doivent être examinés et avoir un traitement terminal avant la fermeture. OPEN peut encore exister à Ready-to-close, mais pas à Closed. Plusieurs destinations peuvent être combinées lorsqu'elles sont cohérentes. Une promotion renvoie à une décision ou une règle existante. Un report renvoie à un lot au moins Planned, décidé par l'humain ; un simple nous verrons plus tard ne suffit pas. Une résolution locale explique ce qui a été fait. Un finding rejeté conserve sa raison. Le travail d'un lot ultérieur peut rester à réaliser, mais un écart aux exigences actives du lot courant doit quand même être accepté explicitement.</a:t>
            </a:r>
          </a:p>
          <a:p xmlns:a="http://schemas.openxmlformats.org/drawingml/2006/main">
            <a:r>
              <a:t/>
            </a:r>
          </a:p>
          <a:p xmlns:a="http://schemas.openxmlformats.org/drawingml/2006/main">
            <a:r>
              <a:t>Transition : Faire évoluer une règle du projet</a:t>
            </a:r>
          </a:p>
          <a:p xmlns:a="http://schemas.openxmlformats.org/drawingml/2006/main">
            <a:r>
              <a:t/>
            </a:r>
          </a:p>
          <a:p xmlns:a="http://schemas.openxmlformats.org/drawingml/2006/main">
            <a:r>
              <a:t>Sources</a:t>
            </a:r>
          </a:p>
          <a:p xmlns:a="http://schemas.openxmlformats.org/drawingml/2006/main">
            <a:r>
              <a:t>SAW-FR/SAW-3.2-SPECIFICATION.md §16.3–16.5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37 — Faire évoluer une règle du projet</a:t>
            </a:r>
          </a:p>
          <a:p xmlns:a="http://schemas.openxmlformats.org/drawingml/2006/main">
            <a:r>
              <a:t>Module : Découvertes et changements | Durée indicative : 6 min</a:t>
            </a:r>
          </a:p>
          <a:p xmlns:a="http://schemas.openxmlformats.org/drawingml/2006/main">
            <a:r>
              <a:t>Objectif : Capitaliser une connaissance au bon niveau.</a:t>
            </a:r>
          </a:p>
          <a:p xmlns:a="http://schemas.openxmlformats.org/drawingml/2006/main">
            <a:r>
              <a:t/>
            </a:r>
          </a:p>
          <a:p xmlns:a="http://schemas.openxmlformats.org/drawingml/2006/main">
            <a:r>
              <a:t>Texte à prononcer</a:t>
            </a:r>
          </a:p>
          <a:p xmlns:a="http://schemas.openxmlformats.org/drawingml/2006/main">
            <a:r>
              <a:t>Une découverte locale peut révéler une contrainte durable. L'humain décide alors si elle devient une règle du projet. La décision précise le pourquoi, le champ d'application et les conséquences sur les lots concernés. L'ancienne règle est conservée si elle est remplacée. La nouvelle règle référence la décision. Pour le lot courant, les gates affectées sont réexaminées. Pour un résultat déjà fermé, la nouvelle règle ne réécrit pas l'ancienne convergence et ne déclenche pas une reprise automatique. Si une reprise est nécessaire, elle doit être décidée et documentée. Cette procédure permet d'apprendre sans rendre illisible le contexte des résultats antérieurs.</a:t>
            </a:r>
          </a:p>
          <a:p xmlns:a="http://schemas.openxmlformats.org/drawingml/2006/main">
            <a:r>
              <a:t/>
            </a:r>
          </a:p>
          <a:p xmlns:a="http://schemas.openxmlformats.org/drawingml/2006/main">
            <a:r>
              <a:t>Question</a:t>
            </a:r>
          </a:p>
          <a:p xmlns:a="http://schemas.openxmlformats.org/drawingml/2006/main">
            <a:r>
              <a:t>Une règle nouvelle invalide-t-elle toujours toutes les fermetures antérieures ?</a:t>
            </a:r>
          </a:p>
          <a:p xmlns:a="http://schemas.openxmlformats.org/drawingml/2006/main">
            <a:r>
              <a:t/>
            </a:r>
          </a:p>
          <a:p xmlns:a="http://schemas.openxmlformats.org/drawingml/2006/main">
            <a:r>
              <a:t>Réponse attendue / correction</a:t>
            </a:r>
          </a:p>
          <a:p xmlns:a="http://schemas.openxmlformats.org/drawingml/2006/main">
            <a:r>
              <a:t>Non. Sa portée et les conséquences sur l’existant doivent être examinées et décidées.</a:t>
            </a:r>
          </a:p>
          <a:p xmlns:a="http://schemas.openxmlformats.org/drawingml/2006/main">
            <a:r>
              <a:t/>
            </a:r>
          </a:p>
          <a:p xmlns:a="http://schemas.openxmlformats.org/drawingml/2006/main">
            <a:r>
              <a:t>Transition : Trois types de gates</a:t>
            </a:r>
          </a:p>
          <a:p xmlns:a="http://schemas.openxmlformats.org/drawingml/2006/main">
            <a:r>
              <a:t/>
            </a:r>
          </a:p>
          <a:p xmlns:a="http://schemas.openxmlformats.org/drawingml/2006/main">
            <a:r>
              <a:t>Sources</a:t>
            </a:r>
          </a:p>
          <a:p xmlns:a="http://schemas.openxmlformats.org/drawingml/2006/main">
            <a:r>
              <a:t>SAW-FR/SAW-3.2-SPECIFICATION.md §12.4–12.5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38 — Trois types de gates</a:t>
            </a:r>
          </a:p>
          <a:p xmlns:a="http://schemas.openxmlformats.org/drawingml/2006/main">
            <a:r>
              <a:t>Module : Validation par les gates | Durée indicative : 5 min</a:t>
            </a:r>
          </a:p>
          <a:p xmlns:a="http://schemas.openxmlformats.org/drawingml/2006/main">
            <a:r>
              <a:t>Objectif : Choisir un type selon la preuve attendue.</a:t>
            </a:r>
          </a:p>
          <a:p xmlns:a="http://schemas.openxmlformats.org/drawingml/2006/main">
            <a:r>
              <a:t/>
            </a:r>
          </a:p>
          <a:p xmlns:a="http://schemas.openxmlformats.org/drawingml/2006/main">
            <a:r>
              <a:t>Texte à prononcer</a:t>
            </a:r>
          </a:p>
          <a:p xmlns:a="http://schemas.openxmlformats.org/drawingml/2006/main">
            <a:r>
              <a:t>Le type de gate dépend de la nature du verdict. Une commande de tests produit un verdict AUTO même si l'IA la lance. Une analyse de cohérence par un LLM est de type LLM ; elle doit être justifiée. Une gate HUMAN demande le verdict d'une personne, avec son nom et la date. L'IA ne peut pas le déclarer acquis à sa place. La validation métier est humaine, sauf décision humaine démontrant l'absence d'impact métier. Les trois types ne représentent pas trois degrés de valeur : ils apportent des preuves différentes. Le lot 003 combine une gate automatique et une gate humaine.</a:t>
            </a:r>
          </a:p>
          <a:p xmlns:a="http://schemas.openxmlformats.org/drawingml/2006/main">
            <a:r>
              <a:t/>
            </a:r>
          </a:p>
          <a:p xmlns:a="http://schemas.openxmlformats.org/drawingml/2006/main">
            <a:r>
              <a:t>Transition : Quatre verdicts possibles</a:t>
            </a:r>
          </a:p>
          <a:p xmlns:a="http://schemas.openxmlformats.org/drawingml/2006/main">
            <a:r>
              <a:t/>
            </a:r>
          </a:p>
          <a:p xmlns:a="http://schemas.openxmlformats.org/drawingml/2006/main">
            <a:r>
              <a:t>Sources</a:t>
            </a:r>
          </a:p>
          <a:p xmlns:a="http://schemas.openxmlformats.org/drawingml/2006/main">
            <a:r>
              <a:t>SAW-FR/SAW-3.2-SPECIFICATION.md §17.3–17.7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39 — Quatre verdicts possibles</a:t>
            </a:r>
          </a:p>
          <a:p xmlns:a="http://schemas.openxmlformats.org/drawingml/2006/main">
            <a:r>
              <a:t>Module : Validation par les gates | Durée indicative : 5 min</a:t>
            </a:r>
          </a:p>
          <a:p xmlns:a="http://schemas.openxmlformats.org/drawingml/2006/main">
            <a:r>
              <a:t>Objectif : Lire correctement le statut des gates.</a:t>
            </a:r>
          </a:p>
          <a:p xmlns:a="http://schemas.openxmlformats.org/drawingml/2006/main">
            <a:r>
              <a:t/>
            </a:r>
          </a:p>
          <a:p xmlns:a="http://schemas.openxmlformats.org/drawingml/2006/main">
            <a:r>
              <a:t>Texte à prononcer</a:t>
            </a:r>
          </a:p>
          <a:p xmlns:a="http://schemas.openxmlformats.org/drawingml/2006/main">
            <a:r>
              <a:t>Les verdicts sont distincts des types. Une gate peut être AUTO et TO TEST, ou HUMAN et PASS. N/A ne signifie pas test ignoré : il faut une décision humaine inscrite au ledger, avec sa raison et ses conditions. La gate N/A reste active ; une gate obsolète est exclue du verdict courant et conservée pour l'histoire. Une gate active FAIL ou TO TEST interdit la fermeture. Nous vérifierons aussi que les conditions d'une décision N/A sont toujours remplies. Lorsque le contexte change, l'ancienne autorisation de non-applicabilité peut cesser d'être valable. Le verdict doit donc être examiné avec sa définition et le résultat concerné.</a:t>
            </a:r>
          </a:p>
          <a:p xmlns:a="http://schemas.openxmlformats.org/drawingml/2006/main">
            <a:r>
              <a:t/>
            </a:r>
          </a:p>
          <a:p xmlns:a="http://schemas.openxmlformats.org/drawingml/2006/main">
            <a:r>
              <a:t>Transition : AUTO • construire et tester</a:t>
            </a:r>
          </a:p>
          <a:p xmlns:a="http://schemas.openxmlformats.org/drawingml/2006/main">
            <a:r>
              <a:t/>
            </a:r>
          </a:p>
          <a:p xmlns:a="http://schemas.openxmlformats.org/drawingml/2006/main">
            <a:r>
              <a:t>Sources</a:t>
            </a:r>
          </a:p>
          <a:p xmlns:a="http://schemas.openxmlformats.org/drawingml/2006/main">
            <a:r>
              <a:t>SAW-FR/SAW-3.2-SPECIFICATION.md §17.4, §17.9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40 — AUTO • construire et tester</a:t>
            </a:r>
          </a:p>
          <a:p xmlns:a="http://schemas.openxmlformats.org/drawingml/2006/main">
            <a:r>
              <a:t>Module : Validation par les gates | Durée indicative : 5 min</a:t>
            </a:r>
          </a:p>
          <a:p xmlns:a="http://schemas.openxmlformats.org/drawingml/2006/main">
            <a:r>
              <a:t>Objectif : Relier une commande déterministe à une preuve conservée.</a:t>
            </a:r>
          </a:p>
          <a:p xmlns:a="http://schemas.openxmlformats.org/drawingml/2006/main">
            <a:r>
              <a:t/>
            </a:r>
          </a:p>
          <a:p xmlns:a="http://schemas.openxmlformats.org/drawingml/2006/main">
            <a:r>
              <a:t>Texte à prononcer</a:t>
            </a:r>
          </a:p>
          <a:p xmlns:a="http://schemas.openxmlformats.org/drawingml/2006/main">
            <a:r>
              <a:t>La gate automatique de LOT-003 vérifie la compilation et les tests déterministes de plateforme, notamment Copy sans collage et Replace refusant une cible invalide. Dans ce projet, toutes les commandes dotnet build et dotnet test comportent explicitement -m:1. Le README ajoute les précautions propres à l'environnement restreint. Nous lisons ici des preuves historiques ; nous ne reconstruisons pas aujourd'hui l'ancien candidat. Le fichier indique un build sans avertissement ni erreur et quatorze cas de plateforme réussis sur le candidat retenu. La présence de ces résultats ne prouve pas que toutes les interactions Windows ont été validées : c'est le rôle du parcours humain complémentaire.</a:t>
            </a:r>
          </a:p>
          <a:p xmlns:a="http://schemas.openxmlformats.org/drawingml/2006/main">
            <a:r>
              <a:t/>
            </a:r>
          </a:p>
          <a:p xmlns:a="http://schemas.openxmlformats.org/drawingml/2006/main">
            <a:r>
              <a:t>Démonstration / animation</a:t>
            </a:r>
          </a:p>
          <a:p xmlns:a="http://schemas.openxmlformats.org/drawingml/2006/main">
            <a:r>
              <a:t>Lire G-003-001 et son Test history. Ne pas relancer la compilation de TextAid pendant cette démonstration documentaire.</a:t>
            </a:r>
          </a:p>
          <a:p xmlns:a="http://schemas.openxmlformats.org/drawingml/2006/main">
            <a:r>
              <a:t/>
            </a:r>
          </a:p>
          <a:p xmlns:a="http://schemas.openxmlformats.org/drawingml/2006/main">
            <a:r>
              <a:t>Transition : LLM • une analyse justifiée</a:t>
            </a:r>
          </a:p>
          <a:p xmlns:a="http://schemas.openxmlformats.org/drawingml/2006/main">
            <a:r>
              <a:t/>
            </a:r>
          </a:p>
          <a:p xmlns:a="http://schemas.openxmlformats.org/drawingml/2006/main">
            <a:r>
              <a:t>Sources</a:t>
            </a:r>
          </a:p>
          <a:p xmlns:a="http://schemas.openxmlformats.org/drawingml/2006/main">
            <a:r>
              <a:t>Ressources/TextAid/Specs/003-safe-accept/GATES-003.md ; 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41 — LLM • une analyse justifiée</a:t>
            </a:r>
          </a:p>
          <a:p xmlns:a="http://schemas.openxmlformats.org/drawingml/2006/main">
            <a:r>
              <a:t>Module : Validation par les gates | Durée indicative : 5 min</a:t>
            </a:r>
          </a:p>
          <a:p xmlns:a="http://schemas.openxmlformats.org/drawingml/2006/main">
            <a:r>
              <a:t>Objectif : Rendre une évaluation sémantique contrôlable.</a:t>
            </a:r>
          </a:p>
          <a:p xmlns:a="http://schemas.openxmlformats.org/drawingml/2006/main">
            <a:r>
              <a:t/>
            </a:r>
          </a:p>
          <a:p xmlns:a="http://schemas.openxmlformats.org/drawingml/2006/main">
            <a:r>
              <a:t>Texte à prononcer</a:t>
            </a:r>
          </a:p>
          <a:p xmlns:a="http://schemas.openxmlformats.org/drawingml/2006/main">
            <a:r>
              <a:t>Voici un exemple de gate LLM pour notre mini-lot Copy. Nous pouvons demander une revue sémantique des exigences et des gates : le périmètre est-il cohérent, les chemins d'échec importants ont-ils une condition de validation et des contradictions subsistent-elles ? L'évaluation indique le résultat documentaire examiné et justifie sa conclusion avec des références. Cet exemple est pédagogique ; il n'est pas une gate historique ajoutée à TextAid. La réponse du LLM ne remplace ni les tests déterministes ni le verdict humain sur le comportement métier. Si l'analyse découvre un manque, celui-ci est consigné puis traité selon qu'il appelle une correction ou une évolution de l'intention.</a:t>
            </a:r>
          </a:p>
          <a:p xmlns:a="http://schemas.openxmlformats.org/drawingml/2006/main">
            <a:r>
              <a:t/>
            </a:r>
          </a:p>
          <a:p xmlns:a="http://schemas.openxmlformats.org/drawingml/2006/main">
            <a:r>
              <a:t>Question</a:t>
            </a:r>
          </a:p>
          <a:p xmlns:a="http://schemas.openxmlformats.org/drawingml/2006/main">
            <a:r>
              <a:t>« Tout semble cohérent » constitue-t-il une évaluation suffisante ?</a:t>
            </a:r>
          </a:p>
          <a:p xmlns:a="http://schemas.openxmlformats.org/drawingml/2006/main">
            <a:r>
              <a:t/>
            </a:r>
          </a:p>
          <a:p xmlns:a="http://schemas.openxmlformats.org/drawingml/2006/main">
            <a:r>
              <a:t>Réponse attendue / correction</a:t>
            </a:r>
          </a:p>
          <a:p xmlns:a="http://schemas.openxmlformats.org/drawingml/2006/main">
            <a:r>
              <a:t>Non. Il faut savoir ce qui a été examiné et la justification du verdict.</a:t>
            </a:r>
          </a:p>
          <a:p xmlns:a="http://schemas.openxmlformats.org/drawingml/2006/main">
            <a:r>
              <a:t/>
            </a:r>
          </a:p>
          <a:p xmlns:a="http://schemas.openxmlformats.org/drawingml/2006/main">
            <a:r>
              <a:t>Transition : HUMAN • un parcours réellement validé</a:t>
            </a:r>
          </a:p>
          <a:p xmlns:a="http://schemas.openxmlformats.org/drawingml/2006/main">
            <a:r>
              <a:t/>
            </a:r>
          </a:p>
          <a:p xmlns:a="http://schemas.openxmlformats.org/drawingml/2006/main">
            <a:r>
              <a:t>Sources</a:t>
            </a:r>
          </a:p>
          <a:p xmlns:a="http://schemas.openxmlformats.org/drawingml/2006/main">
            <a:r>
              <a:t>SAW-FR/SAW-3.2-SPECIFICATION.md §17.6 ; exemple pédagogique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42 — HUMAN • un parcours réellement validé</a:t>
            </a:r>
          </a:p>
          <a:p xmlns:a="http://schemas.openxmlformats.org/drawingml/2006/main">
            <a:r>
              <a:t>Module : Validation par les gates | Durée indicative : 5 min</a:t>
            </a:r>
          </a:p>
          <a:p xmlns:a="http://schemas.openxmlformats.org/drawingml/2006/main">
            <a:r>
              <a:t>Objectif : Distinguer retour partiel et validation complète.</a:t>
            </a:r>
          </a:p>
          <a:p xmlns:a="http://schemas.openxmlformats.org/drawingml/2006/main">
            <a:r>
              <a:t/>
            </a:r>
          </a:p>
          <a:p xmlns:a="http://schemas.openxmlformats.org/drawingml/2006/main">
            <a:r>
              <a:t>Texte à prononcer</a:t>
            </a:r>
          </a:p>
          <a:p xmlns:a="http://schemas.openxmlformats.org/drawingml/2006/main">
            <a:r>
              <a:t>La gate humaine de LOT-003 décrit un parcours complet sur Windows. Olivier vérifie Replace dans les applications prévues, Copy sans modification de la source, les chemins d'annulation et les échecs contrôlés. La nouvelle disposition doit aussi être lisible et redimensionnable. Les premières validations ne couvrent qu'une partie du parcours ; la gate reste TO TEST. Le PASS final identifie Olivier, la date et le candidat. Cela évite de transformer une phrase comme le remplacement fonctionne dans deux applications en une approbation de tous les critères. L'IA peut préparer le parcours et enregistrer le retour humain, mais elle ne signe pas le verdict à sa place.</a:t>
            </a:r>
          </a:p>
          <a:p xmlns:a="http://schemas.openxmlformats.org/drawingml/2006/main">
            <a:r>
              <a:t/>
            </a:r>
          </a:p>
          <a:p xmlns:a="http://schemas.openxmlformats.org/drawingml/2006/main">
            <a:r>
              <a:t>Démonstration / animation</a:t>
            </a:r>
          </a:p>
          <a:p xmlns:a="http://schemas.openxmlformats.org/drawingml/2006/main">
            <a:r>
              <a:t>Lire les validations partielles puis le commentaire final de G-003-002.</a:t>
            </a:r>
          </a:p>
          <a:p xmlns:a="http://schemas.openxmlformats.org/drawingml/2006/main">
            <a:r>
              <a:t/>
            </a:r>
          </a:p>
          <a:p xmlns:a="http://schemas.openxmlformats.org/drawingml/2006/main">
            <a:r>
              <a:t>Transition : Après modification, réexaminer les PASS</a:t>
            </a:r>
          </a:p>
          <a:p xmlns:a="http://schemas.openxmlformats.org/drawingml/2006/main">
            <a:r>
              <a:t/>
            </a:r>
          </a:p>
          <a:p xmlns:a="http://schemas.openxmlformats.org/drawingml/2006/main">
            <a:r>
              <a:t>Sources</a:t>
            </a:r>
          </a:p>
          <a:p xmlns:a="http://schemas.openxmlformats.org/drawingml/2006/main">
            <a:r>
              <a:t>Ressources/TextAid/Specs/003-safe-accept/GATES-003.md, G-003-002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43 — Après modification, réexaminer les PASS</a:t>
            </a:r>
          </a:p>
          <a:p xmlns:a="http://schemas.openxmlformats.org/drawingml/2006/main">
            <a:r>
              <a:t>Module : Validation par les gates | Durée indicative : 5 min</a:t>
            </a:r>
          </a:p>
          <a:p xmlns:a="http://schemas.openxmlformats.org/drawingml/2006/main">
            <a:r>
              <a:t>Objectif : Protéger la validité des preuves après un changement.</a:t>
            </a:r>
          </a:p>
          <a:p xmlns:a="http://schemas.openxmlformats.org/drawingml/2006/main">
            <a:r>
              <a:t/>
            </a:r>
          </a:p>
          <a:p xmlns:a="http://schemas.openxmlformats.org/drawingml/2006/main">
            <a:r>
              <a:t>Texte à prononcer</a:t>
            </a:r>
          </a:p>
          <a:p xmlns:a="http://schemas.openxmlformats.org/drawingml/2006/main">
            <a:r>
              <a:t>Un PASS n'est pas détachable du résultat qu'il a évalué. Une correction du code, une évolution d'exigence ou une règle nouvelle peuvent le rendre inapplicable. L'examen d'impact est consigné brièvement dans GATES, directement ou par renvoi. Les évaluations antérieures sont conservées dans Test history avant une nouvelle évaluation. Une gate affectée revient à TO TEST. Si l'impact est indéterminé, les gates actives applicables doivent être réévaluées, à l'exception des N/A dont les décisions restent valables. Le maintien d'un PASS est justifié. Si une gate HUMAN est affectée, sa validation doit être obtenue à nouveau auprès d'un humain.</a:t>
            </a:r>
          </a:p>
          <a:p xmlns:a="http://schemas.openxmlformats.org/drawingml/2006/main">
            <a:r>
              <a:t/>
            </a:r>
          </a:p>
          <a:p xmlns:a="http://schemas.openxmlformats.org/drawingml/2006/main">
            <a:r>
              <a:t>Transition : Atelier 3 • quelles validations refaire ?</a:t>
            </a:r>
          </a:p>
          <a:p xmlns:a="http://schemas.openxmlformats.org/drawingml/2006/main">
            <a:r>
              <a:t/>
            </a:r>
          </a:p>
          <a:p xmlns:a="http://schemas.openxmlformats.org/drawingml/2006/main">
            <a:r>
              <a:t>Sources</a:t>
            </a:r>
          </a:p>
          <a:p xmlns:a="http://schemas.openxmlformats.org/drawingml/2006/main">
            <a:r>
              <a:t>SAW-FR/SAW-3.2-SPECIFICATION.md §17.8–17.11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44 — Atelier 3 • quelles validations refaire ?</a:t>
            </a:r>
          </a:p>
          <a:p xmlns:a="http://schemas.openxmlformats.org/drawingml/2006/main">
            <a:r>
              <a:t>Module : Validation par les gates | Durée indicative : 10 min</a:t>
            </a:r>
          </a:p>
          <a:p xmlns:a="http://schemas.openxmlformats.org/drawingml/2006/main">
            <a:r>
              <a:t>Objectif : Décider d’une revalidation en conservant les preuves.</a:t>
            </a:r>
          </a:p>
          <a:p xmlns:a="http://schemas.openxmlformats.org/drawingml/2006/main">
            <a:r>
              <a:t/>
            </a:r>
          </a:p>
          <a:p xmlns:a="http://schemas.openxmlformats.org/drawingml/2006/main">
            <a:r>
              <a:t>Texte à prononcer</a:t>
            </a:r>
          </a:p>
          <a:p xmlns:a="http://schemas.openxmlformats.org/drawingml/2006/main">
            <a:r>
              <a:t>Travaillez à partir de la fiche Atelier 3, qui décrit un scénario pédagogique. Pendant cinq minutes, indiquez les informations à conserver et les validations à refaire. Vous avez un candidat A validé et une correction du collage qui produit B. Peut-on conserver le verdict humain sans nouveau test ? Que faut-il écrire si l'impact sur Copy est démontré absent ? Si vous manquez d'informations, indiquez-le : l'incertitude impose une réévaluation plus large. Pendant la correction, relions vos réponses à la règle de validité et à l'identification du résultat. Le bon raisonnement porte sur les conditions examinées, pas seulement sur le nom des fichiers modifiés.</a:t>
            </a:r>
          </a:p>
          <a:p xmlns:a="http://schemas.openxmlformats.org/drawingml/2006/main">
            <a:r>
              <a:t/>
            </a:r>
          </a:p>
          <a:p xmlns:a="http://schemas.openxmlformats.org/drawingml/2006/main">
            <a:r>
              <a:t>Démonstration / animation</a:t>
            </a:r>
          </a:p>
          <a:p xmlns:a="http://schemas.openxmlformats.org/drawingml/2006/main">
            <a:r>
              <a:t>Ressources/Ateliers/ATELIER-03.md. 5 min en binômes et 5 min de correction.</a:t>
            </a:r>
          </a:p>
          <a:p xmlns:a="http://schemas.openxmlformats.org/drawingml/2006/main">
            <a:r>
              <a:t/>
            </a:r>
          </a:p>
          <a:p xmlns:a="http://schemas.openxmlformats.org/drawingml/2006/main">
            <a:r>
              <a:t>Réponse attendue / correction</a:t>
            </a:r>
          </a:p>
          <a:p xmlns:a="http://schemas.openxmlformats.org/drawingml/2006/main">
            <a:r>
              <a:t>Conserver A et ses verdicts dans Test history ; identifier B ; consigner l’impact ; AUTO couvrant le collage et HUMAN du parcours Replace reviennent à TO TEST. Justifier tout PASS maintenu. Si l’impact reste indéterminé, réévaluer toutes les gates actives applicables.</a:t>
            </a:r>
          </a:p>
          <a:p xmlns:a="http://schemas.openxmlformats.org/drawingml/2006/main">
            <a:r>
              <a:t/>
            </a:r>
          </a:p>
          <a:p xmlns:a="http://schemas.openxmlformats.org/drawingml/2006/main">
            <a:r>
              <a:t>Transition : Préparer la fermeture</a:t>
            </a:r>
          </a:p>
          <a:p xmlns:a="http://schemas.openxmlformats.org/drawingml/2006/main">
            <a:r>
              <a:t/>
            </a:r>
          </a:p>
          <a:p xmlns:a="http://schemas.openxmlformats.org/drawingml/2006/main">
            <a:r>
              <a:t>Sources</a:t>
            </a:r>
          </a:p>
          <a:p xmlns:a="http://schemas.openxmlformats.org/drawingml/2006/main">
            <a:r>
              <a:t>Exercice pédagogique ; spécification SAW §17.10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45 — Préparer la fermeture</a:t>
            </a:r>
          </a:p>
          <a:p xmlns:a="http://schemas.openxmlformats.org/drawingml/2006/main">
            <a:r>
              <a:t>Module : Convergence et fermeture | Durée indicative : 5 min</a:t>
            </a:r>
          </a:p>
          <a:p xmlns:a="http://schemas.openxmlformats.org/drawingml/2006/main">
            <a:r>
              <a:t>Objectif : Distinguer readiness et conditions complètes de fermeture.</a:t>
            </a:r>
          </a:p>
          <a:p xmlns:a="http://schemas.openxmlformats.org/drawingml/2006/main">
            <a:r>
              <a:t/>
            </a:r>
          </a:p>
          <a:p xmlns:a="http://schemas.openxmlformats.org/drawingml/2006/main">
            <a:r>
              <a:t>Texte à prononcer</a:t>
            </a:r>
          </a:p>
          <a:p xmlns:a="http://schemas.openxmlformats.org/drawingml/2006/main">
            <a:r>
              <a:t>La fermeture demande davantage qu'un résultat qui semble fonctionner. Il faut identifier ce qui est présenté, vérifier les gates et examiner toutes les exigences actives. Un finding ne peut rester OPEN à Closed. Les écarts sont corrigés ou soumis à l'acceptation humaine requise. Ready-to-close signifie que le travail est terminé avec des gates actives PASS encore valables ou N/A autorisées ; cet état peut précéder le traitement final de tous les findings, mais la fermeture ne le peut pas. La préparation rassemble les éléments permettant à l'humain de décider. Elle ne transforme pas automatiquement la fin de l'exécution en un résultat accepté.</a:t>
            </a:r>
          </a:p>
          <a:p xmlns:a="http://schemas.openxmlformats.org/drawingml/2006/main">
            <a:r>
              <a:t/>
            </a:r>
          </a:p>
          <a:p xmlns:a="http://schemas.openxmlformats.org/drawingml/2006/main">
            <a:r>
              <a:t>Transition : Le prompt de fermeture</a:t>
            </a:r>
          </a:p>
          <a:p xmlns:a="http://schemas.openxmlformats.org/drawingml/2006/main">
            <a:r>
              <a:t/>
            </a:r>
          </a:p>
          <a:p xmlns:a="http://schemas.openxmlformats.org/drawingml/2006/main">
            <a:r>
              <a:t>Sources</a:t>
            </a:r>
          </a:p>
          <a:p xmlns:a="http://schemas.openxmlformats.org/drawingml/2006/main">
            <a:r>
              <a:t>SAW-FR/SAW-3.2-SPECIFICATION.md §16.5, §18, §22–24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46 — Le prompt de fermeture</a:t>
            </a:r>
          </a:p>
          <a:p xmlns:a="http://schemas.openxmlformats.org/drawingml/2006/main">
            <a:r>
              <a:t>Module : Convergence et fermeture | Durée indicative : 5 min</a:t>
            </a:r>
          </a:p>
          <a:p xmlns:a="http://schemas.openxmlformats.org/drawingml/2006/main">
            <a:r>
              <a:t>Objectif : Piloter la fermeture sans réciter sa procédure.</a:t>
            </a:r>
          </a:p>
          <a:p xmlns:a="http://schemas.openxmlformats.org/drawingml/2006/main">
            <a:r>
              <a:t/>
            </a:r>
          </a:p>
          <a:p xmlns:a="http://schemas.openxmlformats.org/drawingml/2006/main">
            <a:r>
              <a:t>Texte à prononcer</a:t>
            </a:r>
          </a:p>
          <a:p xmlns:a="http://schemas.openxmlformats.org/drawingml/2006/main">
            <a:r>
              <a:t>Le deuxième prompt suffit à déclencher la procédure : Ferme le lot en cours. L'IA vérifie les conditions de fermeture, prépare la convergence et sollicite les décisions ou validations encore manquantes. Si le résultat et la fermeture ont déjà reçu une acceptation humaine explicite suffisante, elle applique cette décision sans demander de la confirmer encore. En revanche, elle ne suppose pas qu'une gate HUMAN a été validée, ni qu'un écart a été accepté. Le prompt ne neutralise pas une gate active FAIL ou TO TEST. Sa brièveté montre que l'application du protocole est déléguée ; l'examen du résultat et les arbitrages humains restent explicites.</a:t>
            </a:r>
          </a:p>
          <a:p xmlns:a="http://schemas.openxmlformats.org/drawingml/2006/main">
            <a:r>
              <a:t/>
            </a:r>
          </a:p>
          <a:p xmlns:a="http://schemas.openxmlformats.org/drawingml/2006/main">
            <a:r>
              <a:t>Démonstration / animation</a:t>
            </a:r>
          </a:p>
          <a:p xmlns:a="http://schemas.openxmlformats.org/drawingml/2006/main">
            <a:r>
              <a:t>Mettre en scène le prompt et la réponse attendue sur un dossier pédagogique prêt à fermer, sans modifier TextAid.</a:t>
            </a:r>
          </a:p>
          <a:p xmlns:a="http://schemas.openxmlformats.org/drawingml/2006/main">
            <a:r>
              <a:t/>
            </a:r>
          </a:p>
          <a:p xmlns:a="http://schemas.openxmlformats.org/drawingml/2006/main">
            <a:r>
              <a:t>Transition : CONVERGENCE compare intention et résultat</a:t>
            </a:r>
          </a:p>
          <a:p xmlns:a="http://schemas.openxmlformats.org/drawingml/2006/main">
            <a:r>
              <a:t/>
            </a:r>
          </a:p>
          <a:p xmlns:a="http://schemas.openxmlformats.org/drawingml/2006/main">
            <a:r>
              <a:t>Sources</a:t>
            </a:r>
          </a:p>
          <a:p xmlns:a="http://schemas.openxmlformats.org/drawingml/2006/main">
            <a:r>
              <a:t>Prompt fourni par Olivier Dahan ; spécification SAW §22–25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47 — CONVERGENCE compare intention et résultat</a:t>
            </a:r>
          </a:p>
          <a:p xmlns:a="http://schemas.openxmlformats.org/drawingml/2006/main">
            <a:r>
              <a:t>Module : Convergence et fermeture | Durée indicative : 6 min</a:t>
            </a:r>
          </a:p>
          <a:p xmlns:a="http://schemas.openxmlformats.org/drawingml/2006/main">
            <a:r>
              <a:t>Objectif : Rédiger une synthèse de fermeture contrôlable.</a:t>
            </a:r>
          </a:p>
          <a:p xmlns:a="http://schemas.openxmlformats.org/drawingml/2006/main">
            <a:r>
              <a:t/>
            </a:r>
          </a:p>
          <a:p xmlns:a="http://schemas.openxmlformats.org/drawingml/2006/main">
            <a:r>
              <a:t>Texte à prononcer</a:t>
            </a:r>
          </a:p>
          <a:p xmlns:a="http://schemas.openxmlformats.org/drawingml/2006/main">
            <a:r>
              <a:t>La convergence établit le rapport entre ce qui était demandé et ce qui a été obtenu. Elle ne recopie pas toute la SPEC, les findings ou les gates. Chaque exigence active doit être couverte par une conclusion, individuellement ou dans un groupe cohérent. Le résultat accepté doit pouvoir être rapproché des résultats évalués. Les éléments essentiels des gates et les destinations des findings sont résumés. Le travail résiduel reste visible. La date et le nom de l'humain attestent la fermeture. Dans LOT-003, la convergence détaille les six exigences et explique la résolution locale des quatre findings. Nous pouvons contrôler cette synthèse en suivant ses références.</a:t>
            </a:r>
          </a:p>
          <a:p xmlns:a="http://schemas.openxmlformats.org/drawingml/2006/main">
            <a:r>
              <a:t/>
            </a:r>
          </a:p>
          <a:p xmlns:a="http://schemas.openxmlformats.org/drawingml/2006/main">
            <a:r>
              <a:t>Démonstration / animation</a:t>
            </a:r>
          </a:p>
          <a:p xmlns:a="http://schemas.openxmlformats.org/drawingml/2006/main">
            <a:r>
              <a:t>Lire Result obtained, Differences et Findings disposition de CONVERGENCE-003.md.</a:t>
            </a:r>
          </a:p>
          <a:p xmlns:a="http://schemas.openxmlformats.org/drawingml/2006/main">
            <a:r>
              <a:t/>
            </a:r>
          </a:p>
          <a:p xmlns:a="http://schemas.openxmlformats.org/drawingml/2006/main">
            <a:r>
              <a:t>Transition : TOTAL et PARTIAL</a:t>
            </a:r>
          </a:p>
          <a:p xmlns:a="http://schemas.openxmlformats.org/drawingml/2006/main">
            <a:r>
              <a:t/>
            </a:r>
          </a:p>
          <a:p xmlns:a="http://schemas.openxmlformats.org/drawingml/2006/main">
            <a:r>
              <a:t>Sources</a:t>
            </a:r>
          </a:p>
          <a:p xmlns:a="http://schemas.openxmlformats.org/drawingml/2006/main">
            <a:r>
              <a:t>SAW-FR/SAW-3.2-SPECIFICATION.md §18.1–18.2 ; Ressources/TextAid/Specs/003-safe-accept/CONVERGENCE-003.md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48 — TOTAL et PARTIAL</a:t>
            </a:r>
          </a:p>
          <a:p xmlns:a="http://schemas.openxmlformats.org/drawingml/2006/main">
            <a:r>
              <a:t>Module : Convergence et fermeture | Durée indicative : 5 min</a:t>
            </a:r>
          </a:p>
          <a:p xmlns:a="http://schemas.openxmlformats.org/drawingml/2006/main">
            <a:r>
              <a:t>Objectif : Distinguer écart accepté et validation manquante.</a:t>
            </a:r>
          </a:p>
          <a:p xmlns:a="http://schemas.openxmlformats.org/drawingml/2006/main">
            <a:r>
              <a:t/>
            </a:r>
          </a:p>
          <a:p xmlns:a="http://schemas.openxmlformats.org/drawingml/2006/main">
            <a:r>
              <a:t>Texte à prononcer</a:t>
            </a:r>
          </a:p>
          <a:p xmlns:a="http://schemas.openxmlformats.org/drawingml/2006/main">
            <a:r>
              <a:t>Le niveau de convergence qualifie les exigences actives. TOTAL indique qu'elles sont satisfaites. PARTIAL indique qu'au moins un écart a été accepté par l'humain. Cette acceptation est une décision du ledger, avec sa raison, sa date et son auteur. PARTIAL n'est pas un moyen de fermer malgré une gate active en échec ou non testée. Une non-applicabilité de gate doit suivre son propre circuit de décision. Une fermeture totale ordinaire n'exige pas une entrée de fermeture dans le ledger : l'acceptation reste documentée dans la convergence. Les cas exceptionnels, dont N/A et les écarts acceptés, nécessitent les décisions appropriées.</a:t>
            </a:r>
          </a:p>
          <a:p xmlns:a="http://schemas.openxmlformats.org/drawingml/2006/main">
            <a:r>
              <a:t/>
            </a:r>
          </a:p>
          <a:p xmlns:a="http://schemas.openxmlformats.org/drawingml/2006/main">
            <a:r>
              <a:t>Transition : Cas réel • la fermeture partielle de LOT-010</a:t>
            </a:r>
          </a:p>
          <a:p xmlns:a="http://schemas.openxmlformats.org/drawingml/2006/main">
            <a:r>
              <a:t/>
            </a:r>
          </a:p>
          <a:p xmlns:a="http://schemas.openxmlformats.org/drawingml/2006/main">
            <a:r>
              <a:t>Sources</a:t>
            </a:r>
          </a:p>
          <a:p xmlns:a="http://schemas.openxmlformats.org/drawingml/2006/main">
            <a:r>
              <a:t>SAW-FR/SAW-3.2-SPECIFICATION.md §18.3–18.4, §17.9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49 — Cas réel • la fermeture partielle de LOT-010</a:t>
            </a:r>
          </a:p>
          <a:p xmlns:a="http://schemas.openxmlformats.org/drawingml/2006/main">
            <a:r>
              <a:t>Module : Convergence et fermeture | Durée indicative : 7 min</a:t>
            </a:r>
          </a:p>
          <a:p xmlns:a="http://schemas.openxmlformats.org/drawingml/2006/main">
            <a:r>
              <a:t>Objectif : Comprendre une exception réelle sans masquer les limites.</a:t>
            </a:r>
          </a:p>
          <a:p xmlns:a="http://schemas.openxmlformats.org/drawingml/2006/main">
            <a:r>
              <a:t/>
            </a:r>
          </a:p>
          <a:p xmlns:a="http://schemas.openxmlformats.org/drawingml/2006/main">
            <a:r>
              <a:t>Texte à prononcer</a:t>
            </a:r>
          </a:p>
          <a:p xmlns:a="http://schemas.openxmlformats.org/drawingml/2006/main">
            <a:r>
              <a:t>La qualification de TextAid ne dispose pas de tous les environnements de contrôle souhaités. Les tests VS Code et les contrôles de DPI et de multi-écran restent non réalisés. Olivier décide, dans D-041, leur non-applicabilité pour cette fermeture sur le candidat identifié. Le fichier de convergence indique PARTIAL et conserve les contrôles à effectuer ultérieurement. Ils ne sont pas représentés comme réussis. Nous lisons ensemble la décision, la gate et la convergence pour distinguer les preuves obtenues des limites acceptées. Cette exception s'applique dans ses conditions documentées ; elle ne permet pas d'affirmer une compatibilité générale ni de réutiliser automatiquement N/A sur un résultat ultérieur.</a:t>
            </a:r>
          </a:p>
          <a:p xmlns:a="http://schemas.openxmlformats.org/drawingml/2006/main">
            <a:r>
              <a:t/>
            </a:r>
          </a:p>
          <a:p xmlns:a="http://schemas.openxmlformats.org/drawingml/2006/main">
            <a:r>
              <a:t>Démonstration / animation</a:t>
            </a:r>
          </a:p>
          <a:p xmlns:a="http://schemas.openxmlformats.org/drawingml/2006/main">
            <a:r>
              <a:t>Lire D-041, G-010-002 et Residual work de CONVERGENCE-010.md.</a:t>
            </a:r>
          </a:p>
          <a:p xmlns:a="http://schemas.openxmlformats.org/drawingml/2006/main">
            <a:r>
              <a:t/>
            </a:r>
          </a:p>
          <a:p xmlns:a="http://schemas.openxmlformats.org/drawingml/2006/main">
            <a:r>
              <a:t>Transition : Refuser une fermeture impossible</a:t>
            </a:r>
          </a:p>
          <a:p xmlns:a="http://schemas.openxmlformats.org/drawingml/2006/main">
            <a:r>
              <a:t/>
            </a:r>
          </a:p>
          <a:p xmlns:a="http://schemas.openxmlformats.org/drawingml/2006/main">
            <a:r>
              <a:t>Sources</a:t>
            </a:r>
          </a:p>
          <a:p xmlns:a="http://schemas.openxmlformats.org/drawingml/2006/main">
            <a:r>
              <a:t>Ressources/TextAid/LEDGER.md, D-041 ; Ressources/TextAid/Specs/010-hardening/GATES-010.md ; CONVERGENCE-010.md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50 — Refuser une fermeture impossible</a:t>
            </a:r>
          </a:p>
          <a:p xmlns:a="http://schemas.openxmlformats.org/drawingml/2006/main">
            <a:r>
              <a:t>Module : Convergence et fermeture | Durée indicative : 6 min</a:t>
            </a:r>
          </a:p>
          <a:p xmlns:a="http://schemas.openxmlformats.org/drawingml/2006/main">
            <a:r>
              <a:t>Objectif : Savoir motiver un refus et reprendre le travail.</a:t>
            </a:r>
          </a:p>
          <a:p xmlns:a="http://schemas.openxmlformats.org/drawingml/2006/main">
            <a:r>
              <a:t/>
            </a:r>
          </a:p>
          <a:p xmlns:a="http://schemas.openxmlformats.org/drawingml/2006/main">
            <a:r>
              <a:t>Texte à prononcer</a:t>
            </a:r>
          </a:p>
          <a:p xmlns:a="http://schemas.openxmlformats.org/drawingml/2006/main">
            <a:r>
              <a:t>Un refus de fermeture protège le sens des documents. Il peut être motivé par une gate non satisfaite, une validation devenue invalide, un résultat insuffisamment identifié ou un finding encore ouvert. Une acceptation d'écart ne doit pas servir à ignorer ces conditions. L'IA explique la cause et prépare les actions nécessaires. Si le lot était Ready-to-close, il revient à In-progress. Une correction qui révèle une impossibilité d'exécution peut ensuite conduire à Blocked. Nous conservons les preuves et les décisions antérieures. Le refus porte sur la situation actuelle ; il ne réécrit pas l'histoire pour rendre le dossier apparemment conforme.</a:t>
            </a:r>
          </a:p>
          <a:p xmlns:a="http://schemas.openxmlformats.org/drawingml/2006/main">
            <a:r>
              <a:t/>
            </a:r>
          </a:p>
          <a:p xmlns:a="http://schemas.openxmlformats.org/drawingml/2006/main">
            <a:r>
              <a:t>Question</a:t>
            </a:r>
          </a:p>
          <a:p xmlns:a="http://schemas.openxmlformats.org/drawingml/2006/main">
            <a:r>
              <a:t>Toutes les gates sont PASS, mais un finding n’a aucune destination : fermer ?</a:t>
            </a:r>
          </a:p>
          <a:p xmlns:a="http://schemas.openxmlformats.org/drawingml/2006/main">
            <a:r>
              <a:t/>
            </a:r>
          </a:p>
          <a:p xmlns:a="http://schemas.openxmlformats.org/drawingml/2006/main">
            <a:r>
              <a:t>Réponse attendue / correction</a:t>
            </a:r>
          </a:p>
          <a:p xmlns:a="http://schemas.openxmlformats.org/drawingml/2006/main">
            <a:r>
              <a:t>Non. Le traitement terminal du finding doit être achevé avant la fermeture.</a:t>
            </a:r>
          </a:p>
          <a:p xmlns:a="http://schemas.openxmlformats.org/drawingml/2006/main">
            <a:r>
              <a:t/>
            </a:r>
          </a:p>
          <a:p xmlns:a="http://schemas.openxmlformats.org/drawingml/2006/main">
            <a:r>
              <a:t>Transition : Appliquer la fermeture acceptée</a:t>
            </a:r>
          </a:p>
          <a:p xmlns:a="http://schemas.openxmlformats.org/drawingml/2006/main">
            <a:r>
              <a:t/>
            </a:r>
          </a:p>
          <a:p xmlns:a="http://schemas.openxmlformats.org/drawingml/2006/main">
            <a:r>
              <a:t>Sources</a:t>
            </a:r>
          </a:p>
          <a:p xmlns:a="http://schemas.openxmlformats.org/drawingml/2006/main">
            <a:r>
              <a:t>SAW-FR/SAW-3.2-SPECIFICATION.md §24, §19.3–19.4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51 — Appliquer la fermeture acceptée</a:t>
            </a:r>
          </a:p>
          <a:p xmlns:a="http://schemas.openxmlformats.org/drawingml/2006/main">
            <a:r>
              <a:t>Module : Convergence et fermeture | Durée indicative : 6 min</a:t>
            </a:r>
          </a:p>
          <a:p xmlns:a="http://schemas.openxmlformats.org/drawingml/2006/main">
            <a:r>
              <a:t>Objectif : Respecter l’ordre des écritures de fermeture.</a:t>
            </a:r>
          </a:p>
          <a:p xmlns:a="http://schemas.openxmlformats.org/drawingml/2006/main">
            <a:r>
              <a:t/>
            </a:r>
          </a:p>
          <a:p xmlns:a="http://schemas.openxmlformats.org/drawingml/2006/main">
            <a:r>
              <a:t>Texte à prononcer</a:t>
            </a:r>
          </a:p>
          <a:p xmlns:a="http://schemas.openxmlformats.org/drawingml/2006/main">
            <a:r>
              <a:t>L'humain accepte le résultat effectivement présenté et les écarts de la convergence finalisée. Après cette acceptation, l'IA achève les mises à jour approuvées et vérifie leur cohérence. Elle passe ensuite le lot à Closed dans STATUS, en dernier parmi les documents de contenu et d'état ; l'entrée de résultat du journal suit la vérification. Si une modification survient pendant la préparation de fermeture, son effet sur les gates doit encore être examiné. Une acceptation antérieure ne couvre pas un résultat modifié sans examen. Le créneau devient alors disponible pour le prochain lot planifié, et le prompt de démarrage peut engager le cycle suivant.</a:t>
            </a:r>
          </a:p>
          <a:p xmlns:a="http://schemas.openxmlformats.org/drawingml/2006/main">
            <a:r>
              <a:t/>
            </a:r>
          </a:p>
          <a:p xmlns:a="http://schemas.openxmlformats.org/drawingml/2006/main">
            <a:r>
              <a:t>Transition : Blocked • conserver la condition de reprise</a:t>
            </a:r>
          </a:p>
          <a:p xmlns:a="http://schemas.openxmlformats.org/drawingml/2006/main">
            <a:r>
              <a:t/>
            </a:r>
          </a:p>
          <a:p xmlns:a="http://schemas.openxmlformats.org/drawingml/2006/main">
            <a:r>
              <a:t>Sources</a:t>
            </a:r>
          </a:p>
          <a:p xmlns:a="http://schemas.openxmlformats.org/drawingml/2006/main">
            <a:r>
              <a:t>SAW-FR/SAW-3.2-SPECIFICATION.md §22.7–22.8,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52 — Blocked • conserver la condition de reprise</a:t>
            </a:r>
          </a:p>
          <a:p xmlns:a="http://schemas.openxmlformats.org/drawingml/2006/main">
            <a:r>
              <a:t>Module : Situations particulières | Durée indicative : 5 min</a:t>
            </a:r>
          </a:p>
          <a:p xmlns:a="http://schemas.openxmlformats.org/drawingml/2006/main">
            <a:r>
              <a:t>Objectif : Traiter un blocage sans perdre le contexte.</a:t>
            </a:r>
          </a:p>
          <a:p xmlns:a="http://schemas.openxmlformats.org/drawingml/2006/main">
            <a:r>
              <a:t/>
            </a:r>
          </a:p>
          <a:p xmlns:a="http://schemas.openxmlformats.org/drawingml/2006/main">
            <a:r>
              <a:t>Texte à prononcer</a:t>
            </a:r>
          </a:p>
          <a:p xmlns:a="http://schemas.openxmlformats.org/drawingml/2006/main">
            <a:r>
              <a:t>Un blocage indique que l'exécution ne peut pas continuer dans les conditions présentes. Il faut écrire sa cause et la condition qui permettra de reprendre. Ce constat n'exige pas à lui seul une décision du ledger, mais la levée peut en nécessiter une selon la nature du choix à faire. Le lot conserve le créneau actif et bloque les autres lots du projet. Lorsque la condition est satisfaite et les décisions obtenues, il revient à In-progress après actualisation des informations de reprise et examen des validations. Nous ne créons pas un nouveau lot simplement pour contourner le blocage et continuer comme si le résultat courant était acquis.</a:t>
            </a:r>
          </a:p>
          <a:p xmlns:a="http://schemas.openxmlformats.org/drawingml/2006/main">
            <a:r>
              <a:t/>
            </a:r>
          </a:p>
          <a:p xmlns:a="http://schemas.openxmlformats.org/drawingml/2006/main">
            <a:r>
              <a:t>Question</a:t>
            </a:r>
          </a:p>
          <a:p xmlns:a="http://schemas.openxmlformats.org/drawingml/2006/main">
            <a:r>
              <a:t>L’absence d’un environnement de test autorise-t-elle à marquer la gate PASS ?</a:t>
            </a:r>
          </a:p>
          <a:p xmlns:a="http://schemas.openxmlformats.org/drawingml/2006/main">
            <a:r>
              <a:t/>
            </a:r>
          </a:p>
          <a:p xmlns:a="http://schemas.openxmlformats.org/drawingml/2006/main">
            <a:r>
              <a:t>Réponse attendue / correction</a:t>
            </a:r>
          </a:p>
          <a:p xmlns:a="http://schemas.openxmlformats.org/drawingml/2006/main">
            <a:r>
              <a:t>Non. Il faut conserver l’état réel et faire décider un traitement conforme si nécessaire.</a:t>
            </a:r>
          </a:p>
          <a:p xmlns:a="http://schemas.openxmlformats.org/drawingml/2006/main">
            <a:r>
              <a:t/>
            </a:r>
          </a:p>
          <a:p xmlns:a="http://schemas.openxmlformats.org/drawingml/2006/main">
            <a:r>
              <a:t>Transition : Sous-lot • suspendre puis reprendre le parent</a:t>
            </a:r>
          </a:p>
          <a:p xmlns:a="http://schemas.openxmlformats.org/drawingml/2006/main">
            <a:r>
              <a:t/>
            </a:r>
          </a:p>
          <a:p xmlns:a="http://schemas.openxmlformats.org/drawingml/2006/main">
            <a:r>
              <a:t>Sources</a:t>
            </a:r>
          </a:p>
          <a:p xmlns:a="http://schemas.openxmlformats.org/drawingml/2006/main">
            <a:r>
              <a:t>SAW-FR/SAW-3.2-SPECIFICATION.md §19.3, §20.2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53 — Sous-lot • suspendre puis reprendre le parent</a:t>
            </a:r>
          </a:p>
          <a:p xmlns:a="http://schemas.openxmlformats.org/drawingml/2006/main">
            <a:r>
              <a:t>Module : Situations particulières | Durée indicative : 5 min</a:t>
            </a:r>
          </a:p>
          <a:p xmlns:a="http://schemas.openxmlformats.org/drawingml/2006/main">
            <a:r>
              <a:t>Objectif : Appliquer le transfert parent / sous-lot.</a:t>
            </a:r>
          </a:p>
          <a:p xmlns:a="http://schemas.openxmlformats.org/drawingml/2006/main">
            <a:r>
              <a:t/>
            </a:r>
          </a:p>
          <a:p xmlns:a="http://schemas.openxmlformats.org/drawingml/2006/main">
            <a:r>
              <a:t>Texte à prononcer</a:t>
            </a:r>
          </a:p>
          <a:p xmlns:a="http://schemas.openxmlformats.org/drawingml/2006/main">
            <a:r>
              <a:t>Ce scénario est pédagogique et ne décrit pas un sous-lot historique de TextAid. Imaginons qu'un travail de collage nécessite une investigation isolée. L'humain peut décider un sous-lot avec sa SPEC, ses FINDINGS et ses GATES. Le parent, jusque-là In-progress, passe d'abord à Stand-by. Le sous-lot occupe ensuite seul le créneau. Les deux références et la suspension sont visibles dans STATUS. Lorsque le sous-lot est fermé, annulé ou rendu obsolète, le parent ne redémarre pas automatiquement. L'humain examine le résultat, ses effets sur le travail et les validations du parent, puis décide du retour à In-progress si le créneau est disponible.</a:t>
            </a:r>
          </a:p>
          <a:p xmlns:a="http://schemas.openxmlformats.org/drawingml/2006/main">
            <a:r>
              <a:t/>
            </a:r>
          </a:p>
          <a:p xmlns:a="http://schemas.openxmlformats.org/drawingml/2006/main">
            <a:r>
              <a:t>Transition : Cancelled, Obsolete et Abandoned</a:t>
            </a:r>
          </a:p>
          <a:p xmlns:a="http://schemas.openxmlformats.org/drawingml/2006/main">
            <a:r>
              <a:t/>
            </a:r>
          </a:p>
          <a:p xmlns:a="http://schemas.openxmlformats.org/drawingml/2006/main">
            <a:r>
              <a:t>Sources</a:t>
            </a:r>
          </a:p>
          <a:p xmlns:a="http://schemas.openxmlformats.org/drawingml/2006/main">
            <a:r>
              <a:t>SAW-FR/SAW-3.2-SPECIFICATION.md §6.2, §20.3 ; scénario pédagogique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54 — Cancelled, Obsolete et Abandoned</a:t>
            </a:r>
          </a:p>
          <a:p xmlns:a="http://schemas.openxmlformats.org/drawingml/2006/main">
            <a:r>
              <a:t>Module : Situations particulières | Durée indicative : 5 min</a:t>
            </a:r>
          </a:p>
          <a:p xmlns:a="http://schemas.openxmlformats.org/drawingml/2006/main">
            <a:r>
              <a:t>Objectif : Choisir l’état correspondant aux faits.</a:t>
            </a:r>
          </a:p>
          <a:p xmlns:a="http://schemas.openxmlformats.org/drawingml/2006/main">
            <a:r>
              <a:t/>
            </a:r>
          </a:p>
          <a:p xmlns:a="http://schemas.openxmlformats.org/drawingml/2006/main">
            <a:r>
              <a:t>Texte à prononcer</a:t>
            </a:r>
          </a:p>
          <a:p xmlns:a="http://schemas.openxmlformats.org/drawingml/2006/main">
            <a:r>
              <a:t>Ces états désignent des situations différentes. Cancelled arrête un lot qui n'a pas été fermé et qui n'est pas remplacé. Obsolete indique un remplacement identifié. Abandoned concerne un résultat déjà fermé que l'on ne retient plus, sans remplacement. Dans chacun de ces cas, l'humain décide et le ledger conserve la décision. Les fichiers existants ne sont pas détruits. Une convergence existante est conservée sans modification tant qu'il n'y a pas reprise. Un lot arrêté avant sa première fermeture peut ne pas avoir de convergence. Ces sorties exceptionnelles ne doivent pas être employées pour contourner une gate ou simuler une fermeture réussie.</a:t>
            </a:r>
          </a:p>
          <a:p xmlns:a="http://schemas.openxmlformats.org/drawingml/2006/main">
            <a:r>
              <a:t/>
            </a:r>
          </a:p>
          <a:p xmlns:a="http://schemas.openxmlformats.org/drawingml/2006/main">
            <a:r>
              <a:t>Transition : Reprendre un lot fermé avec modification</a:t>
            </a:r>
          </a:p>
          <a:p xmlns:a="http://schemas.openxmlformats.org/drawingml/2006/main">
            <a:r>
              <a:t/>
            </a:r>
          </a:p>
          <a:p xmlns:a="http://schemas.openxmlformats.org/drawingml/2006/main">
            <a:r>
              <a:t>Sources</a:t>
            </a:r>
          </a:p>
          <a:p xmlns:a="http://schemas.openxmlformats.org/drawingml/2006/main">
            <a:r>
              <a:t>SAW-FR/SAW-3.2-SPECIFICATION.md §19.3, §19.5–19.6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55 — Reprendre un lot fermé avec modification</a:t>
            </a:r>
          </a:p>
          <a:p xmlns:a="http://schemas.openxmlformats.org/drawingml/2006/main">
            <a:r>
              <a:t>Module : Situations particulières | Durée indicative : 5 min</a:t>
            </a:r>
          </a:p>
          <a:p xmlns:a="http://schemas.openxmlformats.org/drawingml/2006/main">
            <a:r>
              <a:t>Objectif : Préserver une fermeture historique lors d’une reprise.</a:t>
            </a:r>
          </a:p>
          <a:p xmlns:a="http://schemas.openxmlformats.org/drawingml/2006/main">
            <a:r>
              <a:t/>
            </a:r>
          </a:p>
          <a:p xmlns:a="http://schemas.openxmlformats.org/drawingml/2006/main">
            <a:r>
              <a:t>Texte à prononcer</a:t>
            </a:r>
          </a:p>
          <a:p xmlns:a="http://schemas.openxmlformats.org/drawingml/2006/main">
            <a:r>
              <a:t>Une reprise avec modification ne corrige pas silencieusement un résultat fermé. Il faut lire l'ancienne convergence, décider la reprise et conserver la fermeture précédente dans Historical convergences avant de réinitialiser la partie courante. Les résultats des gates sont conservés dans Test history. Les gates actives applicables reviennent à TO TEST et les décisions N/A sont réexaminées. Une fois la préparation achevée et le créneau libre, le lot passe à In-progress avant la modification. Il faudra une nouvelle validation et une nouvelle fermeture humaine. S'il n'y a jamais eu de fermeture antérieure, nous n'inventons pas une convergence historique.</a:t>
            </a:r>
          </a:p>
          <a:p xmlns:a="http://schemas.openxmlformats.org/drawingml/2006/main">
            <a:r>
              <a:t/>
            </a:r>
          </a:p>
          <a:p xmlns:a="http://schemas.openxmlformats.org/drawingml/2006/main">
            <a:r>
              <a:t>Transition : Réconcilier une opération interrompue</a:t>
            </a:r>
          </a:p>
          <a:p xmlns:a="http://schemas.openxmlformats.org/drawingml/2006/main">
            <a:r>
              <a:t/>
            </a:r>
          </a:p>
          <a:p xmlns:a="http://schemas.openxmlformats.org/drawingml/2006/main">
            <a:r>
              <a:t>Sources</a:t>
            </a:r>
          </a:p>
          <a:p xmlns:a="http://schemas.openxmlformats.org/drawingml/2006/main">
            <a:r>
              <a:t>SAW-FR/SAW-3.2-SPECIFICATION.md §18.6, §19.3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56 — Réconcilier une opération interrompue</a:t>
            </a:r>
          </a:p>
          <a:p xmlns:a="http://schemas.openxmlformats.org/drawingml/2006/main">
            <a:r>
              <a:t>Module : Situations particulières | Durée indicative : 5 min</a:t>
            </a:r>
          </a:p>
          <a:p xmlns:a="http://schemas.openxmlformats.org/drawingml/2006/main">
            <a:r>
              <a:t>Objectif : Reprendre les écritures selon les faits conservés.</a:t>
            </a:r>
          </a:p>
          <a:p xmlns:a="http://schemas.openxmlformats.org/drawingml/2006/main">
            <a:r>
              <a:t/>
            </a:r>
          </a:p>
          <a:p xmlns:a="http://schemas.openxmlformats.org/drawingml/2006/main">
            <a:r>
              <a:t>Texte à prononcer</a:t>
            </a:r>
          </a:p>
          <a:p xmlns:a="http://schemas.openxmlformats.org/drawingml/2006/main">
            <a:r>
              <a:t>Une interruption peut survenir après l'inscription d'une décision et avant la mise à jour de la SPEC ou des gates. À la reprise, nous comparons les effets attendus aux fichiers réellement présents. Si la décision détermine clairement la suite, nous achevons l'opération sans en inventer une nouvelle ni redemander une acceptation déjà documentée. Si une décision nécessaire manque ou contredit les autres artefacts, l'humain doit clarifier avant les actions qui en dépendent. STATUS reste l'autorité sur l'état enregistré, mais une incohérence n'est pas résolue en effaçant une ancienne validation ou fermeture. Le journal aide à reconstruire la chronologie ; il ne suffit pas à prouver toutes les écritures.</a:t>
            </a:r>
          </a:p>
          <a:p xmlns:a="http://schemas.openxmlformats.org/drawingml/2006/main">
            <a:r>
              <a:t/>
            </a:r>
          </a:p>
          <a:p xmlns:a="http://schemas.openxmlformats.org/drawingml/2006/main">
            <a:r>
              <a:t>Transition : Une Application peut regrouper des projets</a:t>
            </a:r>
          </a:p>
          <a:p xmlns:a="http://schemas.openxmlformats.org/drawingml/2006/main">
            <a:r>
              <a:t/>
            </a:r>
          </a:p>
          <a:p xmlns:a="http://schemas.openxmlformats.org/drawingml/2006/main">
            <a:r>
              <a:t>Sources</a:t>
            </a:r>
          </a:p>
          <a:p xmlns:a="http://schemas.openxmlformats.org/drawingml/2006/main">
            <a:r>
              <a:t>SAW-FR/SAW-3.2-SPECIFICATION.md §22.8, §14 bis.3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57 — Une Application peut regrouper des projets</a:t>
            </a:r>
          </a:p>
          <a:p xmlns:a="http://schemas.openxmlformats.org/drawingml/2006/main">
            <a:r>
              <a:t>Module : Situations particulières | Durée indicative : 5 min</a:t>
            </a:r>
          </a:p>
          <a:p xmlns:a="http://schemas.openxmlformats.org/drawingml/2006/main">
            <a:r>
              <a:t>Objectif : Situer les responsabilités au niveau Application.</a:t>
            </a:r>
          </a:p>
          <a:p xmlns:a="http://schemas.openxmlformats.org/drawingml/2006/main">
            <a:r>
              <a:t/>
            </a:r>
          </a:p>
          <a:p xmlns:a="http://schemas.openxmlformats.org/drawingml/2006/main">
            <a:r>
              <a:t>Texte à prononcer</a:t>
            </a:r>
          </a:p>
          <a:p xmlns:a="http://schemas.openxmlformats.org/drawingml/2006/main">
            <a:r>
              <a:t>Une Application peut organiser plusieurs projets SAW contribuant au même produit. Elle possède README, APPLICATION, RULES, STATUS, PROJECTS, LEDGER et HISTORY. Son inventaire recense tous les projets, leurs racines, responsabilités et dépendances. Chaque projet conserve son état autoritaire et son propre créneau. Le statut global est une vue de coordination dont l'origine ou la date de mise à jour est identifiable. L'Application ne possède pas de lots. Une validation ou livraison réellement transversale est gouvernée par un projet d'intégration membre, avec ses propres documents et gates. Le bootstrap du projet commence par celui de l'Application et les règles globales sont référencées plutôt que recopiées.</a:t>
            </a:r>
          </a:p>
          <a:p xmlns:a="http://schemas.openxmlformats.org/drawingml/2006/main">
            <a:r>
              <a:t/>
            </a:r>
          </a:p>
          <a:p xmlns:a="http://schemas.openxmlformats.org/drawingml/2006/main">
            <a:r>
              <a:t>Transition : Le parallélisme exige un contrat explicite</a:t>
            </a:r>
          </a:p>
          <a:p xmlns:a="http://schemas.openxmlformats.org/drawingml/2006/main">
            <a:r>
              <a:t/>
            </a:r>
          </a:p>
          <a:p xmlns:a="http://schemas.openxmlformats.org/drawingml/2006/main">
            <a:r>
              <a:t>Sources</a:t>
            </a:r>
          </a:p>
          <a:p xmlns:a="http://schemas.openxmlformats.org/drawingml/2006/main">
            <a:r>
              <a:t>SAW-FR/SAW-3.2-SPECIFICATION.md §20 bis.1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58 — Le parallélisme exige un contrat explicite</a:t>
            </a:r>
          </a:p>
          <a:p xmlns:a="http://schemas.openxmlformats.org/drawingml/2006/main">
            <a:r>
              <a:t>Module : Situations particulières | Durée indicative : 5 min</a:t>
            </a:r>
          </a:p>
          <a:p xmlns:a="http://schemas.openxmlformats.org/drawingml/2006/main">
            <a:r>
              <a:t>Objectif : Reconnaître les conditions du parallélisme autorisé.</a:t>
            </a:r>
          </a:p>
          <a:p xmlns:a="http://schemas.openxmlformats.org/drawingml/2006/main">
            <a:r>
              <a:t/>
            </a:r>
          </a:p>
          <a:p xmlns:a="http://schemas.openxmlformats.org/drawingml/2006/main">
            <a:r>
              <a:t>Texte à prononcer</a:t>
            </a:r>
          </a:p>
          <a:p xmlns:a="http://schemas.openxmlformats.org/drawingml/2006/main">
            <a:r>
              <a:t>Deux projets d'une Application peuvent avancer simultanément si une autorité architecturale identifiée garantit leur indépendance dans les conditions prévues. Cette garantie prend la forme d'une décision du ledger de l'Application avant le démarrage parallèle. Elle décrit les interfaces, dépendances, zones partagées et propriétaires, ainsi que la coordination des écritures et la résolution des conflits. Un simple découpage en dossiers ne suffit pas. Chaque projet garde un seul lot actif. Un blocage local ne bloque pas automatiquement tous les autres projets, mais les dépendances doivent être examinées. SAW n'impose aucun outil de coordination ; le mécanisme retenu doit être explicite et appliqué.</a:t>
            </a:r>
          </a:p>
          <a:p xmlns:a="http://schemas.openxmlformats.org/drawingml/2006/main">
            <a:r>
              <a:t/>
            </a:r>
          </a:p>
          <a:p xmlns:a="http://schemas.openxmlformats.org/drawingml/2006/main">
            <a:r>
              <a:t>Question</a:t>
            </a:r>
          </a:p>
          <a:p xmlns:a="http://schemas.openxmlformats.org/drawingml/2006/main">
            <a:r>
              <a:t>Deux agents sur deux branches prouvent-ils l’indépendance des projets ?</a:t>
            </a:r>
          </a:p>
          <a:p xmlns:a="http://schemas.openxmlformats.org/drawingml/2006/main">
            <a:r>
              <a:t/>
            </a:r>
          </a:p>
          <a:p xmlns:a="http://schemas.openxmlformats.org/drawingml/2006/main">
            <a:r>
              <a:t>Réponse attendue / correction</a:t>
            </a:r>
          </a:p>
          <a:p xmlns:a="http://schemas.openxmlformats.org/drawingml/2006/main">
            <a:r>
              <a:t>Non. Le contrat doit traiter les dépendances et ressources partagées du produit.</a:t>
            </a:r>
          </a:p>
          <a:p xmlns:a="http://schemas.openxmlformats.org/drawingml/2006/main">
            <a:r>
              <a:t/>
            </a:r>
          </a:p>
          <a:p xmlns:a="http://schemas.openxmlformats.org/drawingml/2006/main">
            <a:r>
              <a:t>Transition : Le cycle complet en deux prompts</a:t>
            </a:r>
          </a:p>
          <a:p xmlns:a="http://schemas.openxmlformats.org/drawingml/2006/main">
            <a:r>
              <a:t/>
            </a:r>
          </a:p>
          <a:p xmlns:a="http://schemas.openxmlformats.org/drawingml/2006/main">
            <a:r>
              <a:t>Sources</a:t>
            </a:r>
          </a:p>
          <a:p xmlns:a="http://schemas.openxmlformats.org/drawingml/2006/main">
            <a:r>
              <a:t>SAW-FR/SAW-3.2-SPECIFICATION.md §20 bis.2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59 — Le cycle complet en deux prompts</a:t>
            </a:r>
          </a:p>
          <a:p xmlns:a="http://schemas.openxmlformats.org/drawingml/2006/main">
            <a:r>
              <a:t>Module : Application en autonomie | Durée indicative : 4 min</a:t>
            </a:r>
          </a:p>
          <a:p xmlns:a="http://schemas.openxmlformats.org/drawingml/2006/main">
            <a:r>
              <a:t>Objectif : Reconstituer le pilotage quotidien.</a:t>
            </a:r>
          </a:p>
          <a:p xmlns:a="http://schemas.openxmlformats.org/drawingml/2006/main">
            <a:r>
              <a:t/>
            </a:r>
          </a:p>
          <a:p xmlns:a="http://schemas.openxmlformats.org/drawingml/2006/main">
            <a:r>
              <a:t>Texte à prononcer</a:t>
            </a:r>
          </a:p>
          <a:p xmlns:a="http://schemas.openxmlformats.org/drawingml/2006/main">
            <a:r>
              <a:t>Nous pouvons maintenant relire les deux prompts avec leur portée complète. Le premier lance le prochain lot identifié à partir du bootstrap et des conditions du projet. Pendant l'exécution, l'IA tient les documents et sollicite les décisions nécessaires. Le second déclenche la procédure de fermeture, qui vérifie les exigences, les findings, les gates et la convergence. Les validations humaines et les arbitrages peuvent nécessiter des échanges. La méthode est déléguée à l'IA parce que ses procédures sont écrites et accessibles. L'humain garde la maîtrise en examinant les éléments qui lui sont présentés et en décidant explicitement ce qui lui revient.</a:t>
            </a:r>
          </a:p>
          <a:p xmlns:a="http://schemas.openxmlformats.org/drawingml/2006/main">
            <a:r>
              <a:t/>
            </a:r>
          </a:p>
          <a:p xmlns:a="http://schemas.openxmlformats.org/drawingml/2006/main">
            <a:r>
              <a:t>Transition : Atelier 4 • peut-on fermer ce lot ?</a:t>
            </a:r>
          </a:p>
          <a:p xmlns:a="http://schemas.openxmlformats.org/drawingml/2006/main">
            <a:r>
              <a:t/>
            </a:r>
          </a:p>
          <a:p xmlns:a="http://schemas.openxmlformats.org/drawingml/2006/main">
            <a:r>
              <a:t>Sources</a:t>
            </a:r>
          </a:p>
          <a:p xmlns:a="http://schemas.openxmlformats.org/drawingml/2006/main">
            <a:r>
              <a:t>Prompts fournis par Olivier Dahan ; spécification SAW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60 — Atelier 4 • peut-on fermer ce lot ?</a:t>
            </a:r>
          </a:p>
          <a:p xmlns:a="http://schemas.openxmlformats.org/drawingml/2006/main">
            <a:r>
              <a:t>Module : Application en autonomie | Durée indicative : 14 min</a:t>
            </a:r>
          </a:p>
          <a:p xmlns:a="http://schemas.openxmlformats.org/drawingml/2006/main">
            <a:r>
              <a:t>Objectif : Auditer un dossier et proposer une remise en cohérence.</a:t>
            </a:r>
          </a:p>
          <a:p xmlns:a="http://schemas.openxmlformats.org/drawingml/2006/main">
            <a:r>
              <a:t/>
            </a:r>
          </a:p>
          <a:p xmlns:a="http://schemas.openxmlformats.org/drawingml/2006/main">
            <a:r>
              <a:t>Texte à prononcer</a:t>
            </a:r>
          </a:p>
          <a:p xmlns:a="http://schemas.openxmlformats.org/drawingml/2006/main">
            <a:r>
              <a:t>Prenez le dossier pédagogique de l'Atelier 4. Vous êtes chargé d'examiner une demande de fermeture. Travaillez huit minutes en petits groupes pour identifier les causes de refus et proposer les écritures ou validations nécessaires. Les quatre anomalies visibles sur la slide constituent le point de départ ; la fiche précise le contexte et le sens du changement entre A et B. Ne réparez pas les faits manquants par des suppositions. Un nom connu ne fournit pas une date de validation, et un test réussi sur A ne prouve pas que B est couvert. Nous consacrerons six minutes à une restitution structurée, en suivant la procédure de fermeture.</a:t>
            </a:r>
          </a:p>
          <a:p xmlns:a="http://schemas.openxmlformats.org/drawingml/2006/main">
            <a:r>
              <a:t/>
            </a:r>
          </a:p>
          <a:p xmlns:a="http://schemas.openxmlformats.org/drawingml/2006/main">
            <a:r>
              <a:t>Démonstration / animation</a:t>
            </a:r>
          </a:p>
          <a:p xmlns:a="http://schemas.openxmlformats.org/drawingml/2006/main">
            <a:r>
              <a:t>Ressources/Ateliers/ATELIER-04.md. 8 min en groupes et 6 min de correction.</a:t>
            </a:r>
          </a:p>
          <a:p xmlns:a="http://schemas.openxmlformats.org/drawingml/2006/main">
            <a:r>
              <a:t/>
            </a:r>
          </a:p>
          <a:p xmlns:a="http://schemas.openxmlformats.org/drawingml/2006/main">
            <a:r>
              <a:t>Réponse attendue / correction</a:t>
            </a:r>
          </a:p>
          <a:p xmlns:a="http://schemas.openxmlformats.org/drawingml/2006/main">
            <a:r>
              <a:t>Refus de fermeture. Examiner l’impact de B et revalider les gates affectées ; obtenir une validation HUMAN datée sur B ; achever le traitement du finding avec destination existante ; conclure sur l’exigence active ; préparer la convergence puis présenter le résultat à l’humain.</a:t>
            </a:r>
          </a:p>
          <a:p xmlns:a="http://schemas.openxmlformats.org/drawingml/2006/main">
            <a:r>
              <a:t/>
            </a:r>
          </a:p>
          <a:p xmlns:a="http://schemas.openxmlformats.org/drawingml/2006/main">
            <a:r>
              <a:t>Transition : Correction • rétablir les conditions de fermeture</a:t>
            </a:r>
          </a:p>
          <a:p xmlns:a="http://schemas.openxmlformats.org/drawingml/2006/main">
            <a:r>
              <a:t/>
            </a:r>
          </a:p>
          <a:p xmlns:a="http://schemas.openxmlformats.org/drawingml/2006/main">
            <a:r>
              <a:t>Sources</a:t>
            </a:r>
          </a:p>
          <a:p xmlns:a="http://schemas.openxmlformats.org/drawingml/2006/main">
            <a:r>
              <a:t>Scénario pédagogique ; spécification SAW §23–24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61 — Correction • rétablir les conditions de fermeture</a:t>
            </a:r>
          </a:p>
          <a:p xmlns:a="http://schemas.openxmlformats.org/drawingml/2006/main">
            <a:r>
              <a:t>Module : Application en autonomie | Durée indicative : 6 min</a:t>
            </a:r>
          </a:p>
          <a:p xmlns:a="http://schemas.openxmlformats.org/drawingml/2006/main">
            <a:r>
              <a:t>Objectif : Relier chaque anomalie à la réparation appropriée.</a:t>
            </a:r>
          </a:p>
          <a:p xmlns:a="http://schemas.openxmlformats.org/drawingml/2006/main">
            <a:r>
              <a:t/>
            </a:r>
          </a:p>
          <a:p xmlns:a="http://schemas.openxmlformats.org/drawingml/2006/main">
            <a:r>
              <a:t>Texte à prononcer</a:t>
            </a:r>
          </a:p>
          <a:p xmlns:a="http://schemas.openxmlformats.org/drawingml/2006/main">
            <a:r>
              <a:t>La fermeture est refusée en l'état. Le candidat B modifie le comportement examiné : l'impact doit être consigné et les gates affectées réévaluées après conservation des anciens verdicts. La validation humaine doit identifier le résultat et être datée ; l'IA ne complète pas ces faits par déduction. Le finding OPEN doit recevoir un traitement terminal, avec des destinations conformes. Toute exigence active doit être satisfaite ou porter un écart explicitement accepté. La convergence doit identifier B et synthétiser ces conclusions. Si le lot était Ready-to-close, il revient à In-progress avant les corrections. Nous pouvons ensuite refaire le contrôle et demander l'acceptation humaine.</a:t>
            </a:r>
          </a:p>
          <a:p xmlns:a="http://schemas.openxmlformats.org/drawingml/2006/main">
            <a:r>
              <a:t/>
            </a:r>
          </a:p>
          <a:p xmlns:a="http://schemas.openxmlformats.org/drawingml/2006/main">
            <a:r>
              <a:t>Question</a:t>
            </a:r>
          </a:p>
          <a:p xmlns:a="http://schemas.openxmlformats.org/drawingml/2006/main">
            <a:r>
              <a:t>Une décision « j’accepte les risques » suffit-elle à remplacer toutes ces écritures ?</a:t>
            </a:r>
          </a:p>
          <a:p xmlns:a="http://schemas.openxmlformats.org/drawingml/2006/main">
            <a:r>
              <a:t/>
            </a:r>
          </a:p>
          <a:p xmlns:a="http://schemas.openxmlformats.org/drawingml/2006/main">
            <a:r>
              <a:t>Réponse attendue / correction</a:t>
            </a:r>
          </a:p>
          <a:p xmlns:a="http://schemas.openxmlformats.org/drawingml/2006/main">
            <a:r>
              <a:t>Non. Les gates et les conditions normatives doivent être traitées explicitement.</a:t>
            </a:r>
          </a:p>
          <a:p xmlns:a="http://schemas.openxmlformats.org/drawingml/2006/main">
            <a:r>
              <a:t/>
            </a:r>
          </a:p>
          <a:p xmlns:a="http://schemas.openxmlformats.org/drawingml/2006/main">
            <a:r>
              <a:t>Transition : Les erreurs à reconnaître</a:t>
            </a:r>
          </a:p>
          <a:p xmlns:a="http://schemas.openxmlformats.org/drawingml/2006/main">
            <a:r>
              <a:t/>
            </a:r>
          </a:p>
          <a:p xmlns:a="http://schemas.openxmlformats.org/drawingml/2006/main">
            <a:r>
              <a:t>Sources</a:t>
            </a:r>
          </a:p>
          <a:p xmlns:a="http://schemas.openxmlformats.org/drawingml/2006/main">
            <a:r>
              <a:t>SAW-FR/SAW-3.2-SPECIFICATION.md §17.10, §18, §23–24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62 — Les erreurs à reconnaître</a:t>
            </a:r>
          </a:p>
          <a:p xmlns:a="http://schemas.openxmlformats.org/drawingml/2006/main">
            <a:r>
              <a:t>Module : Application en autonomie | Durée indicative : 4 min</a:t>
            </a:r>
          </a:p>
          <a:p xmlns:a="http://schemas.openxmlformats.org/drawingml/2006/main">
            <a:r>
              <a:t>Objectif : Repérer les écarts récurrents au protocole.</a:t>
            </a:r>
          </a:p>
          <a:p xmlns:a="http://schemas.openxmlformats.org/drawingml/2006/main">
            <a:r>
              <a:t/>
            </a:r>
          </a:p>
          <a:p xmlns:a="http://schemas.openxmlformats.org/drawingml/2006/main">
            <a:r>
              <a:t>Texte à prononcer</a:t>
            </a:r>
          </a:p>
          <a:p xmlns:a="http://schemas.openxmlformats.org/drawingml/2006/main">
            <a:r>
              <a:t>Les erreurs les plus fréquentes viennent du mélange des responsabilités et de preuves insuffisamment reliées au résultat. Un prompt très détaillé ne remplace pas un dossier transmissible. Un PASS conservé sans examen d'impact peut décrire une ancienne version. Un finding oublié prive la prochaine session d'une connaissance utile. Une gate N/A sans décision cache un manque au lieu de l'expliciter. Nous devons aussi éviter de tenir plusieurs lots actifs dans le même projet, de modifier une convergence fermée sans reprise et de laisser une règle indispensable uniquement dans un outil. Le contrôle consiste à lire les documents et à suivre leurs références, avec une exigence proportionnée au travail.</a:t>
            </a:r>
          </a:p>
          <a:p xmlns:a="http://schemas.openxmlformats.org/drawingml/2006/main">
            <a:r>
              <a:t/>
            </a:r>
          </a:p>
          <a:p xmlns:a="http://schemas.openxmlformats.org/drawingml/2006/main">
            <a:r>
              <a:t>Transition : Préparer votre premier projet SAW</a:t>
            </a:r>
          </a:p>
          <a:p xmlns:a="http://schemas.openxmlformats.org/drawingml/2006/main">
            <a:r>
              <a:t/>
            </a:r>
          </a:p>
          <a:p xmlns:a="http://schemas.openxmlformats.org/drawingml/2006/main">
            <a:r>
              <a:t>Sources</a:t>
            </a:r>
          </a:p>
          <a:p xmlns:a="http://schemas.openxmlformats.org/drawingml/2006/main">
            <a:r>
              <a:t>SAW-FR/SAW-3.2-SPECIFICATION.md §27–29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63 — Préparer votre premier projet SAW</a:t>
            </a:r>
          </a:p>
          <a:p xmlns:a="http://schemas.openxmlformats.org/drawingml/2006/main">
            <a:r>
              <a:t>Module : Application en autonomie | Durée indicative : 4 min</a:t>
            </a:r>
          </a:p>
          <a:p xmlns:a="http://schemas.openxmlformats.org/drawingml/2006/main">
            <a:r>
              <a:t>Objectif : Transférer la méthode à son propre contexte.</a:t>
            </a:r>
          </a:p>
          <a:p xmlns:a="http://schemas.openxmlformats.org/drawingml/2006/main">
            <a:r>
              <a:t/>
            </a:r>
          </a:p>
          <a:p xmlns:a="http://schemas.openxmlformats.org/drawingml/2006/main">
            <a:r>
              <a:t>Texte à prononcer</a:t>
            </a:r>
          </a:p>
          <a:p xmlns:a="http://schemas.openxmlformats.org/drawingml/2006/main">
            <a:r>
              <a:t>Pour votre premier projet, choisissez un objectif limité dont le résultat pourra être examiné. Rassemblez les sources disponibles et explicitez les questions qui restent ouvertes. Préparez PROJECT, les règles et le point d'entrée. Les modèles distribués vous aideront à retrouver les rubriques, mais ils doivent être remplis avec les informations de votre projet. Définissez le premier lot et ses gates avant de le planifier. Lancez le travail avec la consigne courte, puis lisez les éléments que l'IA produit. La mise en route doit rester simple tout en respectant les obligations du protocole. Une automatisation locale est utile lorsqu'elle retire plus de complexité qu'elle n'en introduit.</a:t>
            </a:r>
          </a:p>
          <a:p xmlns:a="http://schemas.openxmlformats.org/drawingml/2006/main">
            <a:r>
              <a:t/>
            </a:r>
          </a:p>
          <a:p xmlns:a="http://schemas.openxmlformats.org/drawingml/2006/main">
            <a:r>
              <a:t>Démonstration / animation</a:t>
            </a:r>
          </a:p>
          <a:p xmlns:a="http://schemas.openxmlformats.org/drawingml/2006/main">
            <a:r>
              <a:t>Demander à chaque participant de noter un objectif de premier lot et une condition humaine de fermeture.</a:t>
            </a:r>
          </a:p>
          <a:p xmlns:a="http://schemas.openxmlformats.org/drawingml/2006/main">
            <a:r>
              <a:t/>
            </a:r>
          </a:p>
          <a:p xmlns:a="http://schemas.openxmlformats.org/drawingml/2006/main">
            <a:r>
              <a:t>Transition : Ressources pour continuer</a:t>
            </a:r>
          </a:p>
          <a:p xmlns:a="http://schemas.openxmlformats.org/drawingml/2006/main">
            <a:r>
              <a:t/>
            </a:r>
          </a:p>
          <a:p xmlns:a="http://schemas.openxmlformats.org/drawingml/2006/main">
            <a:r>
              <a:t>Sources</a:t>
            </a:r>
          </a:p>
          <a:p xmlns:a="http://schemas.openxmlformats.org/drawingml/2006/main">
            <a:r>
              <a:t>SAW-FR/SAW-3.2-SPECIFICATION.md §4.6, §21–22 ; Ressources/Modeles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64 — Ressources pour continuer</a:t>
            </a:r>
          </a:p>
          <a:p xmlns:a="http://schemas.openxmlformats.org/drawingml/2006/main">
            <a:r>
              <a:t>Module : Application en autonomie | Durée indicative : 3 min</a:t>
            </a:r>
          </a:p>
          <a:p xmlns:a="http://schemas.openxmlformats.org/drawingml/2006/main">
            <a:r>
              <a:t>Objectif : Orienter vers les ressources autonomes.</a:t>
            </a:r>
          </a:p>
          <a:p xmlns:a="http://schemas.openxmlformats.org/drawingml/2006/main">
            <a:r>
              <a:t/>
            </a:r>
          </a:p>
          <a:p xmlns:a="http://schemas.openxmlformats.org/drawingml/2006/main">
            <a:r>
              <a:t>Texte à prononcer</a:t>
            </a:r>
          </a:p>
          <a:p xmlns:a="http://schemas.openxmlformats.org/drawingml/2006/main">
            <a:r>
              <a:t>Vous disposez de la spécification SAW corrigée, des fichiers TextAid utilisés pendant les démonstrations, des modèles et des fiches d'exercice. Les annexes du PowerPoint donnent accès aux formats et aux contrôles de référence. Le script formateur suit exactement les numéros et les titres des slides. Les documents TextAid restent des traces historiques : leurs noms Pro-Spec, leurs résultats et leurs limites ne sont pas réécrits pour ressembler à un exemple parfait. Pour un nouveau projet, appuyez-vous sur SAW et sa révision distribuée. Le livre permet de poursuivre la réflexion sur les contraintes, les preuves et les décisions en développement piloté par les spécifications.</a:t>
            </a:r>
          </a:p>
          <a:p xmlns:a="http://schemas.openxmlformats.org/drawingml/2006/main">
            <a:r>
              <a:t/>
            </a:r>
          </a:p>
          <a:p xmlns:a="http://schemas.openxmlformats.org/drawingml/2006/main">
            <a:r>
              <a:t>Transition : Annexe • vocabulaire normatif</a:t>
            </a:r>
          </a:p>
          <a:p xmlns:a="http://schemas.openxmlformats.org/drawingml/2006/main">
            <a:r>
              <a:t/>
            </a:r>
          </a:p>
          <a:p xmlns:a="http://schemas.openxmlformats.org/drawingml/2006/main">
            <a:r>
              <a:t>Sources</a:t>
            </a:r>
          </a:p>
          <a:p xmlns:a="http://schemas.openxmlformats.org/drawingml/2006/main">
            <a:r>
              <a:t>Ressources distribuées ; https://www.amazon.fr/dp/B0HKLSFMM3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65 — Annexe • vocabulaire normatif</a:t>
            </a:r>
          </a:p>
          <a:p xmlns:a="http://schemas.openxmlformats.org/drawingml/2006/main">
            <a:r>
              <a:t>Module : Annexes de référence | Durée indicative : annexe à consulter</a:t>
            </a:r>
          </a:p>
          <a:p xmlns:a="http://schemas.openxmlformats.org/drawingml/2006/main">
            <a:r>
              <a:t>Objectif : Lire les degrés d’obligation.</a:t>
            </a:r>
          </a:p>
          <a:p xmlns:a="http://schemas.openxmlformats.org/drawingml/2006/main">
            <a:r>
              <a:t/>
            </a:r>
          </a:p>
          <a:p xmlns:a="http://schemas.openxmlformats.org/drawingml/2006/main">
            <a:r>
              <a:t>Texte à prononcer</a:t>
            </a:r>
          </a:p>
          <a:p xmlns:a="http://schemas.openxmlformats.org/drawingml/2006/main">
            <a:r>
              <a:t>Cette annexe aide à lire la spécification sans confondre une obligation et un exemple. MUST et MUST NOT sont absolus. SHOULD et SHOULD NOT expriment une recommandation forte dont les écarts doivent être justifiés selon le protocole. MAY ouvre une possibilité. Les sens restent stables entre les versions française et anglaise. Le format détaillé d'un finding ou d'un historique peut comporter des champs facultatifs, mais une autre obligation peut exiger de conserver une information particulière. Lisez donc la clause applicable et son contexte. Une présentation abrégée ou une slide de cours ne constitue pas une dérogation à la spécification.</a:t>
            </a:r>
          </a:p>
          <a:p xmlns:a="http://schemas.openxmlformats.org/drawingml/2006/main">
            <a:r>
              <a:t/>
            </a:r>
          </a:p>
          <a:p xmlns:a="http://schemas.openxmlformats.org/drawingml/2006/main">
            <a:r>
              <a:t>Transition : Annexe • modèle d’une exigence</a:t>
            </a:r>
          </a:p>
          <a:p xmlns:a="http://schemas.openxmlformats.org/drawingml/2006/main">
            <a:r>
              <a:t/>
            </a:r>
          </a:p>
          <a:p xmlns:a="http://schemas.openxmlformats.org/drawingml/2006/main">
            <a:r>
              <a:t>Sources</a:t>
            </a:r>
          </a:p>
          <a:p xmlns:a="http://schemas.openxmlformats.org/drawingml/2006/main">
            <a:r>
              <a:t>SAW-FR/SAW-3.2-SPECIFICATION.md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66 — Annexe • modèle d’une exigence</a:t>
            </a:r>
          </a:p>
          <a:p xmlns:a="http://schemas.openxmlformats.org/drawingml/2006/main">
            <a:r>
              <a:t>Module : Annexes de référence | Durée indicative : annexe à consulter</a:t>
            </a:r>
          </a:p>
          <a:p xmlns:a="http://schemas.openxmlformats.org/drawingml/2006/main">
            <a:r>
              <a:t>Objectif : Retrouver le format d’une exigence.</a:t>
            </a:r>
          </a:p>
          <a:p xmlns:a="http://schemas.openxmlformats.org/drawingml/2006/main">
            <a:r>
              <a:t/>
            </a:r>
          </a:p>
          <a:p xmlns:a="http://schemas.openxmlformats.org/drawingml/2006/main">
            <a:r>
              <a:t>Texte à prononcer</a:t>
            </a:r>
          </a:p>
          <a:p xmlns:a="http://schemas.openxmlformats.org/drawingml/2006/main">
            <a:r>
              <a:t>Le modèle illustre le titre stable d'une exigence et la conservation d'un élément remplacé. Les identifiants sont des exemples pédagogiques ; ils n'appartiennent pas au projet TextAid. Le nouvel élément porterait un nouvel identifiant et un champ Replaces référant à l'ancien. Après le démarrage, le changement de sens référence la décision humaine correspondante. Le contenu ancien doit rester présent ; la slide n'en montre qu'un extrait de structure. Les modèles distribués proposent les rubriques de la SPEC pour replacer ces exigences dans leur objectif et leur périmètre. Les textes doivent être adaptés au besoin réel.</a:t>
            </a:r>
          </a:p>
          <a:p xmlns:a="http://schemas.openxmlformats.org/drawingml/2006/main">
            <a:r>
              <a:t/>
            </a:r>
          </a:p>
          <a:p xmlns:a="http://schemas.openxmlformats.org/drawingml/2006/main">
            <a:r>
              <a:t>Transition : Annexe • modèle d’un finding</a:t>
            </a:r>
          </a:p>
          <a:p xmlns:a="http://schemas.openxmlformats.org/drawingml/2006/main">
            <a:r>
              <a:t/>
            </a:r>
          </a:p>
          <a:p xmlns:a="http://schemas.openxmlformats.org/drawingml/2006/main">
            <a:r>
              <a:t>Sources</a:t>
            </a:r>
          </a:p>
          <a:p xmlns:a="http://schemas.openxmlformats.org/drawingml/2006/main">
            <a:r>
              <a:t>SAW-FR/SAW-3.2-SPECIFICATION.md §15.3–15.5 ; exemple pédagogique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67 — Annexe • modèle d’un finding</a:t>
            </a:r>
          </a:p>
          <a:p xmlns:a="http://schemas.openxmlformats.org/drawingml/2006/main">
            <a:r>
              <a:t>Module : Annexes de référence | Durée indicative : annexe à consulter</a:t>
            </a:r>
          </a:p>
          <a:p xmlns:a="http://schemas.openxmlformats.org/drawingml/2006/main">
            <a:r>
              <a:t>Objectif : Retrouver le format d’une découverte.</a:t>
            </a:r>
          </a:p>
          <a:p xmlns:a="http://schemas.openxmlformats.org/drawingml/2006/main">
            <a:r>
              <a:t/>
            </a:r>
          </a:p>
          <a:p xmlns:a="http://schemas.openxmlformats.org/drawingml/2006/main">
            <a:r>
              <a:t>Texte à prononcer</a:t>
            </a:r>
          </a:p>
          <a:p xmlns:a="http://schemas.openxmlformats.org/drawingml/2006/main">
            <a:r>
              <a:t>Cet exemple de finding est pédagogique. Le constat indique une fenêtre source indisponible ; les preuves peuvent décrire les étapes de reproduction. L'impact permet de relier la découverte au comportement attendu. OPEN signale que le traitement n'est pas achevé. Pour une résolution locale, il faudra préciser ce qui a été fait et donner un état terminal cohérent. Si le finding produit une décision, une règle ou un lot futur, les références réelles doivent exister. Le moment de découverte est renseigné selon les conventions du projet ; on n'invente pas les faits historiques manquants.</a:t>
            </a:r>
          </a:p>
          <a:p xmlns:a="http://schemas.openxmlformats.org/drawingml/2006/main">
            <a:r>
              <a:t/>
            </a:r>
          </a:p>
          <a:p xmlns:a="http://schemas.openxmlformats.org/drawingml/2006/main">
            <a:r>
              <a:t>Transition : Annexe • modèle d’une gate HUMAN</a:t>
            </a:r>
          </a:p>
          <a:p xmlns:a="http://schemas.openxmlformats.org/drawingml/2006/main">
            <a:r>
              <a:t/>
            </a:r>
          </a:p>
          <a:p xmlns:a="http://schemas.openxmlformats.org/drawingml/2006/main">
            <a:r>
              <a:t>Sources</a:t>
            </a:r>
          </a:p>
          <a:p xmlns:a="http://schemas.openxmlformats.org/drawingml/2006/main">
            <a:r>
              <a:t>SAW-FR/SAW-3.2-SPECIFICATION.md §16 ; exemple pédagogique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68 — Annexe • modèle d’une gate HUMAN</a:t>
            </a:r>
          </a:p>
          <a:p xmlns:a="http://schemas.openxmlformats.org/drawingml/2006/main">
            <a:r>
              <a:t>Module : Annexes de référence | Durée indicative : annexe à consulter</a:t>
            </a:r>
          </a:p>
          <a:p xmlns:a="http://schemas.openxmlformats.org/drawingml/2006/main">
            <a:r>
              <a:t>Objectif : Retrouver les champs de validation humaine.</a:t>
            </a:r>
          </a:p>
          <a:p xmlns:a="http://schemas.openxmlformats.org/drawingml/2006/main">
            <a:r>
              <a:t/>
            </a:r>
          </a:p>
          <a:p xmlns:a="http://schemas.openxmlformats.org/drawingml/2006/main">
            <a:r>
              <a:t>Texte à prononcer</a:t>
            </a:r>
          </a:p>
          <a:p xmlns:a="http://schemas.openxmlformats.org/drawingml/2006/main">
            <a:r>
              <a:t>Une gate HUMAN indique la condition et le parcours prévu avant son évaluation. Les champs de validation restent vides tant que l'humain n'a pas rendu son verdict. La date, le nom et l'identification du résultat seront ensuite enregistrés avec un commentaire utile. L'historique des évaluations antérieures est conservé avant toute nouvelle évaluation, y compris lorsqu'elles étaient réussies. Cette structure n'impose pas une empreinte cryptographique : le moyen choisi doit permettre de distinguer les résultats successifs. Un chemin vers un fichier mutable ne suffit pas à lui seul.</a:t>
            </a:r>
          </a:p>
          <a:p xmlns:a="http://schemas.openxmlformats.org/drawingml/2006/main">
            <a:r>
              <a:t/>
            </a:r>
          </a:p>
          <a:p xmlns:a="http://schemas.openxmlformats.org/drawingml/2006/main">
            <a:r>
              <a:t>Transition : Annexe • états du lot</a:t>
            </a:r>
          </a:p>
          <a:p xmlns:a="http://schemas.openxmlformats.org/drawingml/2006/main">
            <a:r>
              <a:t/>
            </a:r>
          </a:p>
          <a:p xmlns:a="http://schemas.openxmlformats.org/drawingml/2006/main">
            <a:r>
              <a:t>Sources</a:t>
            </a:r>
          </a:p>
          <a:p xmlns:a="http://schemas.openxmlformats.org/drawingml/2006/main">
            <a:r>
              <a:t>SAW-FR/SAW-3.2-SPECIFICATION.md §17.7–17.11 ; exemple pédagogique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69 — Annexe • états du lot</a:t>
            </a:r>
          </a:p>
          <a:p xmlns:a="http://schemas.openxmlformats.org/drawingml/2006/main">
            <a:r>
              <a:t>Module : Annexes de référence | Durée indicative : annexe à consulter</a:t>
            </a:r>
          </a:p>
          <a:p xmlns:a="http://schemas.openxmlformats.org/drawingml/2006/main">
            <a:r>
              <a:t>Objectif : Retrouver les états sans inventer de transition.</a:t>
            </a:r>
          </a:p>
          <a:p xmlns:a="http://schemas.openxmlformats.org/drawingml/2006/main">
            <a:r>
              <a:t/>
            </a:r>
          </a:p>
          <a:p xmlns:a="http://schemas.openxmlformats.org/drawingml/2006/main">
            <a:r>
              <a:t>Texte à prononcer</a:t>
            </a:r>
          </a:p>
          <a:p xmlns:a="http://schemas.openxmlformats.org/drawingml/2006/main">
            <a:r>
              <a:t>Cette synthèse rappelle le sens des dix états. Elle ne remplace pas la table des transitions autorisées. Il faut vérifier les préconditions, les décisions humaines et les conséquences documentaires de chaque transition. In-progress, Blocked et Ready-to-close occupent le créneau actif. Stand-by concerne le parent suspendu pendant un sous-lot. Les états exceptionnels ont une définition précise et conservent les fichiers. La référence complète est distribuée avec les ressources, au chapitre 19 de la spécification. Utilisez-la lorsque la situation sort du cycle nominal plutôt que d'improviser un passage d'un état à un autre.</a:t>
            </a:r>
          </a:p>
          <a:p xmlns:a="http://schemas.openxmlformats.org/drawingml/2006/main">
            <a:r>
              <a:t/>
            </a:r>
          </a:p>
          <a:p xmlns:a="http://schemas.openxmlformats.org/drawingml/2006/main">
            <a:r>
              <a:t>Transition : Annexe • contrôle de fermeture</a:t>
            </a:r>
          </a:p>
          <a:p xmlns:a="http://schemas.openxmlformats.org/drawingml/2006/main">
            <a:r>
              <a:t/>
            </a:r>
          </a:p>
          <a:p xmlns:a="http://schemas.openxmlformats.org/drawingml/2006/main">
            <a:r>
              <a:t>Sources</a:t>
            </a:r>
          </a:p>
          <a:p xmlns:a="http://schemas.openxmlformats.org/drawingml/2006/main">
            <a:r>
              <a:t>SAW-FR/SAW-3.2-SPECIFICATION.md §19–20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70 — Annexe • contrôle de fermeture</a:t>
            </a:r>
          </a:p>
          <a:p xmlns:a="http://schemas.openxmlformats.org/drawingml/2006/main">
            <a:r>
              <a:t>Module : Annexes de référence | Durée indicative : annexe à consulter</a:t>
            </a:r>
          </a:p>
          <a:p xmlns:a="http://schemas.openxmlformats.org/drawingml/2006/main">
            <a:r>
              <a:t>Objectif : Retrouver les principales conditions de fermeture.</a:t>
            </a:r>
          </a:p>
          <a:p xmlns:a="http://schemas.openxmlformats.org/drawingml/2006/main">
            <a:r>
              <a:t/>
            </a:r>
          </a:p>
          <a:p xmlns:a="http://schemas.openxmlformats.org/drawingml/2006/main">
            <a:r>
              <a:t>Texte à prononcer</a:t>
            </a:r>
          </a:p>
          <a:p xmlns:a="http://schemas.openxmlformats.org/drawingml/2006/main">
            <a:r>
              <a:t>Ce contrôle est un aide-mémoire. La procédure normative détaillée conserve l'ordre et les préconditions applicables. Vérifiez les définitions actives, les retraits et les remplacements de gates, puis leurs verdicts. Contrôlez la validité des évaluations et des décisions N/A. Examinez chaque exigence et chaque finding. Préparez la convergence et faites prendre les décisions requises. Toute modification pendant la préparation peut imposer de revenir aux validations. Après l'acceptation humaine, finalisez la convergence et les mises à jour, vérifiez la cohérence puis inscrivez Closed dans STATUS en dernier. La liste synthétique ne permet pas de contourner une obligation de la méthode.</a:t>
            </a:r>
          </a:p>
          <a:p xmlns:a="http://schemas.openxmlformats.org/drawingml/2006/main">
            <a:r>
              <a:t/>
            </a:r>
          </a:p>
          <a:p xmlns:a="http://schemas.openxmlformats.org/drawingml/2006/main">
            <a:r>
              <a:t>Transition : Annexe • décisions réservées à l’humain</a:t>
            </a:r>
          </a:p>
          <a:p xmlns:a="http://schemas.openxmlformats.org/drawingml/2006/main">
            <a:r>
              <a:t/>
            </a:r>
          </a:p>
          <a:p xmlns:a="http://schemas.openxmlformats.org/drawingml/2006/main">
            <a:r>
              <a:t>Sources</a:t>
            </a:r>
          </a:p>
          <a:p xmlns:a="http://schemas.openxmlformats.org/drawingml/2006/main">
            <a:r>
              <a:t>SAW-FR/SAW-3.2-SPECIFICATION.md §23–24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71 — Annexe • décisions réservées à l’humain</a:t>
            </a:r>
          </a:p>
          <a:p xmlns:a="http://schemas.openxmlformats.org/drawingml/2006/main">
            <a:r>
              <a:t>Module : Annexes de référence | Durée indicative : annexe à consulter</a:t>
            </a:r>
          </a:p>
          <a:p xmlns:a="http://schemas.openxmlformats.org/drawingml/2006/main">
            <a:r>
              <a:t>Objectif : Retrouver les responsabilités humaines.</a:t>
            </a:r>
          </a:p>
          <a:p xmlns:a="http://schemas.openxmlformats.org/drawingml/2006/main">
            <a:r>
              <a:t/>
            </a:r>
          </a:p>
          <a:p xmlns:a="http://schemas.openxmlformats.org/drawingml/2006/main">
            <a:r>
              <a:t>Texte à prononcer</a:t>
            </a:r>
          </a:p>
          <a:p xmlns:a="http://schemas.openxmlformats.org/drawingml/2006/main">
            <a:r>
              <a:t>L'IA peut préparer les opérations réservées à l'humain, mais la décision requise doit intervenir avant leur application. Le démarrage du lot est également humain. Le ledger conserve les décisions durables et celles pour lesquelles le protocole l'exige. Une fermeture totale ordinaire peut être attestée dans la convergence sans entrée de fermeture supplémentaire au ledger. Une décision déjà documentée et suffisamment claire ne doit pas être redemandée lorsque seule son application reste à achever. Dans tous les cas, nous distinguons ce qui a été autorisé, ce qui a été effectué et le résultat effectivement présenté.</a:t>
            </a:r>
          </a:p>
          <a:p xmlns:a="http://schemas.openxmlformats.org/drawingml/2006/main">
            <a:r>
              <a:t/>
            </a:r>
          </a:p>
          <a:p xmlns:a="http://schemas.openxmlformats.org/drawingml/2006/main">
            <a:r>
              <a:t>Transition : Annexe • sources et repères</a:t>
            </a:r>
          </a:p>
          <a:p xmlns:a="http://schemas.openxmlformats.org/drawingml/2006/main">
            <a:r>
              <a:t/>
            </a:r>
          </a:p>
          <a:p xmlns:a="http://schemas.openxmlformats.org/drawingml/2006/main">
            <a:r>
              <a:t>Sources</a:t>
            </a:r>
          </a:p>
          <a:p xmlns:a="http://schemas.openxmlformats.org/drawingml/2006/main">
            <a:r>
              <a:t>SAW-FR/SAW-3.2-SPECIFICATION.md §18.4, §19.3, §22.8,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72 — Annexe • sources et repères</a:t>
            </a:r>
          </a:p>
          <a:p xmlns:a="http://schemas.openxmlformats.org/drawingml/2006/main">
            <a:r>
              <a:t>Module : Annexes de référence | Durée indicative : annexe à consulter</a:t>
            </a:r>
          </a:p>
          <a:p xmlns:a="http://schemas.openxmlformats.org/drawingml/2006/main">
            <a:r>
              <a:t>Objectif : Identifier les références et la provenance des exemples.</a:t>
            </a:r>
          </a:p>
          <a:p xmlns:a="http://schemas.openxmlformats.org/drawingml/2006/main">
            <a:r>
              <a:t/>
            </a:r>
          </a:p>
          <a:p xmlns:a="http://schemas.openxmlformats.org/drawingml/2006/main">
            <a:r>
              <a:t>Texte à prononcer</a:t>
            </a:r>
          </a:p>
          <a:p xmlns:a="http://schemas.openxmlformats.org/drawingml/2006/main">
            <a:r>
              <a:t>Les sources normatives et les fichiers nécessaires aux démonstrations sont distribués dans Ressources. La correction du 2 octobre 2026 retire la section 14 bis.4 et les obligations dérivées de script de contrôle. La révision déclarée dans les fichiers sources est conservée. Les fichiers TextAid utilisés sont copiés comme traces historiques, sans modification de leurs validations ou convergences. Les illustrations et la couverture proviennent des assets fournis par l'auteur. Les exemples pédagogiques sont identifiés dans les slides, les fiches d'atelier et le script. Consultez les notes de chaque slide pour retrouver sa référence précise.</a:t>
            </a:r>
          </a:p>
          <a:p xmlns:a="http://schemas.openxmlformats.org/drawingml/2006/main">
            <a:r>
              <a:t/>
            </a:r>
          </a:p>
          <a:p xmlns:a="http://schemas.openxmlformats.org/drawingml/2006/main">
            <a:r>
              <a:t>Fin des annexes de référence.</a:t>
            </a:r>
          </a:p>
          <a:p xmlns:a="http://schemas.openxmlformats.org/drawingml/2006/main">
            <a:r>
              <a:t/>
            </a:r>
          </a:p>
          <a:p xmlns:a="http://schemas.openxmlformats.org/drawingml/2006/main">
            <a:r>
              <a:t>Sources</a:t>
            </a:r>
          </a:p>
          <a:p xmlns:a="http://schemas.openxmlformats.org/drawingml/2006/main">
            <a:r>
              <a:t>Spécifications SAW locales corrigées le 2026-10-02 ; TextAid ; assets du livre fournis par Olivier Dahan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2c492c80914a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57866634c94a37" /><Relationship Type="http://schemas.openxmlformats.org/officeDocument/2006/relationships/slideLayout" Target="/ppt/slideLayouts/slideLayout1.xml" Id="R2d80427e7b5140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80427e7b5140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8f77c2d331483e" /><Relationship Type="http://schemas.openxmlformats.org/officeDocument/2006/relationships/image" Target="/ppt/media/image.png" Id="R10ad5061f82c4dd4" /><Relationship Type="http://schemas.openxmlformats.org/officeDocument/2006/relationships/notesSlide" Target="/ppt/notesSlides/notesSlide1.xml" Id="R55165d8f878c4e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bfde82746d34439" /><Relationship Type="http://schemas.openxmlformats.org/officeDocument/2006/relationships/notesSlide" Target="/ppt/notesSlides/notesSlide2.xml" Id="R3085ce63d3d94b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ea9d22e32e494e" /><Relationship Type="http://schemas.openxmlformats.org/officeDocument/2006/relationships/image" Target="/ppt/media/image2.png" Id="R55a74b223d944700" /><Relationship Type="http://schemas.openxmlformats.org/officeDocument/2006/relationships/notesSlide" Target="/ppt/notesSlides/notesSlide3.xml" Id="R7d41e2db43f644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03097557f5421b" /><Relationship Type="http://schemas.openxmlformats.org/officeDocument/2006/relationships/image" Target="/ppt/media/image3.png" Id="Rebf96b85fd0b41a8" /><Relationship Type="http://schemas.openxmlformats.org/officeDocument/2006/relationships/hyperlink" Target="https://www.amazon.fr/dp/B0HKLSFMM3" TargetMode="External" Id="R89cb77acdb2e48a0" /><Relationship Type="http://schemas.openxmlformats.org/officeDocument/2006/relationships/notesSlide" Target="/ppt/notesSlides/notesSlide4.xml" Id="R66a6fe8a78314f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4732595a4e4e25" /><Relationship Type="http://schemas.openxmlformats.org/officeDocument/2006/relationships/notesSlide" Target="/ppt/notesSlides/notesSlide5.xml" Id="R23d5fdbedc2b49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fffca82e7604288" /><Relationship Type="http://schemas.openxmlformats.org/officeDocument/2006/relationships/image" Target="/ppt/media/image4.png" Id="R5aff3d487aab4ef9" /><Relationship Type="http://schemas.openxmlformats.org/officeDocument/2006/relationships/notesSlide" Target="/ppt/notesSlides/notesSlide6.xml" Id="Re64b57f3898c45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239be2b849467c" /><Relationship Type="http://schemas.openxmlformats.org/officeDocument/2006/relationships/notesSlide" Target="/ppt/notesSlides/notesSlide7.xml" Id="R62815728729045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b6bb8b82774148" /><Relationship Type="http://schemas.openxmlformats.org/officeDocument/2006/relationships/notesSlide" Target="/ppt/notesSlides/notesSlide8.xml" Id="R1bf72fc72ff940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4cbf81b91b41e3" /><Relationship Type="http://schemas.openxmlformats.org/officeDocument/2006/relationships/notesSlide" Target="/ppt/notesSlides/notesSlide9.xml" Id="Refd92db6f07645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afb2cf562c4904" /><Relationship Type="http://schemas.openxmlformats.org/officeDocument/2006/relationships/notesSlide" Target="/ppt/notesSlides/notesSlide10.xml" Id="R59867d48c4b24c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bec14948d60419f" /><Relationship Type="http://schemas.openxmlformats.org/officeDocument/2006/relationships/notesSlide" Target="/ppt/notesSlides/notesSlide11.xml" Id="R70bdac331f414e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2519c1b808b4e8e" /><Relationship Type="http://schemas.openxmlformats.org/officeDocument/2006/relationships/notesSlide" Target="/ppt/notesSlides/notesSlide12.xml" Id="Re19de150d4da48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579bb93b094188" /><Relationship Type="http://schemas.openxmlformats.org/officeDocument/2006/relationships/notesSlide" Target="/ppt/notesSlides/notesSlide13.xml" Id="Rea9cfb236f724e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c61899be0824bd0" /><Relationship Type="http://schemas.openxmlformats.org/officeDocument/2006/relationships/notesSlide" Target="/ppt/notesSlides/notesSlide14.xml" Id="Rbc6d2d12c5b04b3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a96cf649e8f49b3" /><Relationship Type="http://schemas.openxmlformats.org/officeDocument/2006/relationships/notesSlide" Target="/ppt/notesSlides/notesSlide15.xml" Id="Rdd725a89fda04e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9e7983199504631" /><Relationship Type="http://schemas.openxmlformats.org/officeDocument/2006/relationships/notesSlide" Target="/ppt/notesSlides/notesSlide16.xml" Id="R0a23fd02fa6449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39005cc0fcd44f3" /><Relationship Type="http://schemas.openxmlformats.org/officeDocument/2006/relationships/notesSlide" Target="/ppt/notesSlides/notesSlide17.xml" Id="Rdcf7a4059c8241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59565f1c7294983" /><Relationship Type="http://schemas.openxmlformats.org/officeDocument/2006/relationships/notesSlide" Target="/ppt/notesSlides/notesSlide18.xml" Id="Re9477ab0d133480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2b366c4d7b7400b" /><Relationship Type="http://schemas.openxmlformats.org/officeDocument/2006/relationships/notesSlide" Target="/ppt/notesSlides/notesSlide19.xml" Id="R14747886192c4b3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db460b5fb01454f" /><Relationship Type="http://schemas.openxmlformats.org/officeDocument/2006/relationships/notesSlide" Target="/ppt/notesSlides/notesSlide20.xml" Id="R23b24ba06d934cb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990d790fb974b75" /><Relationship Type="http://schemas.openxmlformats.org/officeDocument/2006/relationships/notesSlide" Target="/ppt/notesSlides/notesSlide21.xml" Id="Rb9ef4c01783349a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1dd8cf30383455c" /><Relationship Type="http://schemas.openxmlformats.org/officeDocument/2006/relationships/notesSlide" Target="/ppt/notesSlides/notesSlide22.xml" Id="Rf6695acf777d497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f518b1c8fed4e68" /><Relationship Type="http://schemas.openxmlformats.org/officeDocument/2006/relationships/notesSlide" Target="/ppt/notesSlides/notesSlide23.xml" Id="R3c1c2f418d6a4fa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200eb15d2104321" /><Relationship Type="http://schemas.openxmlformats.org/officeDocument/2006/relationships/notesSlide" Target="/ppt/notesSlides/notesSlide24.xml" Id="Ree5e145140774d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551f7f4ba6d4e67" /><Relationship Type="http://schemas.openxmlformats.org/officeDocument/2006/relationships/notesSlide" Target="/ppt/notesSlides/notesSlide25.xml" Id="Rd5984b0be023461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e36dcff3172427a" /><Relationship Type="http://schemas.openxmlformats.org/officeDocument/2006/relationships/notesSlide" Target="/ppt/notesSlides/notesSlide26.xml" Id="R3c1768fd71c0441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f9e033263e84081" /><Relationship Type="http://schemas.openxmlformats.org/officeDocument/2006/relationships/notesSlide" Target="/ppt/notesSlides/notesSlide27.xml" Id="R371af5017add4be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e83f559db6c4947" /><Relationship Type="http://schemas.openxmlformats.org/officeDocument/2006/relationships/notesSlide" Target="/ppt/notesSlides/notesSlide28.xml" Id="Raea431e9c7884fe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d7a78a6b5f44a65" /><Relationship Type="http://schemas.openxmlformats.org/officeDocument/2006/relationships/notesSlide" Target="/ppt/notesSlides/notesSlide29.xml" Id="Ra67d877b079148c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b125e6f2df84114" /><Relationship Type="http://schemas.openxmlformats.org/officeDocument/2006/relationships/notesSlide" Target="/ppt/notesSlides/notesSlide30.xml" Id="R79cc23f80537407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2bff9326774787" /><Relationship Type="http://schemas.openxmlformats.org/officeDocument/2006/relationships/notesSlide" Target="/ppt/notesSlides/notesSlide31.xml" Id="R2c84ba47be174d8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359c742df2f4608" /><Relationship Type="http://schemas.openxmlformats.org/officeDocument/2006/relationships/notesSlide" Target="/ppt/notesSlides/notesSlide32.xml" Id="R01a0291aff1e4d3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22b45be60ef4dcb" /><Relationship Type="http://schemas.openxmlformats.org/officeDocument/2006/relationships/notesSlide" Target="/ppt/notesSlides/notesSlide33.xml" Id="Rb0936e8faf9a42c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16b49ea40e74a03" /><Relationship Type="http://schemas.openxmlformats.org/officeDocument/2006/relationships/notesSlide" Target="/ppt/notesSlides/notesSlide34.xml" Id="R1684a51ced0e435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6f8a4113f804c87" /><Relationship Type="http://schemas.openxmlformats.org/officeDocument/2006/relationships/notesSlide" Target="/ppt/notesSlides/notesSlide35.xml" Id="R7246bce4f03d48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50ed515fa6745dc" /><Relationship Type="http://schemas.openxmlformats.org/officeDocument/2006/relationships/notesSlide" Target="/ppt/notesSlides/notesSlide36.xml" Id="R26ab717ed07e426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9297d35e8824703" /><Relationship Type="http://schemas.openxmlformats.org/officeDocument/2006/relationships/notesSlide" Target="/ppt/notesSlides/notesSlide37.xml" Id="Rbb1e78ab421648c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9a03e743c8b4e31" /><Relationship Type="http://schemas.openxmlformats.org/officeDocument/2006/relationships/notesSlide" Target="/ppt/notesSlides/notesSlide38.xml" Id="R26fa002a02484e7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be7f5a77892406d" /><Relationship Type="http://schemas.openxmlformats.org/officeDocument/2006/relationships/notesSlide" Target="/ppt/notesSlides/notesSlide39.xml" Id="Rf0a6294d6c3944d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88fbc0d4c6e4a7f" /><Relationship Type="http://schemas.openxmlformats.org/officeDocument/2006/relationships/notesSlide" Target="/ppt/notesSlides/notesSlide40.xml" Id="R9b39c385560d457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a3cfb21a3f44efb" /><Relationship Type="http://schemas.openxmlformats.org/officeDocument/2006/relationships/notesSlide" Target="/ppt/notesSlides/notesSlide41.xml" Id="Racef6206bea54ce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f2ce6fb1cf74ad4" /><Relationship Type="http://schemas.openxmlformats.org/officeDocument/2006/relationships/notesSlide" Target="/ppt/notesSlides/notesSlide42.xml" Id="R2bf8f2e12f9f428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eccbc25ec374b6d" /><Relationship Type="http://schemas.openxmlformats.org/officeDocument/2006/relationships/notesSlide" Target="/ppt/notesSlides/notesSlide43.xml" Id="R96a859a874fd406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3e360eef0384c66" /><Relationship Type="http://schemas.openxmlformats.org/officeDocument/2006/relationships/notesSlide" Target="/ppt/notesSlides/notesSlide44.xml" Id="R05ef837f2cee494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b8fba31f56849a7" /><Relationship Type="http://schemas.openxmlformats.org/officeDocument/2006/relationships/notesSlide" Target="/ppt/notesSlides/notesSlide45.xml" Id="Rb10b6c820acd435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2bb69b749d74bcf" /><Relationship Type="http://schemas.openxmlformats.org/officeDocument/2006/relationships/notesSlide" Target="/ppt/notesSlides/notesSlide46.xml" Id="Rf07d93c946794ec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35d24c21e4b4d12" /><Relationship Type="http://schemas.openxmlformats.org/officeDocument/2006/relationships/notesSlide" Target="/ppt/notesSlides/notesSlide47.xml" Id="Rea31d5641221420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90d325397a84e48" /><Relationship Type="http://schemas.openxmlformats.org/officeDocument/2006/relationships/notesSlide" Target="/ppt/notesSlides/notesSlide48.xml" Id="R6cf383aeb65c4e5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595e9c326ac4346" /><Relationship Type="http://schemas.openxmlformats.org/officeDocument/2006/relationships/notesSlide" Target="/ppt/notesSlides/notesSlide49.xml" Id="Re272122986da4c9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b4001455dd94a14" /><Relationship Type="http://schemas.openxmlformats.org/officeDocument/2006/relationships/notesSlide" Target="/ppt/notesSlides/notesSlide50.xml" Id="Rfd49e31922784b2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4e63f578b494ec6" /><Relationship Type="http://schemas.openxmlformats.org/officeDocument/2006/relationships/notesSlide" Target="/ppt/notesSlides/notesSlide51.xml" Id="R18a7b3673876472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3e0e392118347c5" /><Relationship Type="http://schemas.openxmlformats.org/officeDocument/2006/relationships/notesSlide" Target="/ppt/notesSlides/notesSlide52.xml" Id="R7dc13f804bbb445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f4789db8ecc4162" /><Relationship Type="http://schemas.openxmlformats.org/officeDocument/2006/relationships/notesSlide" Target="/ppt/notesSlides/notesSlide53.xml" Id="R636ea4525b1b49d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24c554bdd4364e40" /><Relationship Type="http://schemas.openxmlformats.org/officeDocument/2006/relationships/notesSlide" Target="/ppt/notesSlides/notesSlide54.xml" Id="R969e46b26b254e2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d6c8fadfc7c4104" /><Relationship Type="http://schemas.openxmlformats.org/officeDocument/2006/relationships/notesSlide" Target="/ppt/notesSlides/notesSlide55.xml" Id="Rf9378a0896c04fb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d33e2cc44bd4abc" /><Relationship Type="http://schemas.openxmlformats.org/officeDocument/2006/relationships/notesSlide" Target="/ppt/notesSlides/notesSlide56.xml" Id="Rbc0952fee5864cf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7802f06c85546c3" /><Relationship Type="http://schemas.openxmlformats.org/officeDocument/2006/relationships/notesSlide" Target="/ppt/notesSlides/notesSlide57.xml" Id="R8f58411e15924c4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1eaa2ff897148c2" /><Relationship Type="http://schemas.openxmlformats.org/officeDocument/2006/relationships/notesSlide" Target="/ppt/notesSlides/notesSlide58.xml" Id="R1a19e5f9983d46e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4fed5bda10840e2" /><Relationship Type="http://schemas.openxmlformats.org/officeDocument/2006/relationships/notesSlide" Target="/ppt/notesSlides/notesSlide59.xml" Id="Rda947440581f4fa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5976fd937ce441b" /><Relationship Type="http://schemas.openxmlformats.org/officeDocument/2006/relationships/notesSlide" Target="/ppt/notesSlides/notesSlide60.xml" Id="Ra202249872f6476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76bf293f000b4ad3" /><Relationship Type="http://schemas.openxmlformats.org/officeDocument/2006/relationships/notesSlide" Target="/ppt/notesSlides/notesSlide61.xml" Id="R89b17dbd73fd43a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23cdbb3194f34736" /><Relationship Type="http://schemas.openxmlformats.org/officeDocument/2006/relationships/notesSlide" Target="/ppt/notesSlides/notesSlide62.xml" Id="R4ff7f87f030442e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5f18c965f8f4223" /><Relationship Type="http://schemas.openxmlformats.org/officeDocument/2006/relationships/notesSlide" Target="/ppt/notesSlides/notesSlide63.xml" Id="R02ce421876bc401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ef4371c9b69d486f" /><Relationship Type="http://schemas.openxmlformats.org/officeDocument/2006/relationships/notesSlide" Target="/ppt/notesSlides/notesSlide64.xml" Id="R037e6a5b890e4a2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063df9ffc5ef44ff" /><Relationship Type="http://schemas.openxmlformats.org/officeDocument/2006/relationships/notesSlide" Target="/ppt/notesSlides/notesSlide65.xml" Id="R273746b00cbc41d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07e2daec6b334a95" /><Relationship Type="http://schemas.openxmlformats.org/officeDocument/2006/relationships/notesSlide" Target="/ppt/notesSlides/notesSlide66.xml" Id="R4d66c42f9b7a4c58"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7f858de56274c71" /><Relationship Type="http://schemas.openxmlformats.org/officeDocument/2006/relationships/notesSlide" Target="/ppt/notesSlides/notesSlide67.xml" Id="Rcbd60f00c29646cf"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fb4c6d8557144adf" /><Relationship Type="http://schemas.openxmlformats.org/officeDocument/2006/relationships/notesSlide" Target="/ppt/notesSlides/notesSlide68.xml" Id="R5df8816809c14dc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11c18cb3d82c47e3" /><Relationship Type="http://schemas.openxmlformats.org/officeDocument/2006/relationships/notesSlide" Target="/ppt/notesSlides/notesSlide69.xml" Id="R2b4170a1a2914970"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c860ad05681f4721" /><Relationship Type="http://schemas.openxmlformats.org/officeDocument/2006/relationships/notesSlide" Target="/ppt/notesSlides/notesSlide70.xml" Id="R08ca5f5f972e49b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bda8ffdc7cc34220" /><Relationship Type="http://schemas.openxmlformats.org/officeDocument/2006/relationships/notesSlide" Target="/ppt/notesSlides/notesSlide71.xml" Id="Rf0c17817c4ce463b"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f023337c57b24db7" /><Relationship Type="http://schemas.openxmlformats.org/officeDocument/2006/relationships/notesSlide" Target="/ppt/notesSlides/notesSlide72.xml" Id="Rf6d0606f9bbd4cd1" /></Relationships>
</file>

<file path=ppt/slides/slide1.xml><?xml version="1.0" encoding="utf-8"?>
<p:sld xmlns:p="http://schemas.openxmlformats.org/presentationml/2006/main">
  <p:cSld>
    <p:bg>
      <p:bgPr>
        <a:solidFill xmlns:a="http://schemas.openxmlformats.org/drawingml/2006/main">
          <a:srgbClr val="0D1B29"/>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10ad5061f82c4dd4"/>
          <a:stretch xmlns:a="http://schemas.openxmlformats.org/drawingml/2006/main"/>
        </p:blipFill>
        <p:spPr>
          <a:xfrm xmlns:a="http://schemas.openxmlformats.org/drawingml/2006/main">
            <a:off x="685800" y="605689"/>
            <a:ext cx="3048000" cy="998422"/>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47A7ABFA-94C1-4739-9B7E-1E5C20617AD3}"/>
              </a:ext>
            </a:extLst>
          </p:cNvPr>
          <p:cNvSpPr>
            <a:spLocks xmlns:a="http://schemas.openxmlformats.org/drawingml/2006/main" noGrp="1"/>
          </p:cNvSpPr>
          <p:nvPr/>
        </p:nvSpPr>
        <p:spPr>
          <a:xfrm xmlns:a="http://schemas.openxmlformats.org/drawingml/2006/main">
            <a:off x="685800" y="21717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F1F6FA"/>
                </a:solidFill>
                <a:latin typeface="Arial"/>
                <a:ea typeface="Arial"/>
                <a:cs typeface="Arial"/>
              </a:defRPr>
            </a:pPr>
            <a:r>
              <a:rPr sz="5400" b="1">
                <a:solidFill>
                  <a:srgbClr val="F1F6FA"/>
                </a:solidFill>
                <a:latin typeface="Arial"/>
                <a:ea typeface="Arial"/>
                <a:cs typeface="Arial"/>
              </a:rPr>
              <a:t>SAW 3.2 en pratique</a:t>
            </a:r>
          </a:p>
        </p:txBody>
      </p:sp>
      <p:sp>
        <p:nvSpPr>
          <p:cNvPr id="3" name="subtitle">
            <a:extLst xmlns:a="http://schemas.openxmlformats.org/drawingml/2006/main">
              <a:ext uri="{FF2B5EF4-FFF2-40B4-BE49-F238E27FC236}">
                <a16:creationId xmlns:a16="http://schemas.microsoft.com/office/drawing/2014/main" id="{43447713-4591-494B-913A-690973E78C6A}"/>
              </a:ext>
            </a:extLst>
          </p:cNvPr>
          <p:cNvSpPr>
            <a:spLocks xmlns:a="http://schemas.openxmlformats.org/drawingml/2006/main" noGrp="1"/>
          </p:cNvSpPr>
          <p:nvPr/>
        </p:nvSpPr>
        <p:spPr>
          <a:xfrm xmlns:a="http://schemas.openxmlformats.org/drawingml/2006/main">
            <a:off x="685800" y="3600450"/>
            <a:ext cx="1000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CDDFE9"/>
                </a:solidFill>
                <a:latin typeface="Arial"/>
                <a:ea typeface="Arial"/>
                <a:cs typeface="Arial"/>
              </a:defRPr>
            </a:pPr>
            <a:r>
              <a:rPr sz="2700" b="0">
                <a:solidFill>
                  <a:srgbClr val="CDDFE9"/>
                </a:solidFill>
                <a:latin typeface="Arial"/>
                <a:ea typeface="Arial"/>
                <a:cs typeface="Arial"/>
              </a:rPr>
              <a:t>Apprendre à piloter un projet avec une IA</a:t>
            </a:r>
          </a:p>
          <a:p xmlns:a="http://schemas.openxmlformats.org/drawingml/2006/main">
            <a:pPr>
              <a:defRPr sz="2700" b="0">
                <a:solidFill>
                  <a:srgbClr val="CDDFE9"/>
                </a:solidFill>
                <a:latin typeface="Arial"/>
                <a:ea typeface="Arial"/>
                <a:cs typeface="Arial"/>
              </a:defRPr>
            </a:pPr>
            <a:r>
              <a:rPr sz="2700" b="0">
                <a:solidFill>
                  <a:srgbClr val="CDDFE9"/>
                </a:solidFill>
                <a:latin typeface="Arial"/>
                <a:ea typeface="Arial"/>
                <a:cs typeface="Arial"/>
              </a:rPr>
              <a:t>Un lot complet, des fichiers concrets, des décisions explicites</a:t>
            </a:r>
          </a:p>
        </p:txBody>
      </p:sp>
      <p:sp>
        <p:nvSpPr>
          <p:cNvPr id="4" name="author">
            <a:extLst xmlns:a="http://schemas.openxmlformats.org/drawingml/2006/main">
              <a:ext uri="{FF2B5EF4-FFF2-40B4-BE49-F238E27FC236}">
                <a16:creationId xmlns:a16="http://schemas.microsoft.com/office/drawing/2014/main" id="{3F8DD5E6-61F6-4365-9339-83A6BB24C88E}"/>
              </a:ext>
            </a:extLst>
          </p:cNvPr>
          <p:cNvSpPr>
            <a:spLocks xmlns:a="http://schemas.openxmlformats.org/drawingml/2006/main" noGrp="1"/>
          </p:cNvSpPr>
          <p:nvPr/>
        </p:nvSpPr>
        <p:spPr>
          <a:xfrm xmlns:a="http://schemas.openxmlformats.org/drawingml/2006/main">
            <a:off x="685800" y="556260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3CF83"/>
                </a:solidFill>
                <a:latin typeface="Arial"/>
                <a:ea typeface="Arial"/>
                <a:cs typeface="Arial"/>
              </a:defRPr>
            </a:pPr>
            <a:r>
              <a:rPr sz="2025" b="0">
                <a:solidFill>
                  <a:srgbClr val="F3CF83"/>
                </a:solidFill>
                <a:latin typeface="Arial"/>
                <a:ea typeface="Arial"/>
                <a:cs typeface="Arial"/>
              </a:rPr>
              <a:t>Olivier Dahan • SDD Another Way</a:t>
            </a:r>
          </a:p>
        </p:txBody>
      </p:sp>
      <p:sp>
        <p:nvSpPr>
          <p:cNvPr id="5" name="slide-number">
            <a:extLst xmlns:a="http://schemas.openxmlformats.org/drawingml/2006/main">
              <a:ext uri="{FF2B5EF4-FFF2-40B4-BE49-F238E27FC236}">
                <a16:creationId xmlns:a16="http://schemas.microsoft.com/office/drawing/2014/main" id="{21ECC2D5-95E1-456B-8767-39AD822B0D5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BC0D3"/>
                </a:solidFill>
                <a:latin typeface="Arial"/>
                <a:ea typeface="Arial"/>
                <a:cs typeface="Arial"/>
              </a:defRPr>
            </a:pPr>
            <a:r>
              <a:rPr sz="1350" b="0">
                <a:solidFill>
                  <a:srgbClr val="ABC0D3"/>
                </a:solidFill>
                <a:latin typeface="Arial"/>
                <a:ea typeface="Arial"/>
                <a:cs typeface="Arial"/>
              </a:rPr>
              <a:t>01</a:t>
            </a:r>
          </a:p>
        </p:txBody>
      </p:sp>
    </p:spTree>
    <p:extLst>
      <p:ext uri="{BB962C8B-B14F-4D97-AF65-F5344CB8AC3E}">
        <p14:creationId xmlns:p14="http://schemas.microsoft.com/office/powerpoint/2010/main" val="8501271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3C88F782-B413-426C-8DD9-0B1A79665DE4}"/>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01  PRÉSENTATION GÉNÉRALE</a:t>
            </a:r>
          </a:p>
        </p:txBody>
      </p:sp>
      <p:sp>
        <p:nvSpPr>
          <p:cNvPr id="2" name="title">
            <a:extLst xmlns:a="http://schemas.openxmlformats.org/drawingml/2006/main">
              <a:ext uri="{FF2B5EF4-FFF2-40B4-BE49-F238E27FC236}">
                <a16:creationId xmlns:a16="http://schemas.microsoft.com/office/drawing/2014/main" id="{E7C44C43-22DD-4E96-BBE8-868E13AF79C2}"/>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Ce que vous saurez faire</a:t>
            </a:r>
          </a:p>
        </p:txBody>
      </p:sp>
      <p:sp>
        <p:nvSpPr>
          <p:cNvPr id="3" name="item-1">
            <a:extLst xmlns:a="http://schemas.openxmlformats.org/drawingml/2006/main">
              <a:ext uri="{FF2B5EF4-FFF2-40B4-BE49-F238E27FC236}">
                <a16:creationId xmlns:a16="http://schemas.microsoft.com/office/drawing/2014/main" id="{20E78614-D1E1-47AA-BF4A-A1DE1D475811}"/>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Préparer un projet et définir un lot vérifiable</a:t>
            </a:r>
          </a:p>
        </p:txBody>
      </p:sp>
      <p:sp>
        <p:nvSpPr>
          <p:cNvPr id="4" name="item-2">
            <a:extLst xmlns:a="http://schemas.openxmlformats.org/drawingml/2006/main">
              <a:ext uri="{FF2B5EF4-FFF2-40B4-BE49-F238E27FC236}">
                <a16:creationId xmlns:a16="http://schemas.microsoft.com/office/drawing/2014/main" id="{23F38F22-9155-4AB0-A8A0-E29A9234CFA3}"/>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Déléguer son exécution et suivre les découvertes</a:t>
            </a:r>
          </a:p>
        </p:txBody>
      </p:sp>
      <p:sp>
        <p:nvSpPr>
          <p:cNvPr id="5" name="item-3">
            <a:extLst xmlns:a="http://schemas.openxmlformats.org/drawingml/2006/main">
              <a:ext uri="{FF2B5EF4-FFF2-40B4-BE49-F238E27FC236}">
                <a16:creationId xmlns:a16="http://schemas.microsoft.com/office/drawing/2014/main" id="{A563F32F-96F3-4BD6-8622-A4CC6006682D}"/>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Contrôler les gates et conduire une fermeture humaine</a:t>
            </a:r>
          </a:p>
        </p:txBody>
      </p:sp>
      <p:sp>
        <p:nvSpPr>
          <p:cNvPr id="6" name="item-4">
            <a:extLst xmlns:a="http://schemas.openxmlformats.org/drawingml/2006/main">
              <a:ext uri="{FF2B5EF4-FFF2-40B4-BE49-F238E27FC236}">
                <a16:creationId xmlns:a16="http://schemas.microsoft.com/office/drawing/2014/main" id="{23BD49DD-286D-4608-801E-F036E104D5F4}"/>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Reprendre le travail à partir des documents</a:t>
            </a:r>
          </a:p>
        </p:txBody>
      </p:sp>
      <p:sp>
        <p:nvSpPr>
          <p:cNvPr id="7" name="slide-number">
            <a:extLst xmlns:a="http://schemas.openxmlformats.org/drawingml/2006/main">
              <a:ext uri="{FF2B5EF4-FFF2-40B4-BE49-F238E27FC236}">
                <a16:creationId xmlns:a16="http://schemas.microsoft.com/office/drawing/2014/main" id="{F9549D34-1FAB-4BDF-9005-0E0E439EE8C4}"/>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02</a:t>
            </a:r>
          </a:p>
        </p:txBody>
      </p:sp>
    </p:spTree>
    <p:extLst>
      <p:ext uri="{BB962C8B-B14F-4D97-AF65-F5344CB8AC3E}">
        <p14:creationId xmlns:p14="http://schemas.microsoft.com/office/powerpoint/2010/main" val="5054204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module">
            <a:extLst xmlns:a="http://schemas.openxmlformats.org/drawingml/2006/main">
              <a:ext uri="{FF2B5EF4-FFF2-40B4-BE49-F238E27FC236}">
                <a16:creationId xmlns:a16="http://schemas.microsoft.com/office/drawing/2014/main" id="{4928BB6D-140A-4AA8-98F1-6F3CAACD61B5}"/>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01  PRÉSENTATION GÉNÉRALE</a:t>
            </a:r>
          </a:p>
        </p:txBody>
      </p:sp>
      <p:sp>
        <p:nvSpPr>
          <p:cNvPr id="2" name="title">
            <a:extLst xmlns:a="http://schemas.openxmlformats.org/drawingml/2006/main">
              <a:ext uri="{FF2B5EF4-FFF2-40B4-BE49-F238E27FC236}">
                <a16:creationId xmlns:a16="http://schemas.microsoft.com/office/drawing/2014/main" id="{47F899EF-854A-46B0-89F7-E3E76F015FC4}"/>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 besoin d’une intention explicite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5a74b223d944700"/>
          <a:stretch xmlns:a="http://schemas.openxmlformats.org/drawingml/2006/main"/>
        </p:blipFill>
        <p:spPr>
          <a:xfrm xmlns:a="http://schemas.openxmlformats.org/drawingml/2006/main">
            <a:off x="3858542" y="1952625"/>
            <a:ext cx="4474915" cy="342900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DF183A6F-0B31-4E7D-8C83-2D935CF1F1E1}"/>
              </a:ext>
            </a:extLst>
          </p:cNvPr>
          <p:cNvSpPr>
            <a:spLocks xmlns:a="http://schemas.openxmlformats.org/drawingml/2006/main" noGrp="1"/>
          </p:cNvSpPr>
          <p:nvPr/>
        </p:nvSpPr>
        <p:spPr>
          <a:xfrm xmlns:a="http://schemas.openxmlformats.org/drawingml/2006/main">
            <a:off x="685800" y="5648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B7B"/>
                </a:solidFill>
                <a:latin typeface="Arial"/>
                <a:ea typeface="Arial"/>
                <a:cs typeface="Arial"/>
              </a:defRPr>
            </a:pPr>
            <a:r>
              <a:rPr sz="1875" b="0">
                <a:solidFill>
                  <a:srgbClr val="566B7B"/>
                </a:solidFill>
                <a:latin typeface="Arial"/>
                <a:ea typeface="Arial"/>
                <a:cs typeface="Arial"/>
              </a:rPr>
              <a:t>Clarifier le besoin et les limites avant de demander une réalisation.</a:t>
            </a:r>
          </a:p>
        </p:txBody>
      </p:sp>
      <p:sp>
        <p:nvSpPr>
          <p:cNvPr id="5" name="slide-number">
            <a:extLst xmlns:a="http://schemas.openxmlformats.org/drawingml/2006/main">
              <a:ext uri="{FF2B5EF4-FFF2-40B4-BE49-F238E27FC236}">
                <a16:creationId xmlns:a16="http://schemas.microsoft.com/office/drawing/2014/main" id="{37BCB8E3-650D-44B5-9B2A-1AF888C80D9D}"/>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03</a:t>
            </a:r>
          </a:p>
        </p:txBody>
      </p:sp>
    </p:spTree>
    <p:extLst>
      <p:ext uri="{BB962C8B-B14F-4D97-AF65-F5344CB8AC3E}">
        <p14:creationId xmlns:p14="http://schemas.microsoft.com/office/powerpoint/2010/main" val="427679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dule">
            <a:extLst xmlns:a="http://schemas.openxmlformats.org/drawingml/2006/main">
              <a:ext uri="{FF2B5EF4-FFF2-40B4-BE49-F238E27FC236}">
                <a16:creationId xmlns:a16="http://schemas.microsoft.com/office/drawing/2014/main" id="{B172D7AB-416E-4D57-A6B5-73F396D0E0FE}"/>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01  PRÉSENTATION GÉNÉRALE</a:t>
            </a:r>
          </a:p>
        </p:txBody>
      </p:sp>
      <p:sp>
        <p:nvSpPr>
          <p:cNvPr id="2" name="title">
            <a:extLst xmlns:a="http://schemas.openxmlformats.org/drawingml/2006/main">
              <a:ext uri="{FF2B5EF4-FFF2-40B4-BE49-F238E27FC236}">
                <a16:creationId xmlns:a16="http://schemas.microsoft.com/office/drawing/2014/main" id="{075E13D5-6922-4D45-AED3-3825C5C7E59D}"/>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 livre et le périmètre du cours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bf96b85fd0b41a8"/>
          <a:stretch xmlns:a="http://schemas.openxmlformats.org/drawingml/2006/main"/>
        </p:blipFill>
        <p:spPr>
          <a:xfrm xmlns:a="http://schemas.openxmlformats.org/drawingml/2006/main">
            <a:off x="8219174" y="1952625"/>
            <a:ext cx="2383052" cy="3810000"/>
          </a:xfrm>
          <a:prstGeom xmlns:a="http://schemas.openxmlformats.org/drawingml/2006/main" prst="rect">
            <a:avLst/>
          </a:prstGeom>
        </p:spPr>
      </p:pic>
      <p:sp>
        <p:nvSpPr>
          <p:cNvPr id="4" name="booktext">
            <a:extLst xmlns:a="http://schemas.openxmlformats.org/drawingml/2006/main">
              <a:ext uri="{FF2B5EF4-FFF2-40B4-BE49-F238E27FC236}">
                <a16:creationId xmlns:a16="http://schemas.microsoft.com/office/drawing/2014/main" id="{A85FC7DB-0E05-4AB9-B9AE-D252C9815444}"/>
              </a:ext>
            </a:extLst>
          </p:cNvPr>
          <p:cNvSpPr>
            <a:spLocks xmlns:a="http://schemas.openxmlformats.org/drawingml/2006/main" noGrp="1"/>
          </p:cNvSpPr>
          <p:nvPr/>
        </p:nvSpPr>
        <p:spPr>
          <a:xfrm xmlns:a="http://schemas.openxmlformats.org/drawingml/2006/main">
            <a:off x="685800" y="2143125"/>
            <a:ext cx="6667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83044"/>
                </a:solidFill>
                <a:latin typeface="Arial"/>
                <a:ea typeface="Arial"/>
                <a:cs typeface="Arial"/>
              </a:defRPr>
            </a:pPr>
            <a:r>
              <a:rPr sz="2400" b="0">
                <a:solidFill>
                  <a:srgbClr val="183044"/>
                </a:solidFill>
                <a:latin typeface="Arial"/>
                <a:ea typeface="Arial"/>
                <a:cs typeface="Arial"/>
              </a:rPr>
              <a:t>Le développement piloté par les spécifications à l’ère des agents IA</a:t>
            </a:r>
          </a:p>
          <a:p xmlns:a="http://schemas.openxmlformats.org/drawingml/2006/main">
            <a:r>
              <a:t/>
            </a:r>
          </a:p>
          <a:p xmlns:a="http://schemas.openxmlformats.org/drawingml/2006/main">
            <a:pPr>
              <a:defRPr sz="2400" b="0">
                <a:solidFill>
                  <a:srgbClr val="183044"/>
                </a:solidFill>
                <a:latin typeface="Arial"/>
                <a:ea typeface="Arial"/>
                <a:cs typeface="Arial"/>
              </a:defRPr>
            </a:pPr>
            <a:r>
              <a:rPr sz="2400" b="0">
                <a:solidFill>
                  <a:srgbClr val="183044"/>
                </a:solidFill>
                <a:latin typeface="Arial"/>
                <a:ea typeface="Arial"/>
                <a:cs typeface="Arial"/>
              </a:rPr>
              <a:t>Le livre approfondit les raisons du SDD</a:t>
            </a:r>
          </a:p>
          <a:p xmlns:a="http://schemas.openxmlformats.org/drawingml/2006/main">
            <a:r>
              <a:t/>
            </a:r>
          </a:p>
          <a:p xmlns:a="http://schemas.openxmlformats.org/drawingml/2006/main">
            <a:pPr>
              <a:defRPr sz="2400" b="0">
                <a:solidFill>
                  <a:srgbClr val="183044"/>
                </a:solidFill>
                <a:latin typeface="Arial"/>
                <a:ea typeface="Arial"/>
                <a:cs typeface="Arial"/>
              </a:defRPr>
            </a:pPr>
            <a:r>
              <a:rPr sz="2400" b="0">
                <a:solidFill>
                  <a:srgbClr val="183044"/>
                </a:solidFill>
                <a:latin typeface="Arial"/>
                <a:ea typeface="Arial"/>
                <a:cs typeface="Arial"/>
              </a:rPr>
              <a:t>Le cours apprend les gestes de SAW, étape par étape</a:t>
            </a:r>
          </a:p>
        </p:txBody>
      </p:sp>
      <p:sp>
        <p:nvSpPr>
          <p:cNvPr id="5" name="booklink">
            <a:extLst xmlns:a="http://schemas.openxmlformats.org/drawingml/2006/main">
              <a:ext uri="{FF2B5EF4-FFF2-40B4-BE49-F238E27FC236}">
                <a16:creationId xmlns:a16="http://schemas.microsoft.com/office/drawing/2014/main" id="{646CA4E3-2421-4ED0-8263-0AB9F87F05A9}"/>
              </a:ext>
            </a:extLst>
          </p:cNvPr>
          <p:cNvSpPr>
            <a:spLocks xmlns:a="http://schemas.openxmlformats.org/drawingml/2006/main" noGrp="1"/>
          </p:cNvSpPr>
          <p:nvPr/>
        </p:nvSpPr>
        <p:spPr>
          <a:xfrm xmlns:a="http://schemas.openxmlformats.org/drawingml/2006/main">
            <a:off x="685800" y="5381625"/>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67E84"/>
                </a:solidFill>
                <a:latin typeface="Arial"/>
                <a:ea typeface="Arial"/>
                <a:cs typeface="Arial"/>
              </a:defRPr>
            </a:pPr>
            <a:r>
              <a:rPr sz="2100" b="1">
                <a:solidFill>
                  <a:srgbClr val="167E84"/>
                </a:solidFill>
                <a:latin typeface="Arial"/>
                <a:ea typeface="Arial"/>
                <a:cs typeface="Arial"/>
                <a:hlinkClick xmlns:r="http://schemas.openxmlformats.org/officeDocument/2006/relationships" r:id="R89cb77acdb2e48a0"/>
              </a:rPr>
              <a:t>Le livre sur Amazon</a:t>
            </a:r>
          </a:p>
        </p:txBody>
      </p:sp>
      <p:sp>
        <p:nvSpPr>
          <p:cNvPr id="6" name="slide-number">
            <a:extLst xmlns:a="http://schemas.openxmlformats.org/drawingml/2006/main">
              <a:ext uri="{FF2B5EF4-FFF2-40B4-BE49-F238E27FC236}">
                <a16:creationId xmlns:a16="http://schemas.microsoft.com/office/drawing/2014/main" id="{0DF15CDA-9960-499C-BAAC-E0C2DA77DC6F}"/>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04</a:t>
            </a:r>
          </a:p>
        </p:txBody>
      </p:sp>
    </p:spTree>
    <p:extLst>
      <p:ext uri="{BB962C8B-B14F-4D97-AF65-F5344CB8AC3E}">
        <p14:creationId xmlns:p14="http://schemas.microsoft.com/office/powerpoint/2010/main" val="15320370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744A450C-27AF-4846-AEDC-5B093B23F2C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01  PRÉSENTATION GÉNÉRALE</a:t>
            </a:r>
          </a:p>
        </p:txBody>
      </p:sp>
      <p:sp>
        <p:nvSpPr>
          <p:cNvPr id="2" name="title">
            <a:extLst xmlns:a="http://schemas.openxmlformats.org/drawingml/2006/main">
              <a:ext uri="{FF2B5EF4-FFF2-40B4-BE49-F238E27FC236}">
                <a16:creationId xmlns:a16="http://schemas.microsoft.com/office/drawing/2014/main" id="{72BE9896-A999-44F6-B500-D4F656E55EB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Les principes de SAW</a:t>
            </a:r>
          </a:p>
        </p:txBody>
      </p:sp>
      <p:sp>
        <p:nvSpPr>
          <p:cNvPr id="3" name="item-1">
            <a:extLst xmlns:a="http://schemas.openxmlformats.org/drawingml/2006/main">
              <a:ext uri="{FF2B5EF4-FFF2-40B4-BE49-F238E27FC236}">
                <a16:creationId xmlns:a16="http://schemas.microsoft.com/office/drawing/2014/main" id="{AC054570-9573-4550-8E39-6F225A5FA160}"/>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Les fichiers Markdown font autorité</a:t>
            </a:r>
          </a:p>
        </p:txBody>
      </p:sp>
      <p:sp>
        <p:nvSpPr>
          <p:cNvPr id="4" name="item-2">
            <a:extLst xmlns:a="http://schemas.openxmlformats.org/drawingml/2006/main">
              <a:ext uri="{FF2B5EF4-FFF2-40B4-BE49-F238E27FC236}">
                <a16:creationId xmlns:a16="http://schemas.microsoft.com/office/drawing/2014/main" id="{B15D909B-E965-45DF-A03E-8131DDF67C23}"/>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La méthode reste applicable manuellement</a:t>
            </a:r>
          </a:p>
        </p:txBody>
      </p:sp>
      <p:sp>
        <p:nvSpPr>
          <p:cNvPr id="5" name="item-3">
            <a:extLst xmlns:a="http://schemas.openxmlformats.org/drawingml/2006/main">
              <a:ext uri="{FF2B5EF4-FFF2-40B4-BE49-F238E27FC236}">
                <a16:creationId xmlns:a16="http://schemas.microsoft.com/office/drawing/2014/main" id="{4157B1FA-7153-477F-ABE5-2E789C53B8E3}"/>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L’IA réalise le travail et tient les documents</a:t>
            </a:r>
          </a:p>
        </p:txBody>
      </p:sp>
      <p:sp>
        <p:nvSpPr>
          <p:cNvPr id="6" name="item-4">
            <a:extLst xmlns:a="http://schemas.openxmlformats.org/drawingml/2006/main">
              <a:ext uri="{FF2B5EF4-FFF2-40B4-BE49-F238E27FC236}">
                <a16:creationId xmlns:a16="http://schemas.microsoft.com/office/drawing/2014/main" id="{9B87FA4C-5832-470A-B1D1-9A5C715A450A}"/>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L’humain garde les arbitrages et l’acceptation</a:t>
            </a:r>
          </a:p>
        </p:txBody>
      </p:sp>
      <p:sp>
        <p:nvSpPr>
          <p:cNvPr id="7" name="slide-number">
            <a:extLst xmlns:a="http://schemas.openxmlformats.org/drawingml/2006/main">
              <a:ext uri="{FF2B5EF4-FFF2-40B4-BE49-F238E27FC236}">
                <a16:creationId xmlns:a16="http://schemas.microsoft.com/office/drawing/2014/main" id="{CB635C92-CDE4-4503-BFC1-26C9F052DD9F}"/>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05</a:t>
            </a:r>
          </a:p>
        </p:txBody>
      </p:sp>
    </p:spTree>
    <p:extLst>
      <p:ext uri="{BB962C8B-B14F-4D97-AF65-F5344CB8AC3E}">
        <p14:creationId xmlns:p14="http://schemas.microsoft.com/office/powerpoint/2010/main" val="564773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module">
            <a:extLst xmlns:a="http://schemas.openxmlformats.org/drawingml/2006/main">
              <a:ext uri="{FF2B5EF4-FFF2-40B4-BE49-F238E27FC236}">
                <a16:creationId xmlns:a16="http://schemas.microsoft.com/office/drawing/2014/main" id="{8221046B-12C2-4A50-9483-BA81BAE39232}"/>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01  PRÉSENTATION GÉNÉRALE</a:t>
            </a:r>
          </a:p>
        </p:txBody>
      </p:sp>
      <p:sp>
        <p:nvSpPr>
          <p:cNvPr id="2" name="title">
            <a:extLst xmlns:a="http://schemas.openxmlformats.org/drawingml/2006/main">
              <a:ext uri="{FF2B5EF4-FFF2-40B4-BE49-F238E27FC236}">
                <a16:creationId xmlns:a16="http://schemas.microsoft.com/office/drawing/2014/main" id="{A0489D60-C03D-42FC-8FB7-83CAC469F625}"/>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TextAid, notre fil rouge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aff3d487aab4ef9"/>
          <a:stretch xmlns:a="http://schemas.openxmlformats.org/drawingml/2006/main"/>
        </p:blipFill>
        <p:spPr>
          <a:xfrm xmlns:a="http://schemas.openxmlformats.org/drawingml/2006/main">
            <a:off x="3597729" y="1952625"/>
            <a:ext cx="4996543" cy="342900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3A94FF38-AFD7-499D-8571-0416E197F73D}"/>
              </a:ext>
            </a:extLst>
          </p:cNvPr>
          <p:cNvSpPr>
            <a:spLocks xmlns:a="http://schemas.openxmlformats.org/drawingml/2006/main" noGrp="1"/>
          </p:cNvSpPr>
          <p:nvPr/>
        </p:nvSpPr>
        <p:spPr>
          <a:xfrm xmlns:a="http://schemas.openxmlformats.org/drawingml/2006/main">
            <a:off x="685800" y="5648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66B7B"/>
                </a:solidFill>
                <a:latin typeface="Arial"/>
                <a:ea typeface="Arial"/>
                <a:cs typeface="Arial"/>
              </a:defRPr>
            </a:pPr>
            <a:r>
              <a:rPr sz="1875" b="0">
                <a:solidFill>
                  <a:srgbClr val="566B7B"/>
                </a:solidFill>
                <a:latin typeface="Arial"/>
                <a:ea typeface="Arial"/>
                <a:cs typeface="Arial"/>
              </a:rPr>
              <a:t>Capture d’une version ultérieure • les fichiers du lot 003 décrivent la V0.2 historique.</a:t>
            </a:r>
          </a:p>
        </p:txBody>
      </p:sp>
      <p:sp>
        <p:nvSpPr>
          <p:cNvPr id="5" name="slide-number">
            <a:extLst xmlns:a="http://schemas.openxmlformats.org/drawingml/2006/main">
              <a:ext uri="{FF2B5EF4-FFF2-40B4-BE49-F238E27FC236}">
                <a16:creationId xmlns:a16="http://schemas.microsoft.com/office/drawing/2014/main" id="{E56AFD42-5B69-4244-91C4-2A151BC1D1A2}"/>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06</a:t>
            </a:r>
          </a:p>
        </p:txBody>
      </p:sp>
    </p:spTree>
    <p:extLst>
      <p:ext uri="{BB962C8B-B14F-4D97-AF65-F5344CB8AC3E}">
        <p14:creationId xmlns:p14="http://schemas.microsoft.com/office/powerpoint/2010/main" val="2107291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dule">
            <a:extLst xmlns:a="http://schemas.openxmlformats.org/drawingml/2006/main">
              <a:ext uri="{FF2B5EF4-FFF2-40B4-BE49-F238E27FC236}">
                <a16:creationId xmlns:a16="http://schemas.microsoft.com/office/drawing/2014/main" id="{001357FF-2990-4601-BD6A-4FB05B00276E}"/>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02  ORGANISATION DE LA MÉTHODE</a:t>
            </a:r>
          </a:p>
        </p:txBody>
      </p:sp>
      <p:sp>
        <p:nvSpPr>
          <p:cNvPr id="2" name="title">
            <a:extLst xmlns:a="http://schemas.openxmlformats.org/drawingml/2006/main">
              <a:ext uri="{FF2B5EF4-FFF2-40B4-BE49-F238E27FC236}">
                <a16:creationId xmlns:a16="http://schemas.microsoft.com/office/drawing/2014/main" id="{957F5069-46A0-49C5-A00B-D3D50A4BD644}"/>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Projet, lot et sous-lot</a:t>
            </a:r>
          </a:p>
        </p:txBody>
      </p:sp>
      <p:sp>
        <p:nvSpPr>
          <p:cNvPr id="3" name="item-1">
            <a:extLst xmlns:a="http://schemas.openxmlformats.org/drawingml/2006/main">
              <a:ext uri="{FF2B5EF4-FFF2-40B4-BE49-F238E27FC236}">
                <a16:creationId xmlns:a16="http://schemas.microsoft.com/office/drawing/2014/main" id="{CDB94365-B299-466B-8054-EDFE72087301}"/>
              </a:ext>
            </a:extLst>
          </p:cNvPr>
          <p:cNvSpPr>
            <a:spLocks xmlns:a="http://schemas.openxmlformats.org/drawingml/2006/main" noGrp="1"/>
          </p:cNvSpPr>
          <p:nvPr/>
        </p:nvSpPr>
        <p:spPr>
          <a:xfrm xmlns:a="http://schemas.openxmlformats.org/drawingml/2006/main">
            <a:off x="685800" y="209550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Projet SAW : une unité de pilotage documentaire</a:t>
            </a:r>
          </a:p>
        </p:txBody>
      </p:sp>
      <p:sp>
        <p:nvSpPr>
          <p:cNvPr id="4" name="item-2">
            <a:extLst xmlns:a="http://schemas.openxmlformats.org/drawingml/2006/main">
              <a:ext uri="{FF2B5EF4-FFF2-40B4-BE49-F238E27FC236}">
                <a16:creationId xmlns:a16="http://schemas.microsoft.com/office/drawing/2014/main" id="{9CAA4CA0-8EE4-4187-88FF-277613D64F13}"/>
              </a:ext>
            </a:extLst>
          </p:cNvPr>
          <p:cNvSpPr>
            <a:spLocks xmlns:a="http://schemas.openxmlformats.org/drawingml/2006/main" noGrp="1"/>
          </p:cNvSpPr>
          <p:nvPr/>
        </p:nvSpPr>
        <p:spPr>
          <a:xfrm xmlns:a="http://schemas.openxmlformats.org/drawingml/2006/main">
            <a:off x="685800" y="321945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Lot : un objectif et ses conditions de fermeture</a:t>
            </a:r>
          </a:p>
        </p:txBody>
      </p:sp>
      <p:sp>
        <p:nvSpPr>
          <p:cNvPr id="5" name="item-3">
            <a:extLst xmlns:a="http://schemas.openxmlformats.org/drawingml/2006/main">
              <a:ext uri="{FF2B5EF4-FFF2-40B4-BE49-F238E27FC236}">
                <a16:creationId xmlns:a16="http://schemas.microsoft.com/office/drawing/2014/main" id="{376903BF-2694-4930-A5A1-34785062756F}"/>
              </a:ext>
            </a:extLst>
          </p:cNvPr>
          <p:cNvSpPr>
            <a:spLocks xmlns:a="http://schemas.openxmlformats.org/drawingml/2006/main" noGrp="1"/>
          </p:cNvSpPr>
          <p:nvPr/>
        </p:nvSpPr>
        <p:spPr>
          <a:xfrm xmlns:a="http://schemas.openxmlformats.org/drawingml/2006/main">
            <a:off x="685800" y="4343400"/>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Sous-lot : un objectif isolé pendant le travail du parent</a:t>
            </a:r>
          </a:p>
        </p:txBody>
      </p:sp>
      <p:sp>
        <p:nvSpPr>
          <p:cNvPr id="6" name="slide-number">
            <a:extLst xmlns:a="http://schemas.openxmlformats.org/drawingml/2006/main">
              <a:ext uri="{FF2B5EF4-FFF2-40B4-BE49-F238E27FC236}">
                <a16:creationId xmlns:a16="http://schemas.microsoft.com/office/drawing/2014/main" id="{2CB90C9C-339C-43E9-BBF0-BCC163C7A9AD}"/>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07</a:t>
            </a:r>
          </a:p>
        </p:txBody>
      </p:sp>
    </p:spTree>
    <p:extLst>
      <p:ext uri="{BB962C8B-B14F-4D97-AF65-F5344CB8AC3E}">
        <p14:creationId xmlns:p14="http://schemas.microsoft.com/office/powerpoint/2010/main" val="14072875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E261F6FE-22C4-4522-B8F4-E8DAC1D4FD78}"/>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02  ORGANISATION DE LA MÉTHODE</a:t>
            </a:r>
          </a:p>
        </p:txBody>
      </p:sp>
      <p:sp>
        <p:nvSpPr>
          <p:cNvPr id="2" name="title">
            <a:extLst xmlns:a="http://schemas.openxmlformats.org/drawingml/2006/main">
              <a:ext uri="{FF2B5EF4-FFF2-40B4-BE49-F238E27FC236}">
                <a16:creationId xmlns:a16="http://schemas.microsoft.com/office/drawing/2014/main" id="{4481A661-6F2A-4E5B-9B2A-A812D7AF4ECF}"/>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Les six fichiers globaux</a:t>
            </a:r>
          </a:p>
        </p:txBody>
      </p:sp>
      <p:graphicFrame>
        <p:nvGraphicFramePr>
          <p:cNvPr id="7" name=""/>
          <p:cNvGraphicFramePr/>
          <p:nvPr/>
        </p:nvGraphicFramePr>
        <p:xfrm>
          <a:off xmlns:a="http://schemas.openxmlformats.org/drawingml/2006/main" x="685800" y="1962150"/>
          <a:ext xmlns:a="http://schemas.openxmlformats.org/drawingml/2006/main" cx="10820400" cy="4000500"/>
        </p:xfrm>
        <a:graphic xmlns:a="http://schemas.openxmlformats.org/drawingml/2006/main">
          <a:graphicData uri="http://schemas.openxmlformats.org/drawingml/2006/table">
            <a:tbl>
              <a:tblPr firstRow="1" bandRow="0"/>
              <a:tblGrid>
                <a:gridCol w="3524250"/>
                <a:gridCol w="7296150"/>
              </a:tblGrid>
              <a:tr h="571500">
                <a:tc>
                  <a:txBody>
                    <a:bodyPr lIns="171450" tIns="76200" rIns="152400" bIns="76200">
                      <a:noAutofit/>
                    </a:bodyPr>
                    <a:lstStyle/>
                    <a:p>
                      <a:r>
                        <a:rPr sz="1875" b="1">
                          <a:solidFill>
                            <a:srgbClr val="FFFFFF"/>
                          </a:solidFill>
                          <a:latin typeface="Arial"/>
                          <a:ea typeface="Arial"/>
                          <a:cs typeface="Arial"/>
                        </a:rPr>
                        <a:t>Fichier</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Question</a:t>
                      </a:r>
                    </a:p>
                  </a:txBody>
                  <a:tcPr marL="91440" marR="91440" marT="45720" marB="45720" anchor="ctr">
                    <a:solidFill>
                      <a:srgbClr val="0D1B29"/>
                    </a:solidFill>
                  </a:tcPr>
                </a:tc>
              </a:tr>
              <a:tr h="571500">
                <a:tc>
                  <a:txBody>
                    <a:bodyPr lIns="171450" tIns="76200" rIns="152400" bIns="76200">
                      <a:noAutofit/>
                    </a:bodyPr>
                    <a:lstStyle/>
                    <a:p>
                      <a:r>
                        <a:rPr sz="2025" b="1">
                          <a:solidFill>
                            <a:srgbClr val="183044"/>
                          </a:solidFill>
                          <a:latin typeface="Arial"/>
                          <a:ea typeface="Arial"/>
                          <a:cs typeface="Arial"/>
                        </a:rPr>
                        <a:t>README.md</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Comment travailler ?</a:t>
                      </a:r>
                    </a:p>
                  </a:txBody>
                  <a:tcPr marL="91440" marR="91440" marT="45720" marB="45720" anchor="ctr">
                    <a:solidFill>
                      <a:srgbClr val="FFFFFF"/>
                    </a:solidFill>
                  </a:tcPr>
                </a:tc>
              </a:tr>
              <a:tr h="571500">
                <a:tc>
                  <a:txBody>
                    <a:bodyPr lIns="171450" tIns="76200" rIns="152400" bIns="76200">
                      <a:noAutofit/>
                    </a:bodyPr>
                    <a:lstStyle/>
                    <a:p>
                      <a:r>
                        <a:rPr sz="2025" b="1">
                          <a:solidFill>
                            <a:srgbClr val="183044"/>
                          </a:solidFill>
                          <a:latin typeface="Arial"/>
                          <a:ea typeface="Arial"/>
                          <a:cs typeface="Arial"/>
                        </a:rPr>
                        <a:t>PROJECT.md</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Quoi construire et pourquoi ?</a:t>
                      </a:r>
                    </a:p>
                  </a:txBody>
                  <a:tcPr marL="91440" marR="91440" marT="45720" marB="45720" anchor="ctr">
                    <a:solidFill>
                      <a:srgbClr val="F2F6F8"/>
                    </a:solidFill>
                  </a:tcPr>
                </a:tc>
              </a:tr>
              <a:tr h="571500">
                <a:tc>
                  <a:txBody>
                    <a:bodyPr lIns="171450" tIns="76200" rIns="152400" bIns="76200">
                      <a:noAutofit/>
                    </a:bodyPr>
                    <a:lstStyle/>
                    <a:p>
                      <a:r>
                        <a:rPr sz="2025" b="1">
                          <a:solidFill>
                            <a:srgbClr val="183044"/>
                          </a:solidFill>
                          <a:latin typeface="Arial"/>
                          <a:ea typeface="Arial"/>
                          <a:cs typeface="Arial"/>
                        </a:rPr>
                        <a:t>RULES.md</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Quelles contraintes actives ?</a:t>
                      </a:r>
                    </a:p>
                  </a:txBody>
                  <a:tcPr marL="91440" marR="91440" marT="45720" marB="45720" anchor="ctr">
                    <a:solidFill>
                      <a:srgbClr val="FFFFFF"/>
                    </a:solidFill>
                  </a:tcPr>
                </a:tc>
              </a:tr>
              <a:tr h="571500">
                <a:tc>
                  <a:txBody>
                    <a:bodyPr lIns="171450" tIns="76200" rIns="152400" bIns="76200">
                      <a:noAutofit/>
                    </a:bodyPr>
                    <a:lstStyle/>
                    <a:p>
                      <a:r>
                        <a:rPr sz="2025" b="1">
                          <a:solidFill>
                            <a:srgbClr val="183044"/>
                          </a:solidFill>
                          <a:latin typeface="Arial"/>
                          <a:ea typeface="Arial"/>
                          <a:cs typeface="Arial"/>
                        </a:rPr>
                        <a:t>STATUS.md</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Quel état des lots ?</a:t>
                      </a:r>
                    </a:p>
                  </a:txBody>
                  <a:tcPr marL="91440" marR="91440" marT="45720" marB="45720" anchor="ctr">
                    <a:solidFill>
                      <a:srgbClr val="F2F6F8"/>
                    </a:solidFill>
                  </a:tcPr>
                </a:tc>
              </a:tr>
              <a:tr h="571500">
                <a:tc>
                  <a:txBody>
                    <a:bodyPr lIns="171450" tIns="76200" rIns="152400" bIns="76200">
                      <a:noAutofit/>
                    </a:bodyPr>
                    <a:lstStyle/>
                    <a:p>
                      <a:r>
                        <a:rPr sz="2025" b="1">
                          <a:solidFill>
                            <a:srgbClr val="183044"/>
                          </a:solidFill>
                          <a:latin typeface="Arial"/>
                          <a:ea typeface="Arial"/>
                          <a:cs typeface="Arial"/>
                        </a:rPr>
                        <a:t>LEDGER.md</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Quelles décisions durables ?</a:t>
                      </a:r>
                    </a:p>
                  </a:txBody>
                  <a:tcPr marL="91440" marR="91440" marT="45720" marB="45720" anchor="ctr">
                    <a:solidFill>
                      <a:srgbClr val="FFFFFF"/>
                    </a:solidFill>
                  </a:tcPr>
                </a:tc>
              </a:tr>
              <a:tr h="571500">
                <a:tc>
                  <a:txBody>
                    <a:bodyPr lIns="171450" tIns="76200" rIns="152400" bIns="76200">
                      <a:noAutofit/>
                    </a:bodyPr>
                    <a:lstStyle/>
                    <a:p>
                      <a:r>
                        <a:rPr sz="2025" b="1">
                          <a:solidFill>
                            <a:srgbClr val="183044"/>
                          </a:solidFill>
                          <a:latin typeface="Arial"/>
                          <a:ea typeface="Arial"/>
                          <a:cs typeface="Arial"/>
                        </a:rPr>
                        <a:t>HISTORY.md</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Quelles opérations significatives ?</a:t>
                      </a:r>
                    </a:p>
                  </a:txBody>
                  <a:tcPr marL="91440" marR="91440" marT="45720" marB="45720" anchor="ctr">
                    <a:solidFill>
                      <a:srgbClr val="F2F6F8"/>
                    </a:solidFill>
                  </a:tcPr>
                </a:tc>
              </a:tr>
            </a:tbl>
          </a:graphicData>
        </a:graphic>
      </p:graphicFrame>
      <p:sp>
        <p:nvSpPr>
          <p:cNvPr id="4" name="slide-number">
            <a:extLst xmlns:a="http://schemas.openxmlformats.org/drawingml/2006/main">
              <a:ext uri="{FF2B5EF4-FFF2-40B4-BE49-F238E27FC236}">
                <a16:creationId xmlns:a16="http://schemas.microsoft.com/office/drawing/2014/main" id="{50C55840-3629-4CCE-B149-CEE4A7198CCA}"/>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08</a:t>
            </a:r>
          </a:p>
        </p:txBody>
      </p:sp>
    </p:spTree>
    <p:extLst>
      <p:ext uri="{BB962C8B-B14F-4D97-AF65-F5344CB8AC3E}">
        <p14:creationId xmlns:p14="http://schemas.microsoft.com/office/powerpoint/2010/main" val="13934689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3D1DC1FA-79BB-4B1A-A68F-E2E7BB38DA4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02  ORGANISATION DE LA MÉTHODE</a:t>
            </a:r>
          </a:p>
        </p:txBody>
      </p:sp>
      <p:sp>
        <p:nvSpPr>
          <p:cNvPr id="2" name="title">
            <a:extLst xmlns:a="http://schemas.openxmlformats.org/drawingml/2006/main">
              <a:ext uri="{FF2B5EF4-FFF2-40B4-BE49-F238E27FC236}">
                <a16:creationId xmlns:a16="http://schemas.microsoft.com/office/drawing/2014/main" id="{7825030F-E270-4E5E-B7E2-397915B101F3}"/>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Les quatre fichiers d’un lot</a:t>
            </a:r>
          </a:p>
        </p:txBody>
      </p:sp>
      <p:graphicFrame>
        <p:nvGraphicFramePr>
          <p:cNvPr id="7" name=""/>
          <p:cNvGraphicFramePr/>
          <p:nvPr/>
        </p:nvGraphicFramePr>
        <p:xfrm>
          <a:off xmlns:a="http://schemas.openxmlformats.org/drawingml/2006/main" x="685800" y="1962150"/>
          <a:ext xmlns:a="http://schemas.openxmlformats.org/drawingml/2006/main" cx="10820400" cy="4000500"/>
        </p:xfrm>
        <a:graphic xmlns:a="http://schemas.openxmlformats.org/drawingml/2006/main">
          <a:graphicData uri="http://schemas.openxmlformats.org/drawingml/2006/table">
            <a:tbl>
              <a:tblPr firstRow="1" bandRow="0"/>
              <a:tblGrid>
                <a:gridCol w="3524250"/>
                <a:gridCol w="7296150"/>
              </a:tblGrid>
              <a:tr h="800100">
                <a:tc>
                  <a:txBody>
                    <a:bodyPr lIns="171450" tIns="76200" rIns="152400" bIns="76200">
                      <a:noAutofit/>
                    </a:bodyPr>
                    <a:lstStyle/>
                    <a:p>
                      <a:r>
                        <a:rPr sz="1875" b="1">
                          <a:solidFill>
                            <a:srgbClr val="FFFFFF"/>
                          </a:solidFill>
                          <a:latin typeface="Arial"/>
                          <a:ea typeface="Arial"/>
                          <a:cs typeface="Arial"/>
                        </a:rPr>
                        <a:t>Artefact</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Responsabilité</a:t>
                      </a:r>
                    </a:p>
                  </a:txBody>
                  <a:tcPr marL="91440" marR="91440" marT="45720" marB="45720" anchor="ctr">
                    <a:solidFill>
                      <a:srgbClr val="0D1B29"/>
                    </a:solidFill>
                  </a:tcPr>
                </a:tc>
              </a:tr>
              <a:tr h="800100">
                <a:tc>
                  <a:txBody>
                    <a:bodyPr lIns="171450" tIns="76200" rIns="152400" bIns="76200">
                      <a:noAutofit/>
                    </a:bodyPr>
                    <a:lstStyle/>
                    <a:p>
                      <a:r>
                        <a:rPr sz="2025" b="1">
                          <a:solidFill>
                            <a:srgbClr val="183044"/>
                          </a:solidFill>
                          <a:latin typeface="Arial"/>
                          <a:ea typeface="Arial"/>
                          <a:cs typeface="Arial"/>
                        </a:rPr>
                        <a:t>SPEC</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Le résultat attendu</a:t>
                      </a:r>
                    </a:p>
                  </a:txBody>
                  <a:tcPr marL="91440" marR="91440" marT="45720" marB="45720" anchor="ctr">
                    <a:solidFill>
                      <a:srgbClr val="FFFFFF"/>
                    </a:solidFill>
                  </a:tcPr>
                </a:tc>
              </a:tr>
              <a:tr h="800100">
                <a:tc>
                  <a:txBody>
                    <a:bodyPr lIns="171450" tIns="76200" rIns="152400" bIns="76200">
                      <a:noAutofit/>
                    </a:bodyPr>
                    <a:lstStyle/>
                    <a:p>
                      <a:r>
                        <a:rPr sz="2025" b="1">
                          <a:solidFill>
                            <a:srgbClr val="183044"/>
                          </a:solidFill>
                          <a:latin typeface="Arial"/>
                          <a:ea typeface="Arial"/>
                          <a:cs typeface="Arial"/>
                        </a:rPr>
                        <a:t>FINDINGS</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Les connaissances acquises</a:t>
                      </a:r>
                    </a:p>
                  </a:txBody>
                  <a:tcPr marL="91440" marR="91440" marT="45720" marB="45720" anchor="ctr">
                    <a:solidFill>
                      <a:srgbClr val="F2F6F8"/>
                    </a:solidFill>
                  </a:tcPr>
                </a:tc>
              </a:tr>
              <a:tr h="800100">
                <a:tc>
                  <a:txBody>
                    <a:bodyPr lIns="171450" tIns="76200" rIns="152400" bIns="76200">
                      <a:noAutofit/>
                    </a:bodyPr>
                    <a:lstStyle/>
                    <a:p>
                      <a:r>
                        <a:rPr sz="2025" b="1">
                          <a:solidFill>
                            <a:srgbClr val="183044"/>
                          </a:solidFill>
                          <a:latin typeface="Arial"/>
                          <a:ea typeface="Arial"/>
                          <a:cs typeface="Arial"/>
                        </a:rPr>
                        <a:t>GATES</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Les conditions de fermeture et leurs évaluations</a:t>
                      </a:r>
                    </a:p>
                  </a:txBody>
                  <a:tcPr marL="91440" marR="91440" marT="45720" marB="45720" anchor="ctr">
                    <a:solidFill>
                      <a:srgbClr val="FFFFFF"/>
                    </a:solidFill>
                  </a:tcPr>
                </a:tc>
              </a:tr>
              <a:tr h="800100">
                <a:tc>
                  <a:txBody>
                    <a:bodyPr lIns="171450" tIns="76200" rIns="152400" bIns="76200">
                      <a:noAutofit/>
                    </a:bodyPr>
                    <a:lstStyle/>
                    <a:p>
                      <a:r>
                        <a:rPr sz="2025" b="1">
                          <a:solidFill>
                            <a:srgbClr val="183044"/>
                          </a:solidFill>
                          <a:latin typeface="Arial"/>
                          <a:ea typeface="Arial"/>
                          <a:cs typeface="Arial"/>
                        </a:rPr>
                        <a:t>CONVERGENCE</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Le résultat accepté et sa comparaison à l’intention</a:t>
                      </a:r>
                    </a:p>
                  </a:txBody>
                  <a:tcPr marL="91440" marR="91440" marT="45720" marB="45720" anchor="ctr">
                    <a:solidFill>
                      <a:srgbClr val="F2F6F8"/>
                    </a:solidFill>
                  </a:tcPr>
                </a:tc>
              </a:tr>
            </a:tbl>
          </a:graphicData>
        </a:graphic>
      </p:graphicFrame>
      <p:sp>
        <p:nvSpPr>
          <p:cNvPr id="4" name="slide-number">
            <a:extLst xmlns:a="http://schemas.openxmlformats.org/drawingml/2006/main">
              <a:ext uri="{FF2B5EF4-FFF2-40B4-BE49-F238E27FC236}">
                <a16:creationId xmlns:a16="http://schemas.microsoft.com/office/drawing/2014/main" id="{0E6798D8-F34A-4608-8FB8-B7A07222C1F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09</a:t>
            </a:r>
          </a:p>
        </p:txBody>
      </p:sp>
    </p:spTree>
    <p:extLst>
      <p:ext uri="{BB962C8B-B14F-4D97-AF65-F5344CB8AC3E}">
        <p14:creationId xmlns:p14="http://schemas.microsoft.com/office/powerpoint/2010/main" val="12995001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75DCFE3F-C01C-4F78-9A7B-C8923A0F0725}"/>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02  ORGANISATION DE LA MÉTHODE</a:t>
            </a:r>
          </a:p>
        </p:txBody>
      </p:sp>
      <p:sp>
        <p:nvSpPr>
          <p:cNvPr id="2" name="title">
            <a:extLst xmlns:a="http://schemas.openxmlformats.org/drawingml/2006/main">
              <a:ext uri="{FF2B5EF4-FFF2-40B4-BE49-F238E27FC236}">
                <a16:creationId xmlns:a16="http://schemas.microsoft.com/office/drawing/2014/main" id="{39802733-66DF-4EC0-9207-24D5B5446A1D}"/>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Une arborescence lisible</a:t>
            </a:r>
          </a:p>
        </p:txBody>
      </p:sp>
      <p:sp>
        <p:nvSpPr>
          <p:cNvPr id="3" name="code">
            <a:extLst xmlns:a="http://schemas.openxmlformats.org/drawingml/2006/main">
              <a:ext uri="{FF2B5EF4-FFF2-40B4-BE49-F238E27FC236}">
                <a16:creationId xmlns:a16="http://schemas.microsoft.com/office/drawing/2014/main" id="{039D77FD-6A1A-46F1-9E44-EC31CB971975}"/>
              </a:ext>
            </a:extLst>
          </p:cNvPr>
          <p:cNvSpPr>
            <a:spLocks xmlns:a="http://schemas.openxmlformats.org/drawingml/2006/main" noGrp="1"/>
          </p:cNvSpPr>
          <p:nvPr/>
        </p:nvSpPr>
        <p:spPr>
          <a:xfrm xmlns:a="http://schemas.openxmlformats.org/drawingml/2006/main">
            <a:off x="685800" y="2152650"/>
            <a:ext cx="108204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README.md  PROJECT.md  RULES.md</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STATUS.md  LEDGER.md  HISTORY.md</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SAW-3.2-SPECIFICATION-EXEC.md</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Specs/003-safe-accept/</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  SPEC-003.md       FINDINGS-003.md</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  GATES-003.md      CONVERGENCE-003.md</a:t>
            </a:r>
          </a:p>
        </p:txBody>
      </p:sp>
      <p:sp>
        <p:nvSpPr>
          <p:cNvPr id="4" name="slide-number">
            <a:extLst xmlns:a="http://schemas.openxmlformats.org/drawingml/2006/main">
              <a:ext uri="{FF2B5EF4-FFF2-40B4-BE49-F238E27FC236}">
                <a16:creationId xmlns:a16="http://schemas.microsoft.com/office/drawing/2014/main" id="{A61C129C-7CB1-4ADF-BA10-3B890673B847}"/>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10</a:t>
            </a:r>
          </a:p>
        </p:txBody>
      </p:sp>
    </p:spTree>
    <p:extLst>
      <p:ext uri="{BB962C8B-B14F-4D97-AF65-F5344CB8AC3E}">
        <p14:creationId xmlns:p14="http://schemas.microsoft.com/office/powerpoint/2010/main" val="177294129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8A2D2657-9415-4DE1-BC4B-024974B0D478}"/>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02  ORGANISATION DE LA MÉTHODE</a:t>
            </a:r>
          </a:p>
        </p:txBody>
      </p:sp>
      <p:sp>
        <p:nvSpPr>
          <p:cNvPr id="2" name="title">
            <a:extLst xmlns:a="http://schemas.openxmlformats.org/drawingml/2006/main">
              <a:ext uri="{FF2B5EF4-FFF2-40B4-BE49-F238E27FC236}">
                <a16:creationId xmlns:a16="http://schemas.microsoft.com/office/drawing/2014/main" id="{630D689B-377D-445E-97F3-1147F61B2042}"/>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Identifiants et références</a:t>
            </a:r>
          </a:p>
        </p:txBody>
      </p:sp>
      <p:graphicFrame>
        <p:nvGraphicFramePr>
          <p:cNvPr id="7" name=""/>
          <p:cNvGraphicFramePr/>
          <p:nvPr/>
        </p:nvGraphicFramePr>
        <p:xfrm>
          <a:off xmlns:a="http://schemas.openxmlformats.org/drawingml/2006/main" x="685800" y="1962150"/>
          <a:ext xmlns:a="http://schemas.openxmlformats.org/drawingml/2006/main" cx="10820400" cy="4000500"/>
        </p:xfrm>
        <a:graphic xmlns:a="http://schemas.openxmlformats.org/drawingml/2006/main">
          <a:graphicData uri="http://schemas.openxmlformats.org/drawingml/2006/table">
            <a:tbl>
              <a:tblPr firstRow="1" bandRow="0"/>
              <a:tblGrid>
                <a:gridCol w="3524250"/>
                <a:gridCol w="7296150"/>
              </a:tblGrid>
              <a:tr h="666750">
                <a:tc>
                  <a:txBody>
                    <a:bodyPr lIns="171450" tIns="76200" rIns="152400" bIns="76200">
                      <a:noAutofit/>
                    </a:bodyPr>
                    <a:lstStyle/>
                    <a:p>
                      <a:r>
                        <a:rPr sz="1875" b="1">
                          <a:solidFill>
                            <a:srgbClr val="FFFFFF"/>
                          </a:solidFill>
                          <a:latin typeface="Arial"/>
                          <a:ea typeface="Arial"/>
                          <a:cs typeface="Arial"/>
                        </a:rPr>
                        <a:t>Exemple</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Désignation</a:t>
                      </a:r>
                    </a:p>
                  </a:txBody>
                  <a:tcPr marL="91440" marR="91440" marT="45720" marB="45720" anchor="ctr">
                    <a:solidFill>
                      <a:srgbClr val="0D1B29"/>
                    </a:solidFill>
                  </a:tcPr>
                </a:tc>
              </a:tr>
              <a:tr h="666750">
                <a:tc>
                  <a:txBody>
                    <a:bodyPr lIns="171450" tIns="76200" rIns="152400" bIns="76200">
                      <a:noAutofit/>
                    </a:bodyPr>
                    <a:lstStyle/>
                    <a:p>
                      <a:r>
                        <a:rPr sz="2025" b="1">
                          <a:solidFill>
                            <a:srgbClr val="183044"/>
                          </a:solidFill>
                          <a:latin typeface="Arial"/>
                          <a:ea typeface="Arial"/>
                          <a:cs typeface="Arial"/>
                        </a:rPr>
                        <a:t>LOT-003</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Le lot</a:t>
                      </a:r>
                    </a:p>
                  </a:txBody>
                  <a:tcPr marL="91440" marR="91440" marT="45720" marB="45720" anchor="ctr">
                    <a:solidFill>
                      <a:srgbClr val="FFFFFF"/>
                    </a:solidFill>
                  </a:tcPr>
                </a:tc>
              </a:tr>
              <a:tr h="666750">
                <a:tc>
                  <a:txBody>
                    <a:bodyPr lIns="171450" tIns="76200" rIns="152400" bIns="76200">
                      <a:noAutofit/>
                    </a:bodyPr>
                    <a:lstStyle/>
                    <a:p>
                      <a:r>
                        <a:rPr sz="2025" b="1">
                          <a:solidFill>
                            <a:srgbClr val="183044"/>
                          </a:solidFill>
                          <a:latin typeface="Arial"/>
                          <a:ea typeface="Arial"/>
                          <a:cs typeface="Arial"/>
                        </a:rPr>
                        <a:t>REQ-003-004</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Une exigence du lot</a:t>
                      </a:r>
                    </a:p>
                  </a:txBody>
                  <a:tcPr marL="91440" marR="91440" marT="45720" marB="45720" anchor="ctr">
                    <a:solidFill>
                      <a:srgbClr val="F2F6F8"/>
                    </a:solidFill>
                  </a:tcPr>
                </a:tc>
              </a:tr>
              <a:tr h="666750">
                <a:tc>
                  <a:txBody>
                    <a:bodyPr lIns="171450" tIns="76200" rIns="152400" bIns="76200">
                      <a:noAutofit/>
                    </a:bodyPr>
                    <a:lstStyle/>
                    <a:p>
                      <a:r>
                        <a:rPr sz="2025" b="1">
                          <a:solidFill>
                            <a:srgbClr val="183044"/>
                          </a:solidFill>
                          <a:latin typeface="Arial"/>
                          <a:ea typeface="Arial"/>
                          <a:cs typeface="Arial"/>
                        </a:rPr>
                        <a:t>F-003-002</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Une découverte du lot</a:t>
                      </a:r>
                    </a:p>
                  </a:txBody>
                  <a:tcPr marL="91440" marR="91440" marT="45720" marB="45720" anchor="ctr">
                    <a:solidFill>
                      <a:srgbClr val="FFFFFF"/>
                    </a:solidFill>
                  </a:tcPr>
                </a:tc>
              </a:tr>
              <a:tr h="666750">
                <a:tc>
                  <a:txBody>
                    <a:bodyPr lIns="171450" tIns="76200" rIns="152400" bIns="76200">
                      <a:noAutofit/>
                    </a:bodyPr>
                    <a:lstStyle/>
                    <a:p>
                      <a:r>
                        <a:rPr sz="2025" b="1">
                          <a:solidFill>
                            <a:srgbClr val="183044"/>
                          </a:solidFill>
                          <a:latin typeface="Arial"/>
                          <a:ea typeface="Arial"/>
                          <a:cs typeface="Arial"/>
                        </a:rPr>
                        <a:t>G-003-002</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Une gate du lot</a:t>
                      </a:r>
                    </a:p>
                  </a:txBody>
                  <a:tcPr marL="91440" marR="91440" marT="45720" marB="45720" anchor="ctr">
                    <a:solidFill>
                      <a:srgbClr val="F2F6F8"/>
                    </a:solidFill>
                  </a:tcPr>
                </a:tc>
              </a:tr>
              <a:tr h="666750">
                <a:tc>
                  <a:txBody>
                    <a:bodyPr lIns="171450" tIns="76200" rIns="152400" bIns="76200">
                      <a:noAutofit/>
                    </a:bodyPr>
                    <a:lstStyle/>
                    <a:p>
                      <a:r>
                        <a:rPr sz="2025" b="1">
                          <a:solidFill>
                            <a:srgbClr val="183044"/>
                          </a:solidFill>
                          <a:latin typeface="Arial"/>
                          <a:ea typeface="Arial"/>
                          <a:cs typeface="Arial"/>
                        </a:rPr>
                        <a:t>D-008 / R-017</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Une décision / une règle du projet</a:t>
                      </a:r>
                    </a:p>
                  </a:txBody>
                  <a:tcPr marL="91440" marR="91440" marT="45720" marB="45720" anchor="ctr">
                    <a:solidFill>
                      <a:srgbClr val="FFFFFF"/>
                    </a:solidFill>
                  </a:tcPr>
                </a:tc>
              </a:tr>
            </a:tbl>
          </a:graphicData>
        </a:graphic>
      </p:graphicFrame>
      <p:sp>
        <p:nvSpPr>
          <p:cNvPr id="4" name="slide-number">
            <a:extLst xmlns:a="http://schemas.openxmlformats.org/drawingml/2006/main">
              <a:ext uri="{FF2B5EF4-FFF2-40B4-BE49-F238E27FC236}">
                <a16:creationId xmlns:a16="http://schemas.microsoft.com/office/drawing/2014/main" id="{4308543A-16FF-41A0-822E-8A91D592BA3B}"/>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11</a:t>
            </a:r>
          </a:p>
        </p:txBody>
      </p:sp>
    </p:spTree>
    <p:extLst>
      <p:ext uri="{BB962C8B-B14F-4D97-AF65-F5344CB8AC3E}">
        <p14:creationId xmlns:p14="http://schemas.microsoft.com/office/powerpoint/2010/main" val="14912588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79AD2FAE-FF31-4304-B762-9DB8645FF9AB}"/>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02  ORGANISATION DE LA MÉTHODE</a:t>
            </a:r>
          </a:p>
        </p:txBody>
      </p:sp>
      <p:sp>
        <p:nvSpPr>
          <p:cNvPr id="2" name="title">
            <a:extLst xmlns:a="http://schemas.openxmlformats.org/drawingml/2006/main">
              <a:ext uri="{FF2B5EF4-FFF2-40B4-BE49-F238E27FC236}">
                <a16:creationId xmlns:a16="http://schemas.microsoft.com/office/drawing/2014/main" id="{A93816C7-D770-4A3E-BEB5-78B66E4A85BE}"/>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Décision, état et historique</a:t>
            </a:r>
          </a:p>
        </p:txBody>
      </p:sp>
      <p:sp>
        <p:nvSpPr>
          <p:cNvPr id="3" name="item-1">
            <a:extLst xmlns:a="http://schemas.openxmlformats.org/drawingml/2006/main">
              <a:ext uri="{FF2B5EF4-FFF2-40B4-BE49-F238E27FC236}">
                <a16:creationId xmlns:a16="http://schemas.microsoft.com/office/drawing/2014/main" id="{498F3C0F-8E97-4757-91A5-1A51A226A6ED}"/>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LEDGER : ce qui a été décidé et pourquoi</a:t>
            </a:r>
          </a:p>
        </p:txBody>
      </p:sp>
      <p:sp>
        <p:nvSpPr>
          <p:cNvPr id="4" name="item-2">
            <a:extLst xmlns:a="http://schemas.openxmlformats.org/drawingml/2006/main">
              <a:ext uri="{FF2B5EF4-FFF2-40B4-BE49-F238E27FC236}">
                <a16:creationId xmlns:a16="http://schemas.microsoft.com/office/drawing/2014/main" id="{633CA03B-6E8A-43B9-9AC9-A19711F5F284}"/>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STATUS : l’état courant faisant autorité</a:t>
            </a:r>
          </a:p>
        </p:txBody>
      </p:sp>
      <p:sp>
        <p:nvSpPr>
          <p:cNvPr id="5" name="item-3">
            <a:extLst xmlns:a="http://schemas.openxmlformats.org/drawingml/2006/main">
              <a:ext uri="{FF2B5EF4-FFF2-40B4-BE49-F238E27FC236}">
                <a16:creationId xmlns:a16="http://schemas.microsoft.com/office/drawing/2014/main" id="{DF48290D-47A5-4990-BAA2-4D556E8C728C}"/>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HISTORY : ce qui a été effectué</a:t>
            </a:r>
          </a:p>
        </p:txBody>
      </p:sp>
      <p:sp>
        <p:nvSpPr>
          <p:cNvPr id="6" name="item-4">
            <a:extLst xmlns:a="http://schemas.openxmlformats.org/drawingml/2006/main">
              <a:ext uri="{FF2B5EF4-FFF2-40B4-BE49-F238E27FC236}">
                <a16:creationId xmlns:a16="http://schemas.microsoft.com/office/drawing/2014/main" id="{DEE7977D-DB27-4E56-ABBF-2A61588CC13F}"/>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Une décision enregistrée ne prouve pas son application</a:t>
            </a:r>
          </a:p>
        </p:txBody>
      </p:sp>
      <p:sp>
        <p:nvSpPr>
          <p:cNvPr id="7" name="slide-number">
            <a:extLst xmlns:a="http://schemas.openxmlformats.org/drawingml/2006/main">
              <a:ext uri="{FF2B5EF4-FFF2-40B4-BE49-F238E27FC236}">
                <a16:creationId xmlns:a16="http://schemas.microsoft.com/office/drawing/2014/main" id="{2450C65B-AF8C-4869-AF22-93CE650782E4}"/>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12</a:t>
            </a:r>
          </a:p>
        </p:txBody>
      </p:sp>
    </p:spTree>
    <p:extLst>
      <p:ext uri="{BB962C8B-B14F-4D97-AF65-F5344CB8AC3E}">
        <p14:creationId xmlns:p14="http://schemas.microsoft.com/office/powerpoint/2010/main" val="13311098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1A5FE251-A2C6-4A6B-84DA-E6755A0025B2}"/>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03  PRÉPARATION DU PROJET</a:t>
            </a:r>
          </a:p>
        </p:txBody>
      </p:sp>
      <p:sp>
        <p:nvSpPr>
          <p:cNvPr id="2" name="title">
            <a:extLst xmlns:a="http://schemas.openxmlformats.org/drawingml/2006/main">
              <a:ext uri="{FF2B5EF4-FFF2-40B4-BE49-F238E27FC236}">
                <a16:creationId xmlns:a16="http://schemas.microsoft.com/office/drawing/2014/main" id="{2F7938B6-C7EC-4A50-9447-38D67490D499}"/>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Recueillir les informations utiles</a:t>
            </a:r>
          </a:p>
        </p:txBody>
      </p:sp>
      <p:sp>
        <p:nvSpPr>
          <p:cNvPr id="3" name="item-1">
            <a:extLst xmlns:a="http://schemas.openxmlformats.org/drawingml/2006/main">
              <a:ext uri="{FF2B5EF4-FFF2-40B4-BE49-F238E27FC236}">
                <a16:creationId xmlns:a16="http://schemas.microsoft.com/office/drawing/2014/main" id="{A57B3929-AB39-49FF-B5BA-574FCFFD2518}"/>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Besoins, usages et acteurs</a:t>
            </a:r>
          </a:p>
        </p:txBody>
      </p:sp>
      <p:sp>
        <p:nvSpPr>
          <p:cNvPr id="4" name="item-2">
            <a:extLst xmlns:a="http://schemas.openxmlformats.org/drawingml/2006/main">
              <a:ext uri="{FF2B5EF4-FFF2-40B4-BE49-F238E27FC236}">
                <a16:creationId xmlns:a16="http://schemas.microsoft.com/office/drawing/2014/main" id="{C3184EF5-B500-475B-8F27-D3F0ABEA1647}"/>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Documentation métier et technique</a:t>
            </a:r>
          </a:p>
        </p:txBody>
      </p:sp>
      <p:sp>
        <p:nvSpPr>
          <p:cNvPr id="5" name="item-3">
            <a:extLst xmlns:a="http://schemas.openxmlformats.org/drawingml/2006/main">
              <a:ext uri="{FF2B5EF4-FFF2-40B4-BE49-F238E27FC236}">
                <a16:creationId xmlns:a16="http://schemas.microsoft.com/office/drawing/2014/main" id="{76B159B2-AA03-4A9E-9DE6-CF2E1979A2B3}"/>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Contraintes, systèmes existants et interfaces</a:t>
            </a:r>
          </a:p>
        </p:txBody>
      </p:sp>
      <p:sp>
        <p:nvSpPr>
          <p:cNvPr id="6" name="item-4">
            <a:extLst xmlns:a="http://schemas.openxmlformats.org/drawingml/2006/main">
              <a:ext uri="{FF2B5EF4-FFF2-40B4-BE49-F238E27FC236}">
                <a16:creationId xmlns:a16="http://schemas.microsoft.com/office/drawing/2014/main" id="{2BA48FC6-A6C2-4BC3-9A69-979AAFD1CF88}"/>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Sources, questions ouvertes et décisions attendues</a:t>
            </a:r>
          </a:p>
        </p:txBody>
      </p:sp>
      <p:sp>
        <p:nvSpPr>
          <p:cNvPr id="7" name="slide-number">
            <a:extLst xmlns:a="http://schemas.openxmlformats.org/drawingml/2006/main">
              <a:ext uri="{FF2B5EF4-FFF2-40B4-BE49-F238E27FC236}">
                <a16:creationId xmlns:a16="http://schemas.microsoft.com/office/drawing/2014/main" id="{8D84FB75-A5A7-421F-AF43-F4389828F722}"/>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13</a:t>
            </a:r>
          </a:p>
        </p:txBody>
      </p:sp>
    </p:spTree>
    <p:extLst>
      <p:ext uri="{BB962C8B-B14F-4D97-AF65-F5344CB8AC3E}">
        <p14:creationId xmlns:p14="http://schemas.microsoft.com/office/powerpoint/2010/main" val="18991065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A3FABF61-A6FB-445B-A255-C23669BA73B8}"/>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03  PRÉPARATION DU PROJET</a:t>
            </a:r>
          </a:p>
        </p:txBody>
      </p:sp>
      <p:sp>
        <p:nvSpPr>
          <p:cNvPr id="2" name="title">
            <a:extLst xmlns:a="http://schemas.openxmlformats.org/drawingml/2006/main">
              <a:ext uri="{FF2B5EF4-FFF2-40B4-BE49-F238E27FC236}">
                <a16:creationId xmlns:a16="http://schemas.microsoft.com/office/drawing/2014/main" id="{CF966922-206F-43C1-8ACB-A5C59E530EB0}"/>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Analyser les besoins avant de découper</a:t>
            </a:r>
          </a:p>
        </p:txBody>
      </p:sp>
      <p:sp>
        <p:nvSpPr>
          <p:cNvPr id="3" name="item-1">
            <a:extLst xmlns:a="http://schemas.openxmlformats.org/drawingml/2006/main">
              <a:ext uri="{FF2B5EF4-FFF2-40B4-BE49-F238E27FC236}">
                <a16:creationId xmlns:a16="http://schemas.microsoft.com/office/drawing/2014/main" id="{EF7CD0CB-F01A-47DB-B813-13F85AE8C0C4}"/>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Analyse des besoins, user stories, exemples d’usage</a:t>
            </a:r>
          </a:p>
        </p:txBody>
      </p:sp>
      <p:sp>
        <p:nvSpPr>
          <p:cNvPr id="4" name="item-2">
            <a:extLst xmlns:a="http://schemas.openxmlformats.org/drawingml/2006/main">
              <a:ext uri="{FF2B5EF4-FFF2-40B4-BE49-F238E27FC236}">
                <a16:creationId xmlns:a16="http://schemas.microsoft.com/office/drawing/2014/main" id="{DD49FD69-B775-4DF0-924C-F27A59DA5799}"/>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Une préparation peut être progressive</a:t>
            </a:r>
          </a:p>
        </p:txBody>
      </p:sp>
      <p:sp>
        <p:nvSpPr>
          <p:cNvPr id="5" name="item-3">
            <a:extLst xmlns:a="http://schemas.openxmlformats.org/drawingml/2006/main">
              <a:ext uri="{FF2B5EF4-FFF2-40B4-BE49-F238E27FC236}">
                <a16:creationId xmlns:a16="http://schemas.microsoft.com/office/drawing/2014/main" id="{BFD4E5FE-8FAE-410A-9EA0-CBC456D59168}"/>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 vocabulaire ne détermine pas le cycle de développement</a:t>
            </a:r>
          </a:p>
        </p:txBody>
      </p:sp>
      <p:sp>
        <p:nvSpPr>
          <p:cNvPr id="6" name="item-4">
            <a:extLst xmlns:a="http://schemas.openxmlformats.org/drawingml/2006/main">
              <a:ext uri="{FF2B5EF4-FFF2-40B4-BE49-F238E27FC236}">
                <a16:creationId xmlns:a16="http://schemas.microsoft.com/office/drawing/2014/main" id="{4AF0BC09-5095-40E8-8404-D23F45746B8D}"/>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Une information incertaine appelle une question</a:t>
            </a:r>
          </a:p>
        </p:txBody>
      </p:sp>
      <p:sp>
        <p:nvSpPr>
          <p:cNvPr id="7" name="slide-number">
            <a:extLst xmlns:a="http://schemas.openxmlformats.org/drawingml/2006/main">
              <a:ext uri="{FF2B5EF4-FFF2-40B4-BE49-F238E27FC236}">
                <a16:creationId xmlns:a16="http://schemas.microsoft.com/office/drawing/2014/main" id="{CD1A3CCC-4FBC-4FF0-9DEC-1261AF5D2F8F}"/>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14</a:t>
            </a:r>
          </a:p>
        </p:txBody>
      </p:sp>
    </p:spTree>
    <p:extLst>
      <p:ext uri="{BB962C8B-B14F-4D97-AF65-F5344CB8AC3E}">
        <p14:creationId xmlns:p14="http://schemas.microsoft.com/office/powerpoint/2010/main" val="18662096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B5BFDDDB-1A71-4A0A-A381-7AD1F87AAF3B}"/>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03  PRÉPARATION DU PROJET</a:t>
            </a:r>
          </a:p>
        </p:txBody>
      </p:sp>
      <p:sp>
        <p:nvSpPr>
          <p:cNvPr id="2" name="title">
            <a:extLst xmlns:a="http://schemas.openxmlformats.org/drawingml/2006/main">
              <a:ext uri="{FF2B5EF4-FFF2-40B4-BE49-F238E27FC236}">
                <a16:creationId xmlns:a16="http://schemas.microsoft.com/office/drawing/2014/main" id="{08C60749-6391-4A20-B840-0CF69D9B13D9}"/>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Définir le produit dans PROJECT</a:t>
            </a:r>
          </a:p>
        </p:txBody>
      </p:sp>
      <p:sp>
        <p:nvSpPr>
          <p:cNvPr id="3" name="item-1">
            <a:extLst xmlns:a="http://schemas.openxmlformats.org/drawingml/2006/main">
              <a:ext uri="{FF2B5EF4-FFF2-40B4-BE49-F238E27FC236}">
                <a16:creationId xmlns:a16="http://schemas.microsoft.com/office/drawing/2014/main" id="{0CDCC2FA-F320-4BEB-B396-234718B6EFFC}"/>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Finalité et problème à résoudre</a:t>
            </a:r>
          </a:p>
        </p:txBody>
      </p:sp>
      <p:sp>
        <p:nvSpPr>
          <p:cNvPr id="4" name="item-2">
            <a:extLst xmlns:a="http://schemas.openxmlformats.org/drawingml/2006/main">
              <a:ext uri="{FF2B5EF4-FFF2-40B4-BE49-F238E27FC236}">
                <a16:creationId xmlns:a16="http://schemas.microsoft.com/office/drawing/2014/main" id="{B7878416-62DC-40AC-8678-80469991C40C}"/>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Utilisateurs et acteurs</a:t>
            </a:r>
          </a:p>
        </p:txBody>
      </p:sp>
      <p:sp>
        <p:nvSpPr>
          <p:cNvPr id="5" name="item-3">
            <a:extLst xmlns:a="http://schemas.openxmlformats.org/drawingml/2006/main">
              <a:ext uri="{FF2B5EF4-FFF2-40B4-BE49-F238E27FC236}">
                <a16:creationId xmlns:a16="http://schemas.microsoft.com/office/drawing/2014/main" id="{30E54A0A-F8A3-455A-9300-93985B75097C}"/>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Périmètre et hors périmètre</a:t>
            </a:r>
          </a:p>
        </p:txBody>
      </p:sp>
      <p:sp>
        <p:nvSpPr>
          <p:cNvPr id="6" name="item-4">
            <a:extLst xmlns:a="http://schemas.openxmlformats.org/drawingml/2006/main">
              <a:ext uri="{FF2B5EF4-FFF2-40B4-BE49-F238E27FC236}">
                <a16:creationId xmlns:a16="http://schemas.microsoft.com/office/drawing/2014/main" id="{DDC8A29B-38C8-42E0-A114-FB922DDF92C5}"/>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Caractéristiques stables et vocabulaire</a:t>
            </a:r>
          </a:p>
        </p:txBody>
      </p:sp>
      <p:sp>
        <p:nvSpPr>
          <p:cNvPr id="7" name="slide-number">
            <a:extLst xmlns:a="http://schemas.openxmlformats.org/drawingml/2006/main">
              <a:ext uri="{FF2B5EF4-FFF2-40B4-BE49-F238E27FC236}">
                <a16:creationId xmlns:a16="http://schemas.microsoft.com/office/drawing/2014/main" id="{FB3B08E4-6392-49F0-B99E-91C63F52AF9F}"/>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15</a:t>
            </a:r>
          </a:p>
        </p:txBody>
      </p:sp>
    </p:spTree>
    <p:extLst>
      <p:ext uri="{BB962C8B-B14F-4D97-AF65-F5344CB8AC3E}">
        <p14:creationId xmlns:p14="http://schemas.microsoft.com/office/powerpoint/2010/main" val="2217147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70C43C7D-1C67-4C5C-B295-0E9E5EB822C6}"/>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03  PRÉPARATION DU PROJET</a:t>
            </a:r>
          </a:p>
        </p:txBody>
      </p:sp>
      <p:sp>
        <p:nvSpPr>
          <p:cNvPr id="2" name="title">
            <a:extLst xmlns:a="http://schemas.openxmlformats.org/drawingml/2006/main">
              <a:ext uri="{FF2B5EF4-FFF2-40B4-BE49-F238E27FC236}">
                <a16:creationId xmlns:a16="http://schemas.microsoft.com/office/drawing/2014/main" id="{16C62DF2-48EC-45E1-989B-CAA139115753}"/>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Établir les règles initiales</a:t>
            </a:r>
          </a:p>
        </p:txBody>
      </p:sp>
      <p:sp>
        <p:nvSpPr>
          <p:cNvPr id="3" name="item-1">
            <a:extLst xmlns:a="http://schemas.openxmlformats.org/drawingml/2006/main">
              <a:ext uri="{FF2B5EF4-FFF2-40B4-BE49-F238E27FC236}">
                <a16:creationId xmlns:a16="http://schemas.microsoft.com/office/drawing/2014/main" id="{57CA8363-21AE-4620-B182-7CDE40863987}"/>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Une règle exprime une contrainte active</a:t>
            </a:r>
          </a:p>
        </p:txBody>
      </p:sp>
      <p:sp>
        <p:nvSpPr>
          <p:cNvPr id="4" name="item-2">
            <a:extLst xmlns:a="http://schemas.openxmlformats.org/drawingml/2006/main">
              <a:ext uri="{FF2B5EF4-FFF2-40B4-BE49-F238E27FC236}">
                <a16:creationId xmlns:a16="http://schemas.microsoft.com/office/drawing/2014/main" id="{D839E3AF-9EF1-4738-8C67-B94848827DB3}"/>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Les règles initiales n’exigent pas de décision du ledger</a:t>
            </a:r>
          </a:p>
        </p:txBody>
      </p:sp>
      <p:sp>
        <p:nvSpPr>
          <p:cNvPr id="5" name="item-3">
            <a:extLst xmlns:a="http://schemas.openxmlformats.org/drawingml/2006/main">
              <a:ext uri="{FF2B5EF4-FFF2-40B4-BE49-F238E27FC236}">
                <a16:creationId xmlns:a16="http://schemas.microsoft.com/office/drawing/2014/main" id="{911ECF8F-97E0-47E7-B61F-703853736ECA}"/>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Une évolution ultérieure exige une décision durable</a:t>
            </a:r>
          </a:p>
        </p:txBody>
      </p:sp>
      <p:sp>
        <p:nvSpPr>
          <p:cNvPr id="6" name="item-4">
            <a:extLst xmlns:a="http://schemas.openxmlformats.org/drawingml/2006/main">
              <a:ext uri="{FF2B5EF4-FFF2-40B4-BE49-F238E27FC236}">
                <a16:creationId xmlns:a16="http://schemas.microsoft.com/office/drawing/2014/main" id="{260F88E7-E680-4D3B-9823-3935ADB52D37}"/>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La portée de l’évolution doit être explicitée</a:t>
            </a:r>
          </a:p>
        </p:txBody>
      </p:sp>
      <p:sp>
        <p:nvSpPr>
          <p:cNvPr id="7" name="slide-number">
            <a:extLst xmlns:a="http://schemas.openxmlformats.org/drawingml/2006/main">
              <a:ext uri="{FF2B5EF4-FFF2-40B4-BE49-F238E27FC236}">
                <a16:creationId xmlns:a16="http://schemas.microsoft.com/office/drawing/2014/main" id="{22EE98DD-C229-4205-9861-BA37A13BA30B}"/>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16</a:t>
            </a:r>
          </a:p>
        </p:txBody>
      </p:sp>
    </p:spTree>
    <p:extLst>
      <p:ext uri="{BB962C8B-B14F-4D97-AF65-F5344CB8AC3E}">
        <p14:creationId xmlns:p14="http://schemas.microsoft.com/office/powerpoint/2010/main" val="140903880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3AD002C6-7BD2-4855-AD87-FC01B02AC077}"/>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03  PRÉPARATION DU PROJET</a:t>
            </a:r>
          </a:p>
        </p:txBody>
      </p:sp>
      <p:sp>
        <p:nvSpPr>
          <p:cNvPr id="2" name="title">
            <a:extLst xmlns:a="http://schemas.openxmlformats.org/drawingml/2006/main">
              <a:ext uri="{FF2B5EF4-FFF2-40B4-BE49-F238E27FC236}">
                <a16:creationId xmlns:a16="http://schemas.microsoft.com/office/drawing/2014/main" id="{AC56B924-5B59-435A-8EC2-E9254F85F64B}"/>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Préparer le point d’entrée</a:t>
            </a:r>
          </a:p>
        </p:txBody>
      </p:sp>
      <p:sp>
        <p:nvSpPr>
          <p:cNvPr id="3" name="item-1">
            <a:extLst xmlns:a="http://schemas.openxmlformats.org/drawingml/2006/main">
              <a:ext uri="{FF2B5EF4-FFF2-40B4-BE49-F238E27FC236}">
                <a16:creationId xmlns:a16="http://schemas.microsoft.com/office/drawing/2014/main" id="{36B7FC7E-FF89-4842-BB44-D1DC68261925}"/>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README explique le travail et le bootstrap</a:t>
            </a:r>
          </a:p>
        </p:txBody>
      </p:sp>
      <p:sp>
        <p:nvSpPr>
          <p:cNvPr id="4" name="item-2">
            <a:extLst xmlns:a="http://schemas.openxmlformats.org/drawingml/2006/main">
              <a:ext uri="{FF2B5EF4-FFF2-40B4-BE49-F238E27FC236}">
                <a16:creationId xmlns:a16="http://schemas.microsoft.com/office/drawing/2014/main" id="{C9F3AFC3-1684-4F1A-B41B-B6AA2971BC12}"/>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La référence locale identifie version et révision</a:t>
            </a:r>
          </a:p>
        </p:txBody>
      </p:sp>
      <p:sp>
        <p:nvSpPr>
          <p:cNvPr id="5" name="item-3">
            <a:extLst xmlns:a="http://schemas.openxmlformats.org/drawingml/2006/main">
              <a:ext uri="{FF2B5EF4-FFF2-40B4-BE49-F238E27FC236}">
                <a16:creationId xmlns:a16="http://schemas.microsoft.com/office/drawing/2014/main" id="{2F2BBBC0-0325-4D25-8465-F98442E495B6}"/>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STATUS prépare le suivi des lots</a:t>
            </a:r>
          </a:p>
        </p:txBody>
      </p:sp>
      <p:sp>
        <p:nvSpPr>
          <p:cNvPr id="6" name="item-4">
            <a:extLst xmlns:a="http://schemas.openxmlformats.org/drawingml/2006/main">
              <a:ext uri="{FF2B5EF4-FFF2-40B4-BE49-F238E27FC236}">
                <a16:creationId xmlns:a16="http://schemas.microsoft.com/office/drawing/2014/main" id="{C6CC75CF-5EDB-47A2-8947-6D424241275A}"/>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LEDGER et HISTORY sont présents dès l’initialisation</a:t>
            </a:r>
          </a:p>
        </p:txBody>
      </p:sp>
      <p:sp>
        <p:nvSpPr>
          <p:cNvPr id="7" name="slide-number">
            <a:extLst xmlns:a="http://schemas.openxmlformats.org/drawingml/2006/main">
              <a:ext uri="{FF2B5EF4-FFF2-40B4-BE49-F238E27FC236}">
                <a16:creationId xmlns:a16="http://schemas.microsoft.com/office/drawing/2014/main" id="{EFC3DAA4-2062-40FF-9139-20AFD69CB723}"/>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17</a:t>
            </a:r>
          </a:p>
        </p:txBody>
      </p:sp>
    </p:spTree>
    <p:extLst>
      <p:ext uri="{BB962C8B-B14F-4D97-AF65-F5344CB8AC3E}">
        <p14:creationId xmlns:p14="http://schemas.microsoft.com/office/powerpoint/2010/main" val="18681774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dule">
            <a:extLst xmlns:a="http://schemas.openxmlformats.org/drawingml/2006/main">
              <a:ext uri="{FF2B5EF4-FFF2-40B4-BE49-F238E27FC236}">
                <a16:creationId xmlns:a16="http://schemas.microsoft.com/office/drawing/2014/main" id="{CC8A30AD-B218-4E6E-A405-EB07A00E45A0}"/>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03  PRÉPARATION DU PROJET</a:t>
            </a:r>
          </a:p>
        </p:txBody>
      </p:sp>
      <p:sp>
        <p:nvSpPr>
          <p:cNvPr id="2" name="title">
            <a:extLst xmlns:a="http://schemas.openxmlformats.org/drawingml/2006/main">
              <a:ext uri="{FF2B5EF4-FFF2-40B4-BE49-F238E27FC236}">
                <a16:creationId xmlns:a16="http://schemas.microsoft.com/office/drawing/2014/main" id="{E8BE7EF5-CA21-442A-8B69-ED8DE653FC81}"/>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Atelier 1 • ranger les informations</a:t>
            </a:r>
          </a:p>
        </p:txBody>
      </p:sp>
      <p:sp>
        <p:nvSpPr>
          <p:cNvPr id="3" name="step-1">
            <a:extLst xmlns:a="http://schemas.openxmlformats.org/drawingml/2006/main">
              <a:ext uri="{FF2B5EF4-FFF2-40B4-BE49-F238E27FC236}">
                <a16:creationId xmlns:a16="http://schemas.microsoft.com/office/drawing/2014/main" id="{6890C92E-1F80-4204-97A9-6705B532DABD}"/>
              </a:ext>
            </a:extLst>
          </p:cNvPr>
          <p:cNvSpPr>
            <a:spLocks xmlns:a="http://schemas.openxmlformats.org/drawingml/2006/main" noGrp="1"/>
          </p:cNvSpPr>
          <p:nvPr/>
        </p:nvSpPr>
        <p:spPr>
          <a:xfrm xmlns:a="http://schemas.openxmlformats.org/drawingml/2006/main">
            <a:off x="685800" y="20764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01</a:t>
            </a:r>
          </a:p>
        </p:txBody>
      </p:sp>
      <p:sp>
        <p:nvSpPr>
          <p:cNvPr id="4" name="instruction-1">
            <a:extLst xmlns:a="http://schemas.openxmlformats.org/drawingml/2006/main">
              <a:ext uri="{FF2B5EF4-FFF2-40B4-BE49-F238E27FC236}">
                <a16:creationId xmlns:a16="http://schemas.microsoft.com/office/drawing/2014/main" id="{D58CC78C-0FEA-4CDD-9BDD-DDA61018E80F}"/>
              </a:ext>
            </a:extLst>
          </p:cNvPr>
          <p:cNvSpPr>
            <a:spLocks xmlns:a="http://schemas.openxmlformats.org/drawingml/2006/main" noGrp="1"/>
          </p:cNvSpPr>
          <p:nvPr/>
        </p:nvSpPr>
        <p:spPr>
          <a:xfrm xmlns:a="http://schemas.openxmlformats.org/drawingml/2006/main">
            <a:off x="1666875" y="20764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 Windows x64 uniquement »</a:t>
            </a:r>
          </a:p>
        </p:txBody>
      </p:sp>
      <p:sp>
        <p:nvSpPr>
          <p:cNvPr id="5" name="step-2">
            <a:extLst xmlns:a="http://schemas.openxmlformats.org/drawingml/2006/main">
              <a:ext uri="{FF2B5EF4-FFF2-40B4-BE49-F238E27FC236}">
                <a16:creationId xmlns:a16="http://schemas.microsoft.com/office/drawing/2014/main" id="{1EB4A7B4-F61E-458D-94DB-A1689B6EFE7F}"/>
              </a:ext>
            </a:extLst>
          </p:cNvPr>
          <p:cNvSpPr>
            <a:spLocks xmlns:a="http://schemas.openxmlformats.org/drawingml/2006/main" noGrp="1"/>
          </p:cNvSpPr>
          <p:nvPr/>
        </p:nvSpPr>
        <p:spPr>
          <a:xfrm xmlns:a="http://schemas.openxmlformats.org/drawingml/2006/main">
            <a:off x="685800" y="29718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02</a:t>
            </a:r>
          </a:p>
        </p:txBody>
      </p:sp>
      <p:sp>
        <p:nvSpPr>
          <p:cNvPr id="6" name="instruction-2">
            <a:extLst xmlns:a="http://schemas.openxmlformats.org/drawingml/2006/main">
              <a:ext uri="{FF2B5EF4-FFF2-40B4-BE49-F238E27FC236}">
                <a16:creationId xmlns:a16="http://schemas.microsoft.com/office/drawing/2014/main" id="{A3E58770-BCEC-4C86-8FD5-E16F0183B74F}"/>
              </a:ext>
            </a:extLst>
          </p:cNvPr>
          <p:cNvSpPr>
            <a:spLocks xmlns:a="http://schemas.openxmlformats.org/drawingml/2006/main" noGrp="1"/>
          </p:cNvSpPr>
          <p:nvPr/>
        </p:nvSpPr>
        <p:spPr>
          <a:xfrm xmlns:a="http://schemas.openxmlformats.org/drawingml/2006/main">
            <a:off x="1666875" y="29718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 Le collage doit viser la fenêtre capturée »</a:t>
            </a:r>
          </a:p>
        </p:txBody>
      </p:sp>
      <p:sp>
        <p:nvSpPr>
          <p:cNvPr id="7" name="step-3">
            <a:extLst xmlns:a="http://schemas.openxmlformats.org/drawingml/2006/main">
              <a:ext uri="{FF2B5EF4-FFF2-40B4-BE49-F238E27FC236}">
                <a16:creationId xmlns:a16="http://schemas.microsoft.com/office/drawing/2014/main" id="{9E995881-6282-45AC-BD04-875886B02EA6}"/>
              </a:ext>
            </a:extLst>
          </p:cNvPr>
          <p:cNvSpPr>
            <a:spLocks xmlns:a="http://schemas.openxmlformats.org/drawingml/2006/main" noGrp="1"/>
          </p:cNvSpPr>
          <p:nvPr/>
        </p:nvSpPr>
        <p:spPr>
          <a:xfrm xmlns:a="http://schemas.openxmlformats.org/drawingml/2006/main">
            <a:off x="685800" y="38671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03</a:t>
            </a:r>
          </a:p>
        </p:txBody>
      </p:sp>
      <p:sp>
        <p:nvSpPr>
          <p:cNvPr id="8" name="instruction-3">
            <a:extLst xmlns:a="http://schemas.openxmlformats.org/drawingml/2006/main">
              <a:ext uri="{FF2B5EF4-FFF2-40B4-BE49-F238E27FC236}">
                <a16:creationId xmlns:a16="http://schemas.microsoft.com/office/drawing/2014/main" id="{C6193C27-2CB5-45C0-A17A-A0FA381B8D94}"/>
              </a:ext>
            </a:extLst>
          </p:cNvPr>
          <p:cNvSpPr>
            <a:spLocks xmlns:a="http://schemas.openxmlformats.org/drawingml/2006/main" noGrp="1"/>
          </p:cNvSpPr>
          <p:nvPr/>
        </p:nvSpPr>
        <p:spPr>
          <a:xfrm xmlns:a="http://schemas.openxmlformats.org/drawingml/2006/main">
            <a:off x="1666875" y="38671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 Le test Replace échoue sur ce candidat »</a:t>
            </a:r>
          </a:p>
        </p:txBody>
      </p:sp>
      <p:sp>
        <p:nvSpPr>
          <p:cNvPr id="9" name="step-4">
            <a:extLst xmlns:a="http://schemas.openxmlformats.org/drawingml/2006/main">
              <a:ext uri="{FF2B5EF4-FFF2-40B4-BE49-F238E27FC236}">
                <a16:creationId xmlns:a16="http://schemas.microsoft.com/office/drawing/2014/main" id="{536B6D68-F179-4AC7-AF61-B97663F7435D}"/>
              </a:ext>
            </a:extLst>
          </p:cNvPr>
          <p:cNvSpPr>
            <a:spLocks xmlns:a="http://schemas.openxmlformats.org/drawingml/2006/main" noGrp="1"/>
          </p:cNvSpPr>
          <p:nvPr/>
        </p:nvSpPr>
        <p:spPr>
          <a:xfrm xmlns:a="http://schemas.openxmlformats.org/drawingml/2006/main">
            <a:off x="685800" y="47625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04</a:t>
            </a:r>
          </a:p>
        </p:txBody>
      </p:sp>
      <p:sp>
        <p:nvSpPr>
          <p:cNvPr id="10" name="instruction-4">
            <a:extLst xmlns:a="http://schemas.openxmlformats.org/drawingml/2006/main">
              <a:ext uri="{FF2B5EF4-FFF2-40B4-BE49-F238E27FC236}">
                <a16:creationId xmlns:a16="http://schemas.microsoft.com/office/drawing/2014/main" id="{4281287A-B33C-40A9-AB5D-E48420F44DA0}"/>
              </a:ext>
            </a:extLst>
          </p:cNvPr>
          <p:cNvSpPr>
            <a:spLocks xmlns:a="http://schemas.openxmlformats.org/drawingml/2006/main" noGrp="1"/>
          </p:cNvSpPr>
          <p:nvPr/>
        </p:nvSpPr>
        <p:spPr>
          <a:xfrm xmlns:a="http://schemas.openxmlformats.org/drawingml/2006/main">
            <a:off x="1666875" y="47625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 Olivier approuve la nouvelle disposition »</a:t>
            </a:r>
          </a:p>
        </p:txBody>
      </p:sp>
      <p:sp>
        <p:nvSpPr>
          <p:cNvPr id="11" name="slide-number">
            <a:extLst xmlns:a="http://schemas.openxmlformats.org/drawingml/2006/main">
              <a:ext uri="{FF2B5EF4-FFF2-40B4-BE49-F238E27FC236}">
                <a16:creationId xmlns:a16="http://schemas.microsoft.com/office/drawing/2014/main" id="{5F30AE2C-3753-4CD4-B677-7F6D7909B509}"/>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18</a:t>
            </a:r>
          </a:p>
        </p:txBody>
      </p:sp>
    </p:spTree>
    <p:extLst>
      <p:ext uri="{BB962C8B-B14F-4D97-AF65-F5344CB8AC3E}">
        <p14:creationId xmlns:p14="http://schemas.microsoft.com/office/powerpoint/2010/main" val="18534194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C25A038C-429A-4FDC-9771-C34CA09892A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04  PRÉPARATION DES LOTS</a:t>
            </a:r>
          </a:p>
        </p:txBody>
      </p:sp>
      <p:sp>
        <p:nvSpPr>
          <p:cNvPr id="2" name="title">
            <a:extLst xmlns:a="http://schemas.openxmlformats.org/drawingml/2006/main">
              <a:ext uri="{FF2B5EF4-FFF2-40B4-BE49-F238E27FC236}">
                <a16:creationId xmlns:a16="http://schemas.microsoft.com/office/drawing/2014/main" id="{50FDC34A-94A8-4733-8680-E82641012391}"/>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Choisir un objectif de lot</a:t>
            </a:r>
          </a:p>
        </p:txBody>
      </p:sp>
      <p:sp>
        <p:nvSpPr>
          <p:cNvPr id="3" name="item-1">
            <a:extLst xmlns:a="http://schemas.openxmlformats.org/drawingml/2006/main">
              <a:ext uri="{FF2B5EF4-FFF2-40B4-BE49-F238E27FC236}">
                <a16:creationId xmlns:a16="http://schemas.microsoft.com/office/drawing/2014/main" id="{82444366-A152-46AD-A6DF-DC9D29F86F47}"/>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 résultat identifiable et examinable</a:t>
            </a:r>
          </a:p>
        </p:txBody>
      </p:sp>
      <p:sp>
        <p:nvSpPr>
          <p:cNvPr id="4" name="item-2">
            <a:extLst xmlns:a="http://schemas.openxmlformats.org/drawingml/2006/main">
              <a:ext uri="{FF2B5EF4-FFF2-40B4-BE49-F238E27FC236}">
                <a16:creationId xmlns:a16="http://schemas.microsoft.com/office/drawing/2014/main" id="{2B3CC9A3-4ADD-4520-92BB-F56C98CBF6B2}"/>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 périmètre borné</a:t>
            </a:r>
          </a:p>
        </p:txBody>
      </p:sp>
      <p:sp>
        <p:nvSpPr>
          <p:cNvPr id="5" name="item-3">
            <a:extLst xmlns:a="http://schemas.openxmlformats.org/drawingml/2006/main">
              <a:ext uri="{FF2B5EF4-FFF2-40B4-BE49-F238E27FC236}">
                <a16:creationId xmlns:a16="http://schemas.microsoft.com/office/drawing/2014/main" id="{97AFA6AB-B87E-46E2-92D8-B8DE640E56FC}"/>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Des dépendances explicites</a:t>
            </a:r>
          </a:p>
        </p:txBody>
      </p:sp>
      <p:sp>
        <p:nvSpPr>
          <p:cNvPr id="6" name="item-4">
            <a:extLst xmlns:a="http://schemas.openxmlformats.org/drawingml/2006/main">
              <a:ext uri="{FF2B5EF4-FFF2-40B4-BE49-F238E27FC236}">
                <a16:creationId xmlns:a16="http://schemas.microsoft.com/office/drawing/2014/main" id="{71BDFFA0-5ECB-4B55-96EB-1820757C73AA}"/>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Des conditions de fermeture définies à l’avance</a:t>
            </a:r>
          </a:p>
        </p:txBody>
      </p:sp>
      <p:sp>
        <p:nvSpPr>
          <p:cNvPr id="7" name="slide-number">
            <a:extLst xmlns:a="http://schemas.openxmlformats.org/drawingml/2006/main">
              <a:ext uri="{FF2B5EF4-FFF2-40B4-BE49-F238E27FC236}">
                <a16:creationId xmlns:a16="http://schemas.microsoft.com/office/drawing/2014/main" id="{E8EA2EEE-8189-45C6-86FA-3BB610FE22C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19</a:t>
            </a:r>
          </a:p>
        </p:txBody>
      </p:sp>
    </p:spTree>
    <p:extLst>
      <p:ext uri="{BB962C8B-B14F-4D97-AF65-F5344CB8AC3E}">
        <p14:creationId xmlns:p14="http://schemas.microsoft.com/office/powerpoint/2010/main" val="178983138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B628A608-C803-4B00-AEE6-8268D5D0CAF6}"/>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04  PRÉPARATION DES LOTS</a:t>
            </a:r>
          </a:p>
        </p:txBody>
      </p:sp>
      <p:sp>
        <p:nvSpPr>
          <p:cNvPr id="2" name="title">
            <a:extLst xmlns:a="http://schemas.openxmlformats.org/drawingml/2006/main">
              <a:ext uri="{FF2B5EF4-FFF2-40B4-BE49-F238E27FC236}">
                <a16:creationId xmlns:a16="http://schemas.microsoft.com/office/drawing/2014/main" id="{D0C046E3-50FD-49CF-A9B5-2721A68711DC}"/>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 parcours de TextAid</a:t>
            </a:r>
          </a:p>
        </p:txBody>
      </p:sp>
      <p:graphicFrame>
        <p:nvGraphicFramePr>
          <p:cNvPr id="7" name=""/>
          <p:cNvGraphicFramePr/>
          <p:nvPr/>
        </p:nvGraphicFramePr>
        <p:xfrm>
          <a:off xmlns:a="http://schemas.openxmlformats.org/drawingml/2006/main" x="685800" y="1962150"/>
          <a:ext xmlns:a="http://schemas.openxmlformats.org/drawingml/2006/main" cx="10820400" cy="4000500"/>
        </p:xfrm>
        <a:graphic xmlns:a="http://schemas.openxmlformats.org/drawingml/2006/main">
          <a:graphicData uri="http://schemas.openxmlformats.org/drawingml/2006/table">
            <a:tbl>
              <a:tblPr firstRow="1" bandRow="0"/>
              <a:tblGrid>
                <a:gridCol w="3524250"/>
                <a:gridCol w="7296150"/>
              </a:tblGrid>
              <a:tr h="666750">
                <a:tc>
                  <a:txBody>
                    <a:bodyPr lIns="171450" tIns="76200" rIns="152400" bIns="76200">
                      <a:noAutofit/>
                    </a:bodyPr>
                    <a:lstStyle/>
                    <a:p>
                      <a:r>
                        <a:rPr sz="1875" b="1">
                          <a:solidFill>
                            <a:srgbClr val="FFFFFF"/>
                          </a:solidFill>
                          <a:latin typeface="Arial"/>
                          <a:ea typeface="Arial"/>
                          <a:cs typeface="Arial"/>
                        </a:rPr>
                        <a:t>Lots</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Résultats visés</a:t>
                      </a:r>
                    </a:p>
                  </a:txBody>
                  <a:tcPr marL="91440" marR="91440" marT="45720" marB="45720" anchor="ctr">
                    <a:solidFill>
                      <a:srgbClr val="0D1B29"/>
                    </a:solidFill>
                  </a:tcPr>
                </a:tc>
              </a:tr>
              <a:tr h="666750">
                <a:tc>
                  <a:txBody>
                    <a:bodyPr lIns="171450" tIns="76200" rIns="152400" bIns="76200">
                      <a:noAutofit/>
                    </a:bodyPr>
                    <a:lstStyle/>
                    <a:p>
                      <a:r>
                        <a:rPr sz="2025" b="1">
                          <a:solidFill>
                            <a:srgbClr val="183044"/>
                          </a:solidFill>
                          <a:latin typeface="Arial"/>
                          <a:ea typeface="Arial"/>
                          <a:cs typeface="Arial"/>
                        </a:rPr>
                        <a:t>001–003</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Base visuelle, Windows, actions sûres</a:t>
                      </a:r>
                    </a:p>
                  </a:txBody>
                  <a:tcPr marL="91440" marR="91440" marT="45720" marB="45720" anchor="ctr">
                    <a:solidFill>
                      <a:srgbClr val="FFFFFF"/>
                    </a:solidFill>
                  </a:tcPr>
                </a:tc>
              </a:tr>
              <a:tr h="666750">
                <a:tc>
                  <a:txBody>
                    <a:bodyPr lIns="171450" tIns="76200" rIns="152400" bIns="76200">
                      <a:noAutofit/>
                    </a:bodyPr>
                    <a:lstStyle/>
                    <a:p>
                      <a:r>
                        <a:rPr sz="2025" b="1">
                          <a:solidFill>
                            <a:srgbClr val="183044"/>
                          </a:solidFill>
                          <a:latin typeface="Arial"/>
                          <a:ea typeface="Arial"/>
                          <a:cs typeface="Arial"/>
                        </a:rPr>
                        <a:t>004–006</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Modèle local, actions, connexions et profils</a:t>
                      </a:r>
                    </a:p>
                  </a:txBody>
                  <a:tcPr marL="91440" marR="91440" marT="45720" marB="45720" anchor="ctr">
                    <a:solidFill>
                      <a:srgbClr val="F2F6F8"/>
                    </a:solidFill>
                  </a:tcPr>
                </a:tc>
              </a:tr>
              <a:tr h="666750">
                <a:tc>
                  <a:txBody>
                    <a:bodyPr lIns="171450" tIns="76200" rIns="152400" bIns="76200">
                      <a:noAutofit/>
                    </a:bodyPr>
                    <a:lstStyle/>
                    <a:p>
                      <a:r>
                        <a:rPr sz="2025" b="1">
                          <a:solidFill>
                            <a:srgbClr val="183044"/>
                          </a:solidFill>
                          <a:latin typeface="Arial"/>
                          <a:ea typeface="Arial"/>
                          <a:cs typeface="Arial"/>
                        </a:rPr>
                        <a:t>007–009</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Confidentialité, réglages, langues, fournisseur distant</a:t>
                      </a:r>
                    </a:p>
                  </a:txBody>
                  <a:tcPr marL="91440" marR="91440" marT="45720" marB="45720" anchor="ctr">
                    <a:solidFill>
                      <a:srgbClr val="FFFFFF"/>
                    </a:solidFill>
                  </a:tcPr>
                </a:tc>
              </a:tr>
              <a:tr h="666750">
                <a:tc>
                  <a:txBody>
                    <a:bodyPr lIns="171450" tIns="76200" rIns="152400" bIns="76200">
                      <a:noAutofit/>
                    </a:bodyPr>
                    <a:lstStyle/>
                    <a:p>
                      <a:r>
                        <a:rPr sz="2025" b="1">
                          <a:solidFill>
                            <a:srgbClr val="183044"/>
                          </a:solidFill>
                          <a:latin typeface="Arial"/>
                          <a:ea typeface="Arial"/>
                          <a:cs typeface="Arial"/>
                        </a:rPr>
                        <a:t>010–011</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Qualification et livraison V1</a:t>
                      </a:r>
                    </a:p>
                  </a:txBody>
                  <a:tcPr marL="91440" marR="91440" marT="45720" marB="45720" anchor="ctr">
                    <a:solidFill>
                      <a:srgbClr val="F2F6F8"/>
                    </a:solidFill>
                  </a:tcPr>
                </a:tc>
              </a:tr>
              <a:tr h="666750">
                <a:tc>
                  <a:txBody>
                    <a:bodyPr lIns="171450" tIns="76200" rIns="152400" bIns="76200">
                      <a:noAutofit/>
                    </a:bodyPr>
                    <a:lstStyle/>
                    <a:p>
                      <a:r>
                        <a:rPr sz="2025" b="1">
                          <a:solidFill>
                            <a:srgbClr val="183044"/>
                          </a:solidFill>
                          <a:latin typeface="Arial"/>
                          <a:ea typeface="Arial"/>
                          <a:cs typeface="Arial"/>
                        </a:rPr>
                        <a:t>012–013</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Corrections de langues et aperçu Markdown</a:t>
                      </a:r>
                    </a:p>
                  </a:txBody>
                  <a:tcPr marL="91440" marR="91440" marT="45720" marB="45720" anchor="ctr">
                    <a:solidFill>
                      <a:srgbClr val="FFFFFF"/>
                    </a:solidFill>
                  </a:tcPr>
                </a:tc>
              </a:tr>
            </a:tbl>
          </a:graphicData>
        </a:graphic>
      </p:graphicFrame>
      <p:sp>
        <p:nvSpPr>
          <p:cNvPr id="4" name="slide-number">
            <a:extLst xmlns:a="http://schemas.openxmlformats.org/drawingml/2006/main">
              <a:ext uri="{FF2B5EF4-FFF2-40B4-BE49-F238E27FC236}">
                <a16:creationId xmlns:a16="http://schemas.microsoft.com/office/drawing/2014/main" id="{755A2C5D-1B18-4451-8EC6-BE33E86F797D}"/>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20</a:t>
            </a:r>
          </a:p>
        </p:txBody>
      </p:sp>
    </p:spTree>
    <p:extLst>
      <p:ext uri="{BB962C8B-B14F-4D97-AF65-F5344CB8AC3E}">
        <p14:creationId xmlns:p14="http://schemas.microsoft.com/office/powerpoint/2010/main" val="2432693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2CB8CCA8-484D-47C8-A7EE-ED583BA46BCA}"/>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04  PRÉPARATION DES LOTS</a:t>
            </a:r>
          </a:p>
        </p:txBody>
      </p:sp>
      <p:sp>
        <p:nvSpPr>
          <p:cNvPr id="2" name="title">
            <a:extLst xmlns:a="http://schemas.openxmlformats.org/drawingml/2006/main">
              <a:ext uri="{FF2B5EF4-FFF2-40B4-BE49-F238E27FC236}">
                <a16:creationId xmlns:a16="http://schemas.microsoft.com/office/drawing/2014/main" id="{6EFAA185-1F81-4D29-87D5-7D6BA6AC999F}"/>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Écrire une SPEC exploitable</a:t>
            </a:r>
          </a:p>
        </p:txBody>
      </p:sp>
      <p:sp>
        <p:nvSpPr>
          <p:cNvPr id="3" name="item-1">
            <a:extLst xmlns:a="http://schemas.openxmlformats.org/drawingml/2006/main">
              <a:ext uri="{FF2B5EF4-FFF2-40B4-BE49-F238E27FC236}">
                <a16:creationId xmlns:a16="http://schemas.microsoft.com/office/drawing/2014/main" id="{6E1BF04C-BFF8-4733-8DEF-8BDBE7B4153D}"/>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Objective et Context</a:t>
            </a:r>
          </a:p>
        </p:txBody>
      </p:sp>
      <p:sp>
        <p:nvSpPr>
          <p:cNvPr id="4" name="item-2">
            <a:extLst xmlns:a="http://schemas.openxmlformats.org/drawingml/2006/main">
              <a:ext uri="{FF2B5EF4-FFF2-40B4-BE49-F238E27FC236}">
                <a16:creationId xmlns:a16="http://schemas.microsoft.com/office/drawing/2014/main" id="{CECF15AE-2619-492F-9505-ED39BE3469A9}"/>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In scope et Out of scope</a:t>
            </a:r>
          </a:p>
        </p:txBody>
      </p:sp>
      <p:sp>
        <p:nvSpPr>
          <p:cNvPr id="5" name="item-3">
            <a:extLst xmlns:a="http://schemas.openxmlformats.org/drawingml/2006/main">
              <a:ext uri="{FF2B5EF4-FFF2-40B4-BE49-F238E27FC236}">
                <a16:creationId xmlns:a16="http://schemas.microsoft.com/office/drawing/2014/main" id="{3A0A6CAA-F8C0-4780-9939-7753F59645CE}"/>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Requirements et Important cases</a:t>
            </a:r>
          </a:p>
        </p:txBody>
      </p:sp>
      <p:sp>
        <p:nvSpPr>
          <p:cNvPr id="6" name="item-4">
            <a:extLst xmlns:a="http://schemas.openxmlformats.org/drawingml/2006/main">
              <a:ext uri="{FF2B5EF4-FFF2-40B4-BE49-F238E27FC236}">
                <a16:creationId xmlns:a16="http://schemas.microsoft.com/office/drawing/2014/main" id="{B2CE2E06-C623-4DEC-8E1E-EF21FDA7A1A9}"/>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Dependencies et Known constraints</a:t>
            </a:r>
          </a:p>
        </p:txBody>
      </p:sp>
      <p:sp>
        <p:nvSpPr>
          <p:cNvPr id="7" name="slide-number">
            <a:extLst xmlns:a="http://schemas.openxmlformats.org/drawingml/2006/main">
              <a:ext uri="{FF2B5EF4-FFF2-40B4-BE49-F238E27FC236}">
                <a16:creationId xmlns:a16="http://schemas.microsoft.com/office/drawing/2014/main" id="{0F623168-99DD-458D-A8BD-D81D26D2A73A}"/>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21</a:t>
            </a:r>
          </a:p>
        </p:txBody>
      </p:sp>
    </p:spTree>
    <p:extLst>
      <p:ext uri="{BB962C8B-B14F-4D97-AF65-F5344CB8AC3E}">
        <p14:creationId xmlns:p14="http://schemas.microsoft.com/office/powerpoint/2010/main" val="1686442495"/>
      </p:ext>
    </p:extLst>
  </p:cSld>
</p:sld>
</file>

<file path=ppt/slides/slide22.xml><?xml version="1.0" encoding="utf-8"?>
<p:sld xmlns:p="http://schemas.openxmlformats.org/presentationml/2006/main">
  <p:cSld>
    <p:bg>
      <p:bgPr>
        <a:solidFill xmlns:a="http://schemas.openxmlformats.org/drawingml/2006/main">
          <a:srgbClr val="0D1B29"/>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2D9BF882-7640-46E2-A39A-5BBFE890ED2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DE1E5"/>
                </a:solidFill>
                <a:latin typeface="Arial"/>
                <a:ea typeface="Arial"/>
                <a:cs typeface="Arial"/>
              </a:defRPr>
            </a:pPr>
            <a:r>
              <a:rPr sz="1500" b="1">
                <a:solidFill>
                  <a:srgbClr val="7DE1E5"/>
                </a:solidFill>
                <a:latin typeface="Arial"/>
                <a:ea typeface="Arial"/>
                <a:cs typeface="Arial"/>
              </a:rPr>
              <a:t>04  PRÉPARATION DES LOTS</a:t>
            </a:r>
          </a:p>
        </p:txBody>
      </p:sp>
      <p:sp>
        <p:nvSpPr>
          <p:cNvPr id="2" name="title">
            <a:extLst xmlns:a="http://schemas.openxmlformats.org/drawingml/2006/main">
              <a:ext uri="{FF2B5EF4-FFF2-40B4-BE49-F238E27FC236}">
                <a16:creationId xmlns:a16="http://schemas.microsoft.com/office/drawing/2014/main" id="{5B53A932-5AEA-4FD0-9A7F-97599AA8ACA5}"/>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1F6FA"/>
                </a:solidFill>
                <a:latin typeface="Arial"/>
                <a:ea typeface="Arial"/>
                <a:cs typeface="Arial"/>
              </a:defRPr>
            </a:pPr>
            <a:r>
              <a:rPr sz="3300" b="1">
                <a:solidFill>
                  <a:srgbClr val="F1F6FA"/>
                </a:solidFill>
                <a:latin typeface="Arial"/>
                <a:ea typeface="Arial"/>
                <a:cs typeface="Arial"/>
              </a:rPr>
              <a:t>Exigence réelle • un échec sûr</a:t>
            </a:r>
          </a:p>
        </p:txBody>
      </p:sp>
      <p:sp>
        <p:nvSpPr>
          <p:cNvPr id="3" name="item-1">
            <a:extLst xmlns:a="http://schemas.openxmlformats.org/drawingml/2006/main">
              <a:ext uri="{FF2B5EF4-FFF2-40B4-BE49-F238E27FC236}">
                <a16:creationId xmlns:a16="http://schemas.microsoft.com/office/drawing/2014/main" id="{FC38FDB5-4732-4C26-BE5A-29453F6C3794}"/>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1F6FA"/>
                </a:solidFill>
                <a:latin typeface="Arial"/>
                <a:ea typeface="Arial"/>
                <a:cs typeface="Arial"/>
              </a:defRPr>
            </a:pPr>
            <a:r>
              <a:rPr sz="2700" b="1">
                <a:solidFill>
                  <a:srgbClr val="F1F6FA"/>
                </a:solidFill>
                <a:latin typeface="Arial"/>
                <a:ea typeface="Arial"/>
                <a:cs typeface="Arial"/>
              </a:rPr>
              <a:t>REQ-003-004 — Safe failure</a:t>
            </a:r>
          </a:p>
        </p:txBody>
      </p:sp>
      <p:sp>
        <p:nvSpPr>
          <p:cNvPr id="4" name="item-2">
            <a:extLst xmlns:a="http://schemas.openxmlformats.org/drawingml/2006/main">
              <a:ext uri="{FF2B5EF4-FFF2-40B4-BE49-F238E27FC236}">
                <a16:creationId xmlns:a16="http://schemas.microsoft.com/office/drawing/2014/main" id="{F431A91B-99D3-4A91-BFC1-F0077737779B}"/>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Si la cible, le focus ou le collage échoue :</a:t>
            </a:r>
          </a:p>
        </p:txBody>
      </p:sp>
      <p:sp>
        <p:nvSpPr>
          <p:cNvPr id="5" name="item-3">
            <a:extLst xmlns:a="http://schemas.openxmlformats.org/drawingml/2006/main">
              <a:ext uri="{FF2B5EF4-FFF2-40B4-BE49-F238E27FC236}">
                <a16:creationId xmlns:a16="http://schemas.microsoft.com/office/drawing/2014/main" id="{BE504FF9-B27A-449F-8382-8A76092A7316}"/>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Ne jamais coller dans une autre fenêtre</a:t>
            </a:r>
          </a:p>
        </p:txBody>
      </p:sp>
      <p:sp>
        <p:nvSpPr>
          <p:cNvPr id="6" name="item-4">
            <a:extLst xmlns:a="http://schemas.openxmlformats.org/drawingml/2006/main">
              <a:ext uri="{FF2B5EF4-FFF2-40B4-BE49-F238E27FC236}">
                <a16:creationId xmlns:a16="http://schemas.microsoft.com/office/drawing/2014/main" id="{993F8B2C-B599-4EC1-B212-ABB6F7ACCB59}"/>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Conserver le résultat copiable et expliquer l’erreur</a:t>
            </a:r>
          </a:p>
        </p:txBody>
      </p:sp>
      <p:sp>
        <p:nvSpPr>
          <p:cNvPr id="7" name="slide-number">
            <a:extLst xmlns:a="http://schemas.openxmlformats.org/drawingml/2006/main">
              <a:ext uri="{FF2B5EF4-FFF2-40B4-BE49-F238E27FC236}">
                <a16:creationId xmlns:a16="http://schemas.microsoft.com/office/drawing/2014/main" id="{8DE30C6E-73A7-440A-9656-EC551A681F83}"/>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BC0D3"/>
                </a:solidFill>
                <a:latin typeface="Arial"/>
                <a:ea typeface="Arial"/>
                <a:cs typeface="Arial"/>
              </a:defRPr>
            </a:pPr>
            <a:r>
              <a:rPr sz="1350" b="0">
                <a:solidFill>
                  <a:srgbClr val="ABC0D3"/>
                </a:solidFill>
                <a:latin typeface="Arial"/>
                <a:ea typeface="Arial"/>
                <a:cs typeface="Arial"/>
              </a:rPr>
              <a:t>22</a:t>
            </a:r>
          </a:p>
        </p:txBody>
      </p:sp>
    </p:spTree>
    <p:extLst>
      <p:ext uri="{BB962C8B-B14F-4D97-AF65-F5344CB8AC3E}">
        <p14:creationId xmlns:p14="http://schemas.microsoft.com/office/powerpoint/2010/main" val="45609264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95580063-5AF7-4C58-A250-13440EA93437}"/>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04  PRÉPARATION DES LOTS</a:t>
            </a:r>
          </a:p>
        </p:txBody>
      </p:sp>
      <p:sp>
        <p:nvSpPr>
          <p:cNvPr id="2" name="title">
            <a:extLst xmlns:a="http://schemas.openxmlformats.org/drawingml/2006/main">
              <a:ext uri="{FF2B5EF4-FFF2-40B4-BE49-F238E27FC236}">
                <a16:creationId xmlns:a16="http://schemas.microsoft.com/office/drawing/2014/main" id="{DAF2713B-F73A-4AFB-B8C7-B0BFD358C74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Définir les gates avec la SPEC</a:t>
            </a:r>
          </a:p>
        </p:txBody>
      </p:sp>
      <p:sp>
        <p:nvSpPr>
          <p:cNvPr id="3" name="item-1">
            <a:extLst xmlns:a="http://schemas.openxmlformats.org/drawingml/2006/main">
              <a:ext uri="{FF2B5EF4-FFF2-40B4-BE49-F238E27FC236}">
                <a16:creationId xmlns:a16="http://schemas.microsoft.com/office/drawing/2014/main" id="{ABDF5EA1-8B33-4892-85CB-04B1D09636B4}"/>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Une gate décrit une condition de fermeture</a:t>
            </a:r>
          </a:p>
        </p:txBody>
      </p:sp>
      <p:sp>
        <p:nvSpPr>
          <p:cNvPr id="4" name="item-2">
            <a:extLst xmlns:a="http://schemas.openxmlformats.org/drawingml/2006/main">
              <a:ext uri="{FF2B5EF4-FFF2-40B4-BE49-F238E27FC236}">
                <a16:creationId xmlns:a16="http://schemas.microsoft.com/office/drawing/2014/main" id="{682BF081-899A-4F7B-BD34-C2A13387AE17}"/>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Elle précise comment examiner le résultat</a:t>
            </a:r>
          </a:p>
        </p:txBody>
      </p:sp>
      <p:sp>
        <p:nvSpPr>
          <p:cNvPr id="5" name="item-3">
            <a:extLst xmlns:a="http://schemas.openxmlformats.org/drawingml/2006/main">
              <a:ext uri="{FF2B5EF4-FFF2-40B4-BE49-F238E27FC236}">
                <a16:creationId xmlns:a16="http://schemas.microsoft.com/office/drawing/2014/main" id="{B853A7EE-DA04-4FF2-BDA8-69C9C82B2188}"/>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Son type dépend de la nature du verdict</a:t>
            </a:r>
          </a:p>
        </p:txBody>
      </p:sp>
      <p:sp>
        <p:nvSpPr>
          <p:cNvPr id="6" name="item-4">
            <a:extLst xmlns:a="http://schemas.openxmlformats.org/drawingml/2006/main">
              <a:ext uri="{FF2B5EF4-FFF2-40B4-BE49-F238E27FC236}">
                <a16:creationId xmlns:a16="http://schemas.microsoft.com/office/drawing/2014/main" id="{F235C3BB-D095-4C71-A339-8E751D5F92BC}"/>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Elle ne devient pas une seconde SPEC</a:t>
            </a:r>
          </a:p>
        </p:txBody>
      </p:sp>
      <p:sp>
        <p:nvSpPr>
          <p:cNvPr id="7" name="slide-number">
            <a:extLst xmlns:a="http://schemas.openxmlformats.org/drawingml/2006/main">
              <a:ext uri="{FF2B5EF4-FFF2-40B4-BE49-F238E27FC236}">
                <a16:creationId xmlns:a16="http://schemas.microsoft.com/office/drawing/2014/main" id="{40055E83-642B-4A30-9421-81F574280819}"/>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23</a:t>
            </a:r>
          </a:p>
        </p:txBody>
      </p:sp>
    </p:spTree>
    <p:extLst>
      <p:ext uri="{BB962C8B-B14F-4D97-AF65-F5344CB8AC3E}">
        <p14:creationId xmlns:p14="http://schemas.microsoft.com/office/powerpoint/2010/main" val="149984135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dule">
            <a:extLst xmlns:a="http://schemas.openxmlformats.org/drawingml/2006/main">
              <a:ext uri="{FF2B5EF4-FFF2-40B4-BE49-F238E27FC236}">
                <a16:creationId xmlns:a16="http://schemas.microsoft.com/office/drawing/2014/main" id="{A7E7069F-5B5B-450C-B9BA-6143E970B636}"/>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04  PRÉPARATION DES LOTS</a:t>
            </a:r>
          </a:p>
        </p:txBody>
      </p:sp>
      <p:sp>
        <p:nvSpPr>
          <p:cNvPr id="2" name="title">
            <a:extLst xmlns:a="http://schemas.openxmlformats.org/drawingml/2006/main">
              <a:ext uri="{FF2B5EF4-FFF2-40B4-BE49-F238E27FC236}">
                <a16:creationId xmlns:a16="http://schemas.microsoft.com/office/drawing/2014/main" id="{B97AF02B-B6F8-4264-860E-986AE11E3AC2}"/>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Atelier 2 • spécifier Copy</a:t>
            </a:r>
          </a:p>
        </p:txBody>
      </p:sp>
      <p:sp>
        <p:nvSpPr>
          <p:cNvPr id="3" name="step-1">
            <a:extLst xmlns:a="http://schemas.openxmlformats.org/drawingml/2006/main">
              <a:ext uri="{FF2B5EF4-FFF2-40B4-BE49-F238E27FC236}">
                <a16:creationId xmlns:a16="http://schemas.microsoft.com/office/drawing/2014/main" id="{A8E54E80-E4BF-4E25-AF8A-ED04870C9BE8}"/>
              </a:ext>
            </a:extLst>
          </p:cNvPr>
          <p:cNvSpPr>
            <a:spLocks xmlns:a="http://schemas.openxmlformats.org/drawingml/2006/main" noGrp="1"/>
          </p:cNvSpPr>
          <p:nvPr/>
        </p:nvSpPr>
        <p:spPr>
          <a:xfrm xmlns:a="http://schemas.openxmlformats.org/drawingml/2006/main">
            <a:off x="685800" y="20764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01</a:t>
            </a:r>
          </a:p>
        </p:txBody>
      </p:sp>
      <p:sp>
        <p:nvSpPr>
          <p:cNvPr id="4" name="instruction-1">
            <a:extLst xmlns:a="http://schemas.openxmlformats.org/drawingml/2006/main">
              <a:ext uri="{FF2B5EF4-FFF2-40B4-BE49-F238E27FC236}">
                <a16:creationId xmlns:a16="http://schemas.microsoft.com/office/drawing/2014/main" id="{975C409F-C805-4EEA-8D17-9C51D9BD3041}"/>
              </a:ext>
            </a:extLst>
          </p:cNvPr>
          <p:cNvSpPr>
            <a:spLocks xmlns:a="http://schemas.openxmlformats.org/drawingml/2006/main" noGrp="1"/>
          </p:cNvSpPr>
          <p:nvPr/>
        </p:nvSpPr>
        <p:spPr>
          <a:xfrm xmlns:a="http://schemas.openxmlformats.org/drawingml/2006/main">
            <a:off x="1666875" y="20764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Objectif : copier le résultat sans modifier la source</a:t>
            </a:r>
          </a:p>
        </p:txBody>
      </p:sp>
      <p:sp>
        <p:nvSpPr>
          <p:cNvPr id="5" name="step-2">
            <a:extLst xmlns:a="http://schemas.openxmlformats.org/drawingml/2006/main">
              <a:ext uri="{FF2B5EF4-FFF2-40B4-BE49-F238E27FC236}">
                <a16:creationId xmlns:a16="http://schemas.microsoft.com/office/drawing/2014/main" id="{7ABA3CCB-BB7C-4B58-9783-131256DDAA70}"/>
              </a:ext>
            </a:extLst>
          </p:cNvPr>
          <p:cNvSpPr>
            <a:spLocks xmlns:a="http://schemas.openxmlformats.org/drawingml/2006/main" noGrp="1"/>
          </p:cNvSpPr>
          <p:nvPr/>
        </p:nvSpPr>
        <p:spPr>
          <a:xfrm xmlns:a="http://schemas.openxmlformats.org/drawingml/2006/main">
            <a:off x="685800" y="29718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02</a:t>
            </a:r>
          </a:p>
        </p:txBody>
      </p:sp>
      <p:sp>
        <p:nvSpPr>
          <p:cNvPr id="6" name="instruction-2">
            <a:extLst xmlns:a="http://schemas.openxmlformats.org/drawingml/2006/main">
              <a:ext uri="{FF2B5EF4-FFF2-40B4-BE49-F238E27FC236}">
                <a16:creationId xmlns:a16="http://schemas.microsoft.com/office/drawing/2014/main" id="{BF8951AB-7A22-43D9-B4EC-2C27BC4F9263}"/>
              </a:ext>
            </a:extLst>
          </p:cNvPr>
          <p:cNvSpPr>
            <a:spLocks xmlns:a="http://schemas.openxmlformats.org/drawingml/2006/main" noGrp="1"/>
          </p:cNvSpPr>
          <p:nvPr/>
        </p:nvSpPr>
        <p:spPr>
          <a:xfrm xmlns:a="http://schemas.openxmlformats.org/drawingml/2006/main">
            <a:off x="1666875" y="29718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Préciser le succès, l’annulation et l’absence de résultat</a:t>
            </a:r>
          </a:p>
        </p:txBody>
      </p:sp>
      <p:sp>
        <p:nvSpPr>
          <p:cNvPr id="7" name="step-3">
            <a:extLst xmlns:a="http://schemas.openxmlformats.org/drawingml/2006/main">
              <a:ext uri="{FF2B5EF4-FFF2-40B4-BE49-F238E27FC236}">
                <a16:creationId xmlns:a16="http://schemas.microsoft.com/office/drawing/2014/main" id="{F011D775-2084-405F-9955-E72271565ECB}"/>
              </a:ext>
            </a:extLst>
          </p:cNvPr>
          <p:cNvSpPr>
            <a:spLocks xmlns:a="http://schemas.openxmlformats.org/drawingml/2006/main" noGrp="1"/>
          </p:cNvSpPr>
          <p:nvPr/>
        </p:nvSpPr>
        <p:spPr>
          <a:xfrm xmlns:a="http://schemas.openxmlformats.org/drawingml/2006/main">
            <a:off x="685800" y="38671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03</a:t>
            </a:r>
          </a:p>
        </p:txBody>
      </p:sp>
      <p:sp>
        <p:nvSpPr>
          <p:cNvPr id="8" name="instruction-3">
            <a:extLst xmlns:a="http://schemas.openxmlformats.org/drawingml/2006/main">
              <a:ext uri="{FF2B5EF4-FFF2-40B4-BE49-F238E27FC236}">
                <a16:creationId xmlns:a16="http://schemas.microsoft.com/office/drawing/2014/main" id="{3FFCC51B-6220-46C5-A374-AC83B95EE28B}"/>
              </a:ext>
            </a:extLst>
          </p:cNvPr>
          <p:cNvSpPr>
            <a:spLocks xmlns:a="http://schemas.openxmlformats.org/drawingml/2006/main" noGrp="1"/>
          </p:cNvSpPr>
          <p:nvPr/>
        </p:nvSpPr>
        <p:spPr>
          <a:xfrm xmlns:a="http://schemas.openxmlformats.org/drawingml/2006/main">
            <a:off x="1666875" y="38671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Écrire 2 à 4 exigences identifiées</a:t>
            </a:r>
          </a:p>
        </p:txBody>
      </p:sp>
      <p:sp>
        <p:nvSpPr>
          <p:cNvPr id="9" name="step-4">
            <a:extLst xmlns:a="http://schemas.openxmlformats.org/drawingml/2006/main">
              <a:ext uri="{FF2B5EF4-FFF2-40B4-BE49-F238E27FC236}">
                <a16:creationId xmlns:a16="http://schemas.microsoft.com/office/drawing/2014/main" id="{8D68E89F-F228-4C77-A171-CCD456502333}"/>
              </a:ext>
            </a:extLst>
          </p:cNvPr>
          <p:cNvSpPr>
            <a:spLocks xmlns:a="http://schemas.openxmlformats.org/drawingml/2006/main" noGrp="1"/>
          </p:cNvSpPr>
          <p:nvPr/>
        </p:nvSpPr>
        <p:spPr>
          <a:xfrm xmlns:a="http://schemas.openxmlformats.org/drawingml/2006/main">
            <a:off x="685800" y="47625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04</a:t>
            </a:r>
          </a:p>
        </p:txBody>
      </p:sp>
      <p:sp>
        <p:nvSpPr>
          <p:cNvPr id="10" name="instruction-4">
            <a:extLst xmlns:a="http://schemas.openxmlformats.org/drawingml/2006/main">
              <a:ext uri="{FF2B5EF4-FFF2-40B4-BE49-F238E27FC236}">
                <a16:creationId xmlns:a16="http://schemas.microsoft.com/office/drawing/2014/main" id="{BC489052-1E66-4570-B30C-75BC478C24D0}"/>
              </a:ext>
            </a:extLst>
          </p:cNvPr>
          <p:cNvSpPr>
            <a:spLocks xmlns:a="http://schemas.openxmlformats.org/drawingml/2006/main" noGrp="1"/>
          </p:cNvSpPr>
          <p:nvPr/>
        </p:nvSpPr>
        <p:spPr>
          <a:xfrm xmlns:a="http://schemas.openxmlformats.org/drawingml/2006/main">
            <a:off x="1666875" y="47625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Proposer une gate AUTO et une gate HUMAN</a:t>
            </a:r>
          </a:p>
        </p:txBody>
      </p:sp>
      <p:sp>
        <p:nvSpPr>
          <p:cNvPr id="11" name="slide-number">
            <a:extLst xmlns:a="http://schemas.openxmlformats.org/drawingml/2006/main">
              <a:ext uri="{FF2B5EF4-FFF2-40B4-BE49-F238E27FC236}">
                <a16:creationId xmlns:a16="http://schemas.microsoft.com/office/drawing/2014/main" id="{536888CB-3275-4FE4-8728-C613BBD26DDA}"/>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24</a:t>
            </a:r>
          </a:p>
        </p:txBody>
      </p:sp>
    </p:spTree>
    <p:extLst>
      <p:ext uri="{BB962C8B-B14F-4D97-AF65-F5344CB8AC3E}">
        <p14:creationId xmlns:p14="http://schemas.microsoft.com/office/powerpoint/2010/main" val="178736340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1E81CA74-A7BF-42DB-91FD-ED058C40D3AC}"/>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04  PRÉPARATION DES LOTS</a:t>
            </a:r>
          </a:p>
        </p:txBody>
      </p:sp>
      <p:sp>
        <p:nvSpPr>
          <p:cNvPr id="2" name="title">
            <a:extLst xmlns:a="http://schemas.openxmlformats.org/drawingml/2006/main">
              <a:ext uri="{FF2B5EF4-FFF2-40B4-BE49-F238E27FC236}">
                <a16:creationId xmlns:a16="http://schemas.microsoft.com/office/drawing/2014/main" id="{9EF3E720-9884-436C-8C62-EDDB4A957D49}"/>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Passer de Draft à Planned</a:t>
            </a:r>
          </a:p>
        </p:txBody>
      </p:sp>
      <p:sp>
        <p:nvSpPr>
          <p:cNvPr id="3" name="item-1">
            <a:extLst xmlns:a="http://schemas.openxmlformats.org/drawingml/2006/main">
              <a:ext uri="{FF2B5EF4-FFF2-40B4-BE49-F238E27FC236}">
                <a16:creationId xmlns:a16="http://schemas.microsoft.com/office/drawing/2014/main" id="{E8232B6A-6C60-456C-8833-FAB230930550}"/>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Identifiant attribué</a:t>
            </a:r>
          </a:p>
        </p:txBody>
      </p:sp>
      <p:sp>
        <p:nvSpPr>
          <p:cNvPr id="4" name="item-2">
            <a:extLst xmlns:a="http://schemas.openxmlformats.org/drawingml/2006/main">
              <a:ext uri="{FF2B5EF4-FFF2-40B4-BE49-F238E27FC236}">
                <a16:creationId xmlns:a16="http://schemas.microsoft.com/office/drawing/2014/main" id="{F1458448-7452-4A90-B3E6-114DA311D62A}"/>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SPEC suffisamment définie</a:t>
            </a:r>
          </a:p>
        </p:txBody>
      </p:sp>
      <p:sp>
        <p:nvSpPr>
          <p:cNvPr id="5" name="item-3">
            <a:extLst xmlns:a="http://schemas.openxmlformats.org/drawingml/2006/main">
              <a:ext uri="{FF2B5EF4-FFF2-40B4-BE49-F238E27FC236}">
                <a16:creationId xmlns:a16="http://schemas.microsoft.com/office/drawing/2014/main" id="{48F84E6E-E5FF-432E-B904-3F6060B9A30F}"/>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GATES définies</a:t>
            </a:r>
          </a:p>
        </p:txBody>
      </p:sp>
      <p:sp>
        <p:nvSpPr>
          <p:cNvPr id="6" name="item-4">
            <a:extLst xmlns:a="http://schemas.openxmlformats.org/drawingml/2006/main">
              <a:ext uri="{FF2B5EF4-FFF2-40B4-BE49-F238E27FC236}">
                <a16:creationId xmlns:a16="http://schemas.microsoft.com/office/drawing/2014/main" id="{1306C08B-4D7C-44DF-9BBD-B7593E3519DD}"/>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Lot inscrit dans STATUS</a:t>
            </a:r>
          </a:p>
        </p:txBody>
      </p:sp>
      <p:sp>
        <p:nvSpPr>
          <p:cNvPr id="7" name="slide-number">
            <a:extLst xmlns:a="http://schemas.openxmlformats.org/drawingml/2006/main">
              <a:ext uri="{FF2B5EF4-FFF2-40B4-BE49-F238E27FC236}">
                <a16:creationId xmlns:a16="http://schemas.microsoft.com/office/drawing/2014/main" id="{1CFB0EFA-5C81-4C41-B21F-F7D1C84A2D9D}"/>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25</a:t>
            </a:r>
          </a:p>
        </p:txBody>
      </p:sp>
    </p:spTree>
    <p:extLst>
      <p:ext uri="{BB962C8B-B14F-4D97-AF65-F5344CB8AC3E}">
        <p14:creationId xmlns:p14="http://schemas.microsoft.com/office/powerpoint/2010/main" val="211176062"/>
      </p:ext>
    </p:extLst>
  </p:cSld>
</p:sld>
</file>

<file path=ppt/slides/slide26.xml><?xml version="1.0" encoding="utf-8"?>
<p:sld xmlns:p="http://schemas.openxmlformats.org/presentationml/2006/main">
  <p:cSld>
    <p:bg>
      <p:bgPr>
        <a:solidFill xmlns:a="http://schemas.openxmlformats.org/drawingml/2006/main">
          <a:srgbClr val="0D1B29"/>
        </a:solidFill>
      </p:bgPr>
    </p:bg>
    <p:spTree>
      <p:nvGrpSpPr>
        <p:cNvPr id="1" name=""/>
        <p:cNvGrpSpPr/>
        <p:nvPr/>
      </p:nvGrpSpPr>
      <p:grpSpPr>
        <a:xfrm xmlns:a="http://schemas.openxmlformats.org/drawingml/2006/main"/>
      </p:grpSpPr>
      <p:sp>
        <p:nvSpPr>
          <p:cNvPr id="6" name="module">
            <a:extLst xmlns:a="http://schemas.openxmlformats.org/drawingml/2006/main">
              <a:ext uri="{FF2B5EF4-FFF2-40B4-BE49-F238E27FC236}">
                <a16:creationId xmlns:a16="http://schemas.microsoft.com/office/drawing/2014/main" id="{66C0DC9B-AF88-4B94-9FC0-3E57FB73F4D8}"/>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DE1E5"/>
                </a:solidFill>
                <a:latin typeface="Arial"/>
                <a:ea typeface="Arial"/>
                <a:cs typeface="Arial"/>
              </a:defRPr>
            </a:pPr>
            <a:r>
              <a:rPr sz="1500" b="1">
                <a:solidFill>
                  <a:srgbClr val="7DE1E5"/>
                </a:solidFill>
                <a:latin typeface="Arial"/>
                <a:ea typeface="Arial"/>
                <a:cs typeface="Arial"/>
              </a:rPr>
              <a:t>05  DÉMARRAGE ET EXÉCUTION</a:t>
            </a:r>
          </a:p>
        </p:txBody>
      </p:sp>
      <p:sp>
        <p:nvSpPr>
          <p:cNvPr id="2" name="title">
            <a:extLst xmlns:a="http://schemas.openxmlformats.org/drawingml/2006/main">
              <a:ext uri="{FF2B5EF4-FFF2-40B4-BE49-F238E27FC236}">
                <a16:creationId xmlns:a16="http://schemas.microsoft.com/office/drawing/2014/main" id="{8A1FE76D-34C4-49EF-A7EE-9B6E7EF4E819}"/>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1F6FA"/>
                </a:solidFill>
                <a:latin typeface="Arial"/>
                <a:ea typeface="Arial"/>
                <a:cs typeface="Arial"/>
              </a:defRPr>
            </a:pPr>
            <a:r>
              <a:rPr sz="3300" b="1">
                <a:solidFill>
                  <a:srgbClr val="F1F6FA"/>
                </a:solidFill>
                <a:latin typeface="Arial"/>
                <a:ea typeface="Arial"/>
                <a:cs typeface="Arial"/>
              </a:rPr>
              <a:t>Le prompt de démarrage</a:t>
            </a:r>
          </a:p>
        </p:txBody>
      </p:sp>
      <p:sp>
        <p:nvSpPr>
          <p:cNvPr id="3" name="prompt">
            <a:extLst xmlns:a="http://schemas.openxmlformats.org/drawingml/2006/main">
              <a:ext uri="{FF2B5EF4-FFF2-40B4-BE49-F238E27FC236}">
                <a16:creationId xmlns:a16="http://schemas.microsoft.com/office/drawing/2014/main" id="{DFD5E314-8FA8-47D7-B046-7523A653783C}"/>
              </a:ext>
            </a:extLst>
          </p:cNvPr>
          <p:cNvSpPr>
            <a:spLocks xmlns:a="http://schemas.openxmlformats.org/drawingml/2006/main" noGrp="1"/>
          </p:cNvSpPr>
          <p:nvPr/>
        </p:nvSpPr>
        <p:spPr>
          <a:xfrm xmlns:a="http://schemas.openxmlformats.org/drawingml/2006/main">
            <a:off x="685800" y="2495550"/>
            <a:ext cx="108204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1F6FA"/>
                </a:solidFill>
                <a:latin typeface="Arial"/>
                <a:ea typeface="Arial"/>
                <a:cs typeface="Arial"/>
              </a:defRPr>
            </a:pPr>
            <a:r>
              <a:rPr sz="3900" b="1">
                <a:solidFill>
                  <a:srgbClr val="F1F6FA"/>
                </a:solidFill>
                <a:latin typeface="Arial"/>
                <a:ea typeface="Arial"/>
                <a:cs typeface="Arial"/>
              </a:rPr>
              <a:t>Lis le README et exécute le prochain lot.</a:t>
            </a:r>
          </a:p>
        </p:txBody>
      </p:sp>
      <p:sp>
        <p:nvSpPr>
          <p:cNvPr id="4" name="meaning">
            <a:extLst xmlns:a="http://schemas.openxmlformats.org/drawingml/2006/main">
              <a:ext uri="{FF2B5EF4-FFF2-40B4-BE49-F238E27FC236}">
                <a16:creationId xmlns:a16="http://schemas.microsoft.com/office/drawing/2014/main" id="{4DCF718B-D68B-4333-94D4-011AB79496A4}"/>
              </a:ext>
            </a:extLst>
          </p:cNvPr>
          <p:cNvSpPr>
            <a:spLocks xmlns:a="http://schemas.openxmlformats.org/drawingml/2006/main" noGrp="1"/>
          </p:cNvSpPr>
          <p:nvPr/>
        </p:nvSpPr>
        <p:spPr>
          <a:xfrm xmlns:a="http://schemas.openxmlformats.org/drawingml/2006/main">
            <a:off x="685800" y="51625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3CF83"/>
                </a:solidFill>
                <a:latin typeface="Arial"/>
                <a:ea typeface="Arial"/>
                <a:cs typeface="Arial"/>
              </a:defRPr>
            </a:pPr>
            <a:r>
              <a:rPr sz="2250" b="0">
                <a:solidFill>
                  <a:srgbClr val="F3CF83"/>
                </a:solidFill>
                <a:latin typeface="Arial"/>
                <a:ea typeface="Arial"/>
                <a:cs typeface="Arial"/>
              </a:rPr>
              <a:t>Les fichiers portent le protocole et le contexte.</a:t>
            </a:r>
          </a:p>
        </p:txBody>
      </p:sp>
      <p:sp>
        <p:nvSpPr>
          <p:cNvPr id="5" name="slide-number">
            <a:extLst xmlns:a="http://schemas.openxmlformats.org/drawingml/2006/main">
              <a:ext uri="{FF2B5EF4-FFF2-40B4-BE49-F238E27FC236}">
                <a16:creationId xmlns:a16="http://schemas.microsoft.com/office/drawing/2014/main" id="{B0DD894D-BD82-4E3F-AE9A-D0274EFE7EBD}"/>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BC0D3"/>
                </a:solidFill>
                <a:latin typeface="Arial"/>
                <a:ea typeface="Arial"/>
                <a:cs typeface="Arial"/>
              </a:defRPr>
            </a:pPr>
            <a:r>
              <a:rPr sz="1350" b="0">
                <a:solidFill>
                  <a:srgbClr val="ABC0D3"/>
                </a:solidFill>
                <a:latin typeface="Arial"/>
                <a:ea typeface="Arial"/>
                <a:cs typeface="Arial"/>
              </a:rPr>
              <a:t>26</a:t>
            </a:r>
          </a:p>
        </p:txBody>
      </p:sp>
    </p:spTree>
    <p:extLst>
      <p:ext uri="{BB962C8B-B14F-4D97-AF65-F5344CB8AC3E}">
        <p14:creationId xmlns:p14="http://schemas.microsoft.com/office/powerpoint/2010/main" val="2038092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83B44F66-8455-46F2-9F34-9CFC208240B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05  DÉMARRAGE ET EXÉCUTION</a:t>
            </a:r>
          </a:p>
        </p:txBody>
      </p:sp>
      <p:sp>
        <p:nvSpPr>
          <p:cNvPr id="2" name="title">
            <a:extLst xmlns:a="http://schemas.openxmlformats.org/drawingml/2006/main">
              <a:ext uri="{FF2B5EF4-FFF2-40B4-BE49-F238E27FC236}">
                <a16:creationId xmlns:a16="http://schemas.microsoft.com/office/drawing/2014/main" id="{4CBC5F51-9EA6-48A6-8F95-DBE0FE48092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 bootstrap reconstruit le contexte</a:t>
            </a:r>
          </a:p>
        </p:txBody>
      </p:sp>
      <p:sp>
        <p:nvSpPr>
          <p:cNvPr id="3" name="item-1">
            <a:extLst xmlns:a="http://schemas.openxmlformats.org/drawingml/2006/main">
              <a:ext uri="{FF2B5EF4-FFF2-40B4-BE49-F238E27FC236}">
                <a16:creationId xmlns:a16="http://schemas.microsoft.com/office/drawing/2014/main" id="{1CA7403D-DE08-41F8-8135-B3BEB0B898BE}"/>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README → PROJECT → RULES</a:t>
            </a:r>
          </a:p>
        </p:txBody>
      </p:sp>
      <p:sp>
        <p:nvSpPr>
          <p:cNvPr id="4" name="item-2">
            <a:extLst xmlns:a="http://schemas.openxmlformats.org/drawingml/2006/main">
              <a:ext uri="{FF2B5EF4-FFF2-40B4-BE49-F238E27FC236}">
                <a16:creationId xmlns:a16="http://schemas.microsoft.com/office/drawing/2014/main" id="{21368F7E-D42A-44EB-AED3-E9849675E264}"/>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Toutes les décisions actives du LEDGER</a:t>
            </a:r>
          </a:p>
        </p:txBody>
      </p:sp>
      <p:sp>
        <p:nvSpPr>
          <p:cNvPr id="5" name="item-3">
            <a:extLst xmlns:a="http://schemas.openxmlformats.org/drawingml/2006/main">
              <a:ext uri="{FF2B5EF4-FFF2-40B4-BE49-F238E27FC236}">
                <a16:creationId xmlns:a16="http://schemas.microsoft.com/office/drawing/2014/main" id="{05CFD9BC-C512-4141-9884-28A90C629B94}"/>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Décisions obsolètes explicitement référencées → STATUS</a:t>
            </a:r>
          </a:p>
        </p:txBody>
      </p:sp>
      <p:sp>
        <p:nvSpPr>
          <p:cNvPr id="6" name="item-4">
            <a:extLst xmlns:a="http://schemas.openxmlformats.org/drawingml/2006/main">
              <a:ext uri="{FF2B5EF4-FFF2-40B4-BE49-F238E27FC236}">
                <a16:creationId xmlns:a16="http://schemas.microsoft.com/office/drawing/2014/main" id="{F4578084-3846-4C23-BDB2-E8FA09D46627}"/>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SPEC → FINDINGS → GATES → CONVERGENCE si présente</a:t>
            </a:r>
          </a:p>
        </p:txBody>
      </p:sp>
      <p:sp>
        <p:nvSpPr>
          <p:cNvPr id="7" name="slide-number">
            <a:extLst xmlns:a="http://schemas.openxmlformats.org/drawingml/2006/main">
              <a:ext uri="{FF2B5EF4-FFF2-40B4-BE49-F238E27FC236}">
                <a16:creationId xmlns:a16="http://schemas.microsoft.com/office/drawing/2014/main" id="{B7047DDC-A29A-45B1-B63A-CF8BC76E46F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27</a:t>
            </a:r>
          </a:p>
        </p:txBody>
      </p:sp>
    </p:spTree>
    <p:extLst>
      <p:ext uri="{BB962C8B-B14F-4D97-AF65-F5344CB8AC3E}">
        <p14:creationId xmlns:p14="http://schemas.microsoft.com/office/powerpoint/2010/main" val="138560400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1F1044A6-A9DE-4F79-BDD5-CC6AC8B15E6D}"/>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05  DÉMARRAGE ET EXÉCUTION</a:t>
            </a:r>
          </a:p>
        </p:txBody>
      </p:sp>
      <p:sp>
        <p:nvSpPr>
          <p:cNvPr id="2" name="title">
            <a:extLst xmlns:a="http://schemas.openxmlformats.org/drawingml/2006/main">
              <a:ext uri="{FF2B5EF4-FFF2-40B4-BE49-F238E27FC236}">
                <a16:creationId xmlns:a16="http://schemas.microsoft.com/office/drawing/2014/main" id="{20465E5A-698E-4CD8-8CEF-DF293574D798}"/>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Un seul créneau actif par projet</a:t>
            </a:r>
          </a:p>
        </p:txBody>
      </p:sp>
      <p:sp>
        <p:nvSpPr>
          <p:cNvPr id="3" name="item-1">
            <a:extLst xmlns:a="http://schemas.openxmlformats.org/drawingml/2006/main">
              <a:ext uri="{FF2B5EF4-FFF2-40B4-BE49-F238E27FC236}">
                <a16:creationId xmlns:a16="http://schemas.microsoft.com/office/drawing/2014/main" id="{8D732780-2994-45E0-8CA3-0BEFD2BEC70B}"/>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In-progress : exécution</a:t>
            </a:r>
          </a:p>
        </p:txBody>
      </p:sp>
      <p:sp>
        <p:nvSpPr>
          <p:cNvPr id="4" name="item-2">
            <a:extLst xmlns:a="http://schemas.openxmlformats.org/drawingml/2006/main">
              <a:ext uri="{FF2B5EF4-FFF2-40B4-BE49-F238E27FC236}">
                <a16:creationId xmlns:a16="http://schemas.microsoft.com/office/drawing/2014/main" id="{D18E9A1F-B72F-40D7-B57E-E835CD4C7B9B}"/>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Blocked : exécution empêchée</a:t>
            </a:r>
          </a:p>
        </p:txBody>
      </p:sp>
      <p:sp>
        <p:nvSpPr>
          <p:cNvPr id="5" name="item-3">
            <a:extLst xmlns:a="http://schemas.openxmlformats.org/drawingml/2006/main">
              <a:ext uri="{FF2B5EF4-FFF2-40B4-BE49-F238E27FC236}">
                <a16:creationId xmlns:a16="http://schemas.microsoft.com/office/drawing/2014/main" id="{010B90AA-8795-47B7-8E2E-D82C11471227}"/>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Ready-to-close : fermeture en attente</a:t>
            </a:r>
          </a:p>
        </p:txBody>
      </p:sp>
      <p:sp>
        <p:nvSpPr>
          <p:cNvPr id="6" name="item-4">
            <a:extLst xmlns:a="http://schemas.openxmlformats.org/drawingml/2006/main">
              <a:ext uri="{FF2B5EF4-FFF2-40B4-BE49-F238E27FC236}">
                <a16:creationId xmlns:a16="http://schemas.microsoft.com/office/drawing/2014/main" id="{E7947775-35BB-4967-AEC3-40657D6FE623}"/>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Au plus un lot dans l’ensemble de ces trois états</a:t>
            </a:r>
          </a:p>
        </p:txBody>
      </p:sp>
      <p:sp>
        <p:nvSpPr>
          <p:cNvPr id="7" name="slide-number">
            <a:extLst xmlns:a="http://schemas.openxmlformats.org/drawingml/2006/main">
              <a:ext uri="{FF2B5EF4-FFF2-40B4-BE49-F238E27FC236}">
                <a16:creationId xmlns:a16="http://schemas.microsoft.com/office/drawing/2014/main" id="{77B32B12-E84C-4B1D-9693-F9325306D48E}"/>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28</a:t>
            </a:r>
          </a:p>
        </p:txBody>
      </p:sp>
    </p:spTree>
    <p:extLst>
      <p:ext uri="{BB962C8B-B14F-4D97-AF65-F5344CB8AC3E}">
        <p14:creationId xmlns:p14="http://schemas.microsoft.com/office/powerpoint/2010/main" val="23746320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D93510AA-C178-4870-BA8C-F37427675A1A}"/>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05  DÉMARRAGE ET EXÉCUTION</a:t>
            </a:r>
          </a:p>
        </p:txBody>
      </p:sp>
      <p:sp>
        <p:nvSpPr>
          <p:cNvPr id="2" name="title">
            <a:extLst xmlns:a="http://schemas.openxmlformats.org/drawingml/2006/main">
              <a:ext uri="{FF2B5EF4-FFF2-40B4-BE49-F238E27FC236}">
                <a16:creationId xmlns:a16="http://schemas.microsoft.com/office/drawing/2014/main" id="{B9081245-1CE7-4E39-9E4E-8F7A4AA39954}"/>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L’IA applique le protocole</a:t>
            </a:r>
          </a:p>
        </p:txBody>
      </p:sp>
      <p:sp>
        <p:nvSpPr>
          <p:cNvPr id="3" name="item-1">
            <a:extLst xmlns:a="http://schemas.openxmlformats.org/drawingml/2006/main">
              <a:ext uri="{FF2B5EF4-FFF2-40B4-BE49-F238E27FC236}">
                <a16:creationId xmlns:a16="http://schemas.microsoft.com/office/drawing/2014/main" id="{7390C15C-20FB-4D78-AB97-B89EA7B37D2B}"/>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Réaliser le résultat demandé</a:t>
            </a:r>
          </a:p>
        </p:txBody>
      </p:sp>
      <p:sp>
        <p:nvSpPr>
          <p:cNvPr id="4" name="item-2">
            <a:extLst xmlns:a="http://schemas.openxmlformats.org/drawingml/2006/main">
              <a:ext uri="{FF2B5EF4-FFF2-40B4-BE49-F238E27FC236}">
                <a16:creationId xmlns:a16="http://schemas.microsoft.com/office/drawing/2014/main" id="{CDA80BAC-C5DB-4FCD-8252-6177CCF24A7F}"/>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Tenir FINDINGS et les évaluations des GATES</a:t>
            </a:r>
          </a:p>
        </p:txBody>
      </p:sp>
      <p:sp>
        <p:nvSpPr>
          <p:cNvPr id="5" name="item-3">
            <a:extLst xmlns:a="http://schemas.openxmlformats.org/drawingml/2006/main">
              <a:ext uri="{FF2B5EF4-FFF2-40B4-BE49-F238E27FC236}">
                <a16:creationId xmlns:a16="http://schemas.microsoft.com/office/drawing/2014/main" id="{3AB3D90A-B5D8-451F-9443-D249BAC5C071}"/>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Préparer les décisions et les mises à jour</a:t>
            </a:r>
          </a:p>
        </p:txBody>
      </p:sp>
      <p:sp>
        <p:nvSpPr>
          <p:cNvPr id="6" name="item-4">
            <a:extLst xmlns:a="http://schemas.openxmlformats.org/drawingml/2006/main">
              <a:ext uri="{FF2B5EF4-FFF2-40B4-BE49-F238E27FC236}">
                <a16:creationId xmlns:a16="http://schemas.microsoft.com/office/drawing/2014/main" id="{774F675F-52ED-4DCC-9A95-E9B67F8BBC1B}"/>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Solliciter l’humain aux points qui lui reviennent</a:t>
            </a:r>
          </a:p>
        </p:txBody>
      </p:sp>
      <p:sp>
        <p:nvSpPr>
          <p:cNvPr id="7" name="slide-number">
            <a:extLst xmlns:a="http://schemas.openxmlformats.org/drawingml/2006/main">
              <a:ext uri="{FF2B5EF4-FFF2-40B4-BE49-F238E27FC236}">
                <a16:creationId xmlns:a16="http://schemas.microsoft.com/office/drawing/2014/main" id="{E8F6F64D-8D96-4C6A-849D-C1D3B15EDD3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29</a:t>
            </a:r>
          </a:p>
        </p:txBody>
      </p:sp>
    </p:spTree>
    <p:extLst>
      <p:ext uri="{BB962C8B-B14F-4D97-AF65-F5344CB8AC3E}">
        <p14:creationId xmlns:p14="http://schemas.microsoft.com/office/powerpoint/2010/main" val="104721299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0F6FD91A-210E-430D-99A2-21B0F358563B}"/>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05  DÉMARRAGE ET EXÉCUTION</a:t>
            </a:r>
          </a:p>
        </p:txBody>
      </p:sp>
      <p:sp>
        <p:nvSpPr>
          <p:cNvPr id="2" name="title">
            <a:extLst xmlns:a="http://schemas.openxmlformats.org/drawingml/2006/main">
              <a:ext uri="{FF2B5EF4-FFF2-40B4-BE49-F238E27FC236}">
                <a16:creationId xmlns:a16="http://schemas.microsoft.com/office/drawing/2014/main" id="{CC894468-EA7E-4F2C-9BF2-0A83FF0AA1C9}"/>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Interrompre et reprendre une session</a:t>
            </a:r>
          </a:p>
        </p:txBody>
      </p:sp>
      <p:sp>
        <p:nvSpPr>
          <p:cNvPr id="3" name="item-1">
            <a:extLst xmlns:a="http://schemas.openxmlformats.org/drawingml/2006/main">
              <a:ext uri="{FF2B5EF4-FFF2-40B4-BE49-F238E27FC236}">
                <a16:creationId xmlns:a16="http://schemas.microsoft.com/office/drawing/2014/main" id="{427BB3D9-BB09-4278-BBB3-E2F05192A00C}"/>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Conserver le lot actif et la prochaine action</a:t>
            </a:r>
          </a:p>
        </p:txBody>
      </p:sp>
      <p:sp>
        <p:nvSpPr>
          <p:cNvPr id="4" name="item-2">
            <a:extLst xmlns:a="http://schemas.openxmlformats.org/drawingml/2006/main">
              <a:ext uri="{FF2B5EF4-FFF2-40B4-BE49-F238E27FC236}">
                <a16:creationId xmlns:a16="http://schemas.microsoft.com/office/drawing/2014/main" id="{CDDE2AE5-A906-45E6-8ABA-2C14ABB2A31F}"/>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Décrire les blocages et décisions attendues</a:t>
            </a:r>
          </a:p>
        </p:txBody>
      </p:sp>
      <p:sp>
        <p:nvSpPr>
          <p:cNvPr id="5" name="item-3">
            <a:extLst xmlns:a="http://schemas.openxmlformats.org/drawingml/2006/main">
              <a:ext uri="{FF2B5EF4-FFF2-40B4-BE49-F238E27FC236}">
                <a16:creationId xmlns:a16="http://schemas.microsoft.com/office/drawing/2014/main" id="{75EC03A1-2906-463C-826C-297CDC0ACB89}"/>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Identifier les résultats et validations déjà obtenus</a:t>
            </a:r>
          </a:p>
        </p:txBody>
      </p:sp>
      <p:sp>
        <p:nvSpPr>
          <p:cNvPr id="6" name="item-4">
            <a:extLst xmlns:a="http://schemas.openxmlformats.org/drawingml/2006/main">
              <a:ext uri="{FF2B5EF4-FFF2-40B4-BE49-F238E27FC236}">
                <a16:creationId xmlns:a16="http://schemas.microsoft.com/office/drawing/2014/main" id="{C9D45DB7-F56E-40AC-B5A4-CF6F795DF822}"/>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La nouvelle session relit les documents</a:t>
            </a:r>
          </a:p>
        </p:txBody>
      </p:sp>
      <p:sp>
        <p:nvSpPr>
          <p:cNvPr id="7" name="slide-number">
            <a:extLst xmlns:a="http://schemas.openxmlformats.org/drawingml/2006/main">
              <a:ext uri="{FF2B5EF4-FFF2-40B4-BE49-F238E27FC236}">
                <a16:creationId xmlns:a16="http://schemas.microsoft.com/office/drawing/2014/main" id="{0DD49DCB-D71D-4EE4-8FB4-4DE974F9A1CA}"/>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30</a:t>
            </a:r>
          </a:p>
        </p:txBody>
      </p:sp>
    </p:spTree>
    <p:extLst>
      <p:ext uri="{BB962C8B-B14F-4D97-AF65-F5344CB8AC3E}">
        <p14:creationId xmlns:p14="http://schemas.microsoft.com/office/powerpoint/2010/main" val="22502079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D1B0E2AE-6358-4209-ADFC-29C20D5AA052}"/>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06  DÉCOUVERTES ET CHANGEMENTS</a:t>
            </a:r>
          </a:p>
        </p:txBody>
      </p:sp>
      <p:sp>
        <p:nvSpPr>
          <p:cNvPr id="2" name="title">
            <a:extLst xmlns:a="http://schemas.openxmlformats.org/drawingml/2006/main">
              <a:ext uri="{FF2B5EF4-FFF2-40B4-BE49-F238E27FC236}">
                <a16:creationId xmlns:a16="http://schemas.microsoft.com/office/drawing/2014/main" id="{9CB8210B-6EEE-4BED-8014-5EE4B6188548}"/>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Un finding décrit ce qui est appris</a:t>
            </a:r>
          </a:p>
        </p:txBody>
      </p:sp>
      <p:sp>
        <p:nvSpPr>
          <p:cNvPr id="3" name="item-1">
            <a:extLst xmlns:a="http://schemas.openxmlformats.org/drawingml/2006/main">
              <a:ext uri="{FF2B5EF4-FFF2-40B4-BE49-F238E27FC236}">
                <a16:creationId xmlns:a16="http://schemas.microsoft.com/office/drawing/2014/main" id="{64A4B1FB-40A8-46FC-AF03-75494377ABF9}"/>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Constat explicite</a:t>
            </a:r>
          </a:p>
        </p:txBody>
      </p:sp>
      <p:sp>
        <p:nvSpPr>
          <p:cNvPr id="4" name="item-2">
            <a:extLst xmlns:a="http://schemas.openxmlformats.org/drawingml/2006/main">
              <a:ext uri="{FF2B5EF4-FFF2-40B4-BE49-F238E27FC236}">
                <a16:creationId xmlns:a16="http://schemas.microsoft.com/office/drawing/2014/main" id="{06608048-403C-47FF-9588-82E93D6A04AD}"/>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Preuve disponible et impact</a:t>
            </a:r>
          </a:p>
        </p:txBody>
      </p:sp>
      <p:sp>
        <p:nvSpPr>
          <p:cNvPr id="5" name="item-3">
            <a:extLst xmlns:a="http://schemas.openxmlformats.org/drawingml/2006/main">
              <a:ext uri="{FF2B5EF4-FFF2-40B4-BE49-F238E27FC236}">
                <a16:creationId xmlns:a16="http://schemas.microsoft.com/office/drawing/2014/main" id="{C72A440E-0594-49D1-BBF4-861899460AF1}"/>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Statut courant</a:t>
            </a:r>
          </a:p>
        </p:txBody>
      </p:sp>
      <p:sp>
        <p:nvSpPr>
          <p:cNvPr id="6" name="item-4">
            <a:extLst xmlns:a="http://schemas.openxmlformats.org/drawingml/2006/main">
              <a:ext uri="{FF2B5EF4-FFF2-40B4-BE49-F238E27FC236}">
                <a16:creationId xmlns:a16="http://schemas.microsoft.com/office/drawing/2014/main" id="{681726C1-B3D7-4A3A-93E2-396571403028}"/>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Traitement et destinations</a:t>
            </a:r>
          </a:p>
        </p:txBody>
      </p:sp>
      <p:sp>
        <p:nvSpPr>
          <p:cNvPr id="7" name="slide-number">
            <a:extLst xmlns:a="http://schemas.openxmlformats.org/drawingml/2006/main">
              <a:ext uri="{FF2B5EF4-FFF2-40B4-BE49-F238E27FC236}">
                <a16:creationId xmlns:a16="http://schemas.microsoft.com/office/drawing/2014/main" id="{82E05C49-C416-4EFC-8AE1-B60BEEB12B4D}"/>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31</a:t>
            </a:r>
          </a:p>
        </p:txBody>
      </p:sp>
    </p:spTree>
    <p:extLst>
      <p:ext uri="{BB962C8B-B14F-4D97-AF65-F5344CB8AC3E}">
        <p14:creationId xmlns:p14="http://schemas.microsoft.com/office/powerpoint/2010/main" val="1923383682"/>
      </p:ext>
    </p:extLst>
  </p:cSld>
</p:sld>
</file>

<file path=ppt/slides/slide32.xml><?xml version="1.0" encoding="utf-8"?>
<p:sld xmlns:p="http://schemas.openxmlformats.org/presentationml/2006/main">
  <p:cSld>
    <p:bg>
      <p:bgPr>
        <a:solidFill xmlns:a="http://schemas.openxmlformats.org/drawingml/2006/main">
          <a:srgbClr val="0D1B29"/>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BDB4AF62-675C-433D-AD47-243AD48297D6}"/>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DE1E5"/>
                </a:solidFill>
                <a:latin typeface="Arial"/>
                <a:ea typeface="Arial"/>
                <a:cs typeface="Arial"/>
              </a:defRPr>
            </a:pPr>
            <a:r>
              <a:rPr sz="1500" b="1">
                <a:solidFill>
                  <a:srgbClr val="7DE1E5"/>
                </a:solidFill>
                <a:latin typeface="Arial"/>
                <a:ea typeface="Arial"/>
                <a:cs typeface="Arial"/>
              </a:rPr>
              <a:t>06  DÉCOUVERTES ET CHANGEMENTS</a:t>
            </a:r>
          </a:p>
        </p:txBody>
      </p:sp>
      <p:sp>
        <p:nvSpPr>
          <p:cNvPr id="2" name="title">
            <a:extLst xmlns:a="http://schemas.openxmlformats.org/drawingml/2006/main">
              <a:ext uri="{FF2B5EF4-FFF2-40B4-BE49-F238E27FC236}">
                <a16:creationId xmlns:a16="http://schemas.microsoft.com/office/drawing/2014/main" id="{6211098F-4144-4C13-935C-9555B10F8929}"/>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1F6FA"/>
                </a:solidFill>
                <a:latin typeface="Arial"/>
                <a:ea typeface="Arial"/>
                <a:cs typeface="Arial"/>
              </a:defRPr>
            </a:pPr>
            <a:r>
              <a:rPr sz="3300" b="1">
                <a:solidFill>
                  <a:srgbClr val="F1F6FA"/>
                </a:solidFill>
                <a:latin typeface="Arial"/>
                <a:ea typeface="Arial"/>
                <a:cs typeface="Arial"/>
              </a:rPr>
              <a:t>Finding réel • Replace échoue</a:t>
            </a:r>
          </a:p>
        </p:txBody>
      </p:sp>
      <p:sp>
        <p:nvSpPr>
          <p:cNvPr id="3" name="item-1">
            <a:extLst xmlns:a="http://schemas.openxmlformats.org/drawingml/2006/main">
              <a:ext uri="{FF2B5EF4-FFF2-40B4-BE49-F238E27FC236}">
                <a16:creationId xmlns:a16="http://schemas.microsoft.com/office/drawing/2014/main" id="{14FAAA1C-D9E6-41C0-A38B-DEBD63CAA449}"/>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1F6FA"/>
                </a:solidFill>
                <a:latin typeface="Arial"/>
                <a:ea typeface="Arial"/>
                <a:cs typeface="Arial"/>
              </a:defRPr>
            </a:pPr>
            <a:r>
              <a:rPr sz="2700" b="1">
                <a:solidFill>
                  <a:srgbClr val="F1F6FA"/>
                </a:solidFill>
                <a:latin typeface="Arial"/>
                <a:ea typeface="Arial"/>
                <a:cs typeface="Arial"/>
              </a:rPr>
              <a:t>F-003-002 : le texte source ne change pas</a:t>
            </a:r>
          </a:p>
        </p:txBody>
      </p:sp>
      <p:sp>
        <p:nvSpPr>
          <p:cNvPr id="4" name="item-2">
            <a:extLst xmlns:a="http://schemas.openxmlformats.org/drawingml/2006/main">
              <a:ext uri="{FF2B5EF4-FFF2-40B4-BE49-F238E27FC236}">
                <a16:creationId xmlns:a16="http://schemas.microsoft.com/office/drawing/2014/main" id="{6E05F201-0AE5-454D-B897-F9B3A654E9DB}"/>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La validation humaine reste incomplète</a:t>
            </a:r>
          </a:p>
        </p:txBody>
      </p:sp>
      <p:sp>
        <p:nvSpPr>
          <p:cNvPr id="5" name="item-3">
            <a:extLst xmlns:a="http://schemas.openxmlformats.org/drawingml/2006/main">
              <a:ext uri="{FF2B5EF4-FFF2-40B4-BE49-F238E27FC236}">
                <a16:creationId xmlns:a16="http://schemas.microsoft.com/office/drawing/2014/main" id="{CC902028-301C-4364-A281-E2FCFAAD3EBF}"/>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Cause identifiée : disposition native INPUT incorrecte</a:t>
            </a:r>
          </a:p>
        </p:txBody>
      </p:sp>
      <p:sp>
        <p:nvSpPr>
          <p:cNvPr id="6" name="item-4">
            <a:extLst xmlns:a="http://schemas.openxmlformats.org/drawingml/2006/main">
              <a:ext uri="{FF2B5EF4-FFF2-40B4-BE49-F238E27FC236}">
                <a16:creationId xmlns:a16="http://schemas.microsoft.com/office/drawing/2014/main" id="{D833E266-7CC8-4182-B74C-BFC3126034C2}"/>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Correction puis nouvelle validation du candidat</a:t>
            </a:r>
          </a:p>
        </p:txBody>
      </p:sp>
      <p:sp>
        <p:nvSpPr>
          <p:cNvPr id="7" name="slide-number">
            <a:extLst xmlns:a="http://schemas.openxmlformats.org/drawingml/2006/main">
              <a:ext uri="{FF2B5EF4-FFF2-40B4-BE49-F238E27FC236}">
                <a16:creationId xmlns:a16="http://schemas.microsoft.com/office/drawing/2014/main" id="{7CD6745C-1925-4244-9F4D-29EF5E8183BD}"/>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BC0D3"/>
                </a:solidFill>
                <a:latin typeface="Arial"/>
                <a:ea typeface="Arial"/>
                <a:cs typeface="Arial"/>
              </a:defRPr>
            </a:pPr>
            <a:r>
              <a:rPr sz="1350" b="0">
                <a:solidFill>
                  <a:srgbClr val="ABC0D3"/>
                </a:solidFill>
                <a:latin typeface="Arial"/>
                <a:ea typeface="Arial"/>
                <a:cs typeface="Arial"/>
              </a:rPr>
              <a:t>32</a:t>
            </a:r>
          </a:p>
        </p:txBody>
      </p:sp>
    </p:spTree>
    <p:extLst>
      <p:ext uri="{BB962C8B-B14F-4D97-AF65-F5344CB8AC3E}">
        <p14:creationId xmlns:p14="http://schemas.microsoft.com/office/powerpoint/2010/main" val="114131851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8EA132E0-11B5-449A-9D6E-F43260B19D6E}"/>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06  DÉCOUVERTES ET CHANGEMENTS</a:t>
            </a:r>
          </a:p>
        </p:txBody>
      </p:sp>
      <p:sp>
        <p:nvSpPr>
          <p:cNvPr id="2" name="title">
            <a:extLst xmlns:a="http://schemas.openxmlformats.org/drawingml/2006/main">
              <a:ext uri="{FF2B5EF4-FFF2-40B4-BE49-F238E27FC236}">
                <a16:creationId xmlns:a16="http://schemas.microsoft.com/office/drawing/2014/main" id="{9DAA0737-8FA0-4987-8587-E880EC6A1613}"/>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Correction locale ou changement d’intention</a:t>
            </a:r>
          </a:p>
        </p:txBody>
      </p:sp>
      <p:sp>
        <p:nvSpPr>
          <p:cNvPr id="3" name="item-1">
            <a:extLst xmlns:a="http://schemas.openxmlformats.org/drawingml/2006/main">
              <a:ext uri="{FF2B5EF4-FFF2-40B4-BE49-F238E27FC236}">
                <a16:creationId xmlns:a16="http://schemas.microsoft.com/office/drawing/2014/main" id="{7D88A926-5D53-46D8-9985-24B0DB38841C}"/>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Corriger pour satisfaire une exigence existante</a:t>
            </a:r>
          </a:p>
        </p:txBody>
      </p:sp>
      <p:sp>
        <p:nvSpPr>
          <p:cNvPr id="4" name="item-2">
            <a:extLst xmlns:a="http://schemas.openxmlformats.org/drawingml/2006/main">
              <a:ext uri="{FF2B5EF4-FFF2-40B4-BE49-F238E27FC236}">
                <a16:creationId xmlns:a16="http://schemas.microsoft.com/office/drawing/2014/main" id="{A06F7361-226D-427F-B272-44E06C9CC43E}"/>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Modifier ce que l’on attend du résultat</a:t>
            </a:r>
          </a:p>
        </p:txBody>
      </p:sp>
      <p:sp>
        <p:nvSpPr>
          <p:cNvPr id="5" name="item-3">
            <a:extLst xmlns:a="http://schemas.openxmlformats.org/drawingml/2006/main">
              <a:ext uri="{FF2B5EF4-FFF2-40B4-BE49-F238E27FC236}">
                <a16:creationId xmlns:a16="http://schemas.microsoft.com/office/drawing/2014/main" id="{0F340034-E66D-42F1-BB9B-4CB7A7199C2D}"/>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Après démarrage, le changement de sens exige une décision</a:t>
            </a:r>
          </a:p>
        </p:txBody>
      </p:sp>
      <p:sp>
        <p:nvSpPr>
          <p:cNvPr id="6" name="item-4">
            <a:extLst xmlns:a="http://schemas.openxmlformats.org/drawingml/2006/main">
              <a:ext uri="{FF2B5EF4-FFF2-40B4-BE49-F238E27FC236}">
                <a16:creationId xmlns:a16="http://schemas.microsoft.com/office/drawing/2014/main" id="{BDE81475-D6F4-48CC-B8AA-9E1CA1EACE08}"/>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Une correction textuelle sans changement de sens reste possible</a:t>
            </a:r>
          </a:p>
        </p:txBody>
      </p:sp>
      <p:sp>
        <p:nvSpPr>
          <p:cNvPr id="7" name="slide-number">
            <a:extLst xmlns:a="http://schemas.openxmlformats.org/drawingml/2006/main">
              <a:ext uri="{FF2B5EF4-FFF2-40B4-BE49-F238E27FC236}">
                <a16:creationId xmlns:a16="http://schemas.microsoft.com/office/drawing/2014/main" id="{48C17A51-5B75-4197-93DA-E34C14AF4886}"/>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33</a:t>
            </a:r>
          </a:p>
        </p:txBody>
      </p:sp>
    </p:spTree>
    <p:extLst>
      <p:ext uri="{BB962C8B-B14F-4D97-AF65-F5344CB8AC3E}">
        <p14:creationId xmlns:p14="http://schemas.microsoft.com/office/powerpoint/2010/main" val="1048299025"/>
      </p:ext>
    </p:extLst>
  </p:cSld>
</p:sld>
</file>

<file path=ppt/slides/slide34.xml><?xml version="1.0" encoding="utf-8"?>
<p:sld xmlns:p="http://schemas.openxmlformats.org/presentationml/2006/main">
  <p:cSld>
    <p:bg>
      <p:bgPr>
        <a:solidFill xmlns:a="http://schemas.openxmlformats.org/drawingml/2006/main">
          <a:srgbClr val="0D1B29"/>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2D3BD3DA-6CF4-4F38-8D87-32B956AC57FD}"/>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DE1E5"/>
                </a:solidFill>
                <a:latin typeface="Arial"/>
                <a:ea typeface="Arial"/>
                <a:cs typeface="Arial"/>
              </a:defRPr>
            </a:pPr>
            <a:r>
              <a:rPr sz="1500" b="1">
                <a:solidFill>
                  <a:srgbClr val="7DE1E5"/>
                </a:solidFill>
                <a:latin typeface="Arial"/>
                <a:ea typeface="Arial"/>
                <a:cs typeface="Arial"/>
              </a:rPr>
              <a:t>06  DÉCOUVERTES ET CHANGEMENTS</a:t>
            </a:r>
          </a:p>
        </p:txBody>
      </p:sp>
      <p:sp>
        <p:nvSpPr>
          <p:cNvPr id="2" name="title">
            <a:extLst xmlns:a="http://schemas.openxmlformats.org/drawingml/2006/main">
              <a:ext uri="{FF2B5EF4-FFF2-40B4-BE49-F238E27FC236}">
                <a16:creationId xmlns:a16="http://schemas.microsoft.com/office/drawing/2014/main" id="{FA520CF4-6096-461C-A20B-959002B3A236}"/>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1F6FA"/>
                </a:solidFill>
                <a:latin typeface="Arial"/>
                <a:ea typeface="Arial"/>
                <a:cs typeface="Arial"/>
              </a:defRPr>
            </a:pPr>
            <a:r>
              <a:rPr sz="3300" b="1">
                <a:solidFill>
                  <a:srgbClr val="F1F6FA"/>
                </a:solidFill>
                <a:latin typeface="Arial"/>
                <a:ea typeface="Arial"/>
                <a:cs typeface="Arial"/>
              </a:rPr>
              <a:t>Décision réelle • la comparaison en deux panneaux</a:t>
            </a:r>
          </a:p>
        </p:txBody>
      </p:sp>
      <p:sp>
        <p:nvSpPr>
          <p:cNvPr id="3" name="item-1">
            <a:extLst xmlns:a="http://schemas.openxmlformats.org/drawingml/2006/main">
              <a:ext uri="{FF2B5EF4-FFF2-40B4-BE49-F238E27FC236}">
                <a16:creationId xmlns:a16="http://schemas.microsoft.com/office/drawing/2014/main" id="{C744CA64-3EEE-4EF0-951E-28B693A16DB3}"/>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1F6FA"/>
                </a:solidFill>
                <a:latin typeface="Arial"/>
                <a:ea typeface="Arial"/>
                <a:cs typeface="Arial"/>
              </a:defRPr>
            </a:pPr>
            <a:r>
              <a:rPr sz="2700" b="1">
                <a:solidFill>
                  <a:srgbClr val="F1F6FA"/>
                </a:solidFill>
                <a:latin typeface="Arial"/>
                <a:ea typeface="Arial"/>
                <a:cs typeface="Arial"/>
              </a:rPr>
              <a:t>D-008 : disposition 50/50 redimensionnable</a:t>
            </a:r>
          </a:p>
        </p:txBody>
      </p:sp>
      <p:sp>
        <p:nvSpPr>
          <p:cNvPr id="4" name="item-2">
            <a:extLst xmlns:a="http://schemas.openxmlformats.org/drawingml/2006/main">
              <a:ext uri="{FF2B5EF4-FFF2-40B4-BE49-F238E27FC236}">
                <a16:creationId xmlns:a16="http://schemas.microsoft.com/office/drawing/2014/main" id="{0A7BBB2E-1508-4706-9674-C159C9B76657}"/>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Ajout de REQ-003-006</a:t>
            </a:r>
          </a:p>
        </p:txBody>
      </p:sp>
      <p:sp>
        <p:nvSpPr>
          <p:cNvPr id="5" name="item-3">
            <a:extLst xmlns:a="http://schemas.openxmlformats.org/drawingml/2006/main">
              <a:ext uri="{FF2B5EF4-FFF2-40B4-BE49-F238E27FC236}">
                <a16:creationId xmlns:a16="http://schemas.microsoft.com/office/drawing/2014/main" id="{8BF43175-6E73-4A74-A72C-4F24A1E5C389}"/>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Évolution de G-003-002</a:t>
            </a:r>
          </a:p>
        </p:txBody>
      </p:sp>
      <p:sp>
        <p:nvSpPr>
          <p:cNvPr id="6" name="item-4">
            <a:extLst xmlns:a="http://schemas.openxmlformats.org/drawingml/2006/main">
              <a:ext uri="{FF2B5EF4-FFF2-40B4-BE49-F238E27FC236}">
                <a16:creationId xmlns:a16="http://schemas.microsoft.com/office/drawing/2014/main" id="{C5D2C26C-3F69-4D63-B75F-EB248422F9E5}"/>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Ancienne définition de gate conservée</a:t>
            </a:r>
          </a:p>
        </p:txBody>
      </p:sp>
      <p:sp>
        <p:nvSpPr>
          <p:cNvPr id="7" name="slide-number">
            <a:extLst xmlns:a="http://schemas.openxmlformats.org/drawingml/2006/main">
              <a:ext uri="{FF2B5EF4-FFF2-40B4-BE49-F238E27FC236}">
                <a16:creationId xmlns:a16="http://schemas.microsoft.com/office/drawing/2014/main" id="{2F778BCF-8A64-4215-B924-05A7AD25B19A}"/>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BC0D3"/>
                </a:solidFill>
                <a:latin typeface="Arial"/>
                <a:ea typeface="Arial"/>
                <a:cs typeface="Arial"/>
              </a:defRPr>
            </a:pPr>
            <a:r>
              <a:rPr sz="1350" b="0">
                <a:solidFill>
                  <a:srgbClr val="ABC0D3"/>
                </a:solidFill>
                <a:latin typeface="Arial"/>
                <a:ea typeface="Arial"/>
                <a:cs typeface="Arial"/>
              </a:rPr>
              <a:t>34</a:t>
            </a:r>
          </a:p>
        </p:txBody>
      </p:sp>
    </p:spTree>
    <p:extLst>
      <p:ext uri="{BB962C8B-B14F-4D97-AF65-F5344CB8AC3E}">
        <p14:creationId xmlns:p14="http://schemas.microsoft.com/office/powerpoint/2010/main" val="5834743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89B10DC8-9A72-4BAF-975A-7B51FA3DAFDF}"/>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06  DÉCOUVERTES ET CHANGEMENTS</a:t>
            </a:r>
          </a:p>
        </p:txBody>
      </p:sp>
      <p:sp>
        <p:nvSpPr>
          <p:cNvPr id="2" name="title">
            <a:extLst xmlns:a="http://schemas.openxmlformats.org/drawingml/2006/main">
              <a:ext uri="{FF2B5EF4-FFF2-40B4-BE49-F238E27FC236}">
                <a16:creationId xmlns:a16="http://schemas.microsoft.com/office/drawing/2014/main" id="{9A5474BB-1599-4BA2-9089-493888AD498C}"/>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Conserver ce qui est remplacé</a:t>
            </a:r>
          </a:p>
        </p:txBody>
      </p:sp>
      <p:sp>
        <p:nvSpPr>
          <p:cNvPr id="3" name="item-1">
            <a:extLst xmlns:a="http://schemas.openxmlformats.org/drawingml/2006/main">
              <a:ext uri="{FF2B5EF4-FFF2-40B4-BE49-F238E27FC236}">
                <a16:creationId xmlns:a16="http://schemas.microsoft.com/office/drawing/2014/main" id="{C62B79F1-03B4-4144-9FE5-32429AC80554}"/>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Identifiant immuable</a:t>
            </a:r>
          </a:p>
        </p:txBody>
      </p:sp>
      <p:sp>
        <p:nvSpPr>
          <p:cNvPr id="4" name="item-2">
            <a:extLst xmlns:a="http://schemas.openxmlformats.org/drawingml/2006/main">
              <a:ext uri="{FF2B5EF4-FFF2-40B4-BE49-F238E27FC236}">
                <a16:creationId xmlns:a16="http://schemas.microsoft.com/office/drawing/2014/main" id="{0EAAD0C8-7FA2-4EF7-8A42-27B8F3B59DD7}"/>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Ancien contenu marqué [OBSOLETE]</a:t>
            </a:r>
          </a:p>
        </p:txBody>
      </p:sp>
      <p:sp>
        <p:nvSpPr>
          <p:cNvPr id="5" name="item-3">
            <a:extLst xmlns:a="http://schemas.openxmlformats.org/drawingml/2006/main">
              <a:ext uri="{FF2B5EF4-FFF2-40B4-BE49-F238E27FC236}">
                <a16:creationId xmlns:a16="http://schemas.microsoft.com/office/drawing/2014/main" id="{B2C2438E-7433-49FA-BF05-7F34CE67F09A}"/>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Replaced by et Replaces relient les éléments</a:t>
            </a:r>
          </a:p>
        </p:txBody>
      </p:sp>
      <p:sp>
        <p:nvSpPr>
          <p:cNvPr id="6" name="item-4">
            <a:extLst xmlns:a="http://schemas.openxmlformats.org/drawingml/2006/main">
              <a:ext uri="{FF2B5EF4-FFF2-40B4-BE49-F238E27FC236}">
                <a16:creationId xmlns:a16="http://schemas.microsoft.com/office/drawing/2014/main" id="{798DEBF3-7429-4FB8-9FB8-93C494AE345A}"/>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La décision explique le changement de sens</a:t>
            </a:r>
          </a:p>
        </p:txBody>
      </p:sp>
      <p:sp>
        <p:nvSpPr>
          <p:cNvPr id="7" name="slide-number">
            <a:extLst xmlns:a="http://schemas.openxmlformats.org/drawingml/2006/main">
              <a:ext uri="{FF2B5EF4-FFF2-40B4-BE49-F238E27FC236}">
                <a16:creationId xmlns:a16="http://schemas.microsoft.com/office/drawing/2014/main" id="{6E81256F-8FE0-45F6-A362-4DD1C5AAA293}"/>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35</a:t>
            </a:r>
          </a:p>
        </p:txBody>
      </p:sp>
    </p:spTree>
    <p:extLst>
      <p:ext uri="{BB962C8B-B14F-4D97-AF65-F5344CB8AC3E}">
        <p14:creationId xmlns:p14="http://schemas.microsoft.com/office/powerpoint/2010/main" val="132058768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4EE2BF1F-78BD-416A-A882-9B0784E10FB2}"/>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06  DÉCOUVERTES ET CHANGEMENTS</a:t>
            </a:r>
          </a:p>
        </p:txBody>
      </p:sp>
      <p:sp>
        <p:nvSpPr>
          <p:cNvPr id="2" name="title">
            <a:extLst xmlns:a="http://schemas.openxmlformats.org/drawingml/2006/main">
              <a:ext uri="{FF2B5EF4-FFF2-40B4-BE49-F238E27FC236}">
                <a16:creationId xmlns:a16="http://schemas.microsoft.com/office/drawing/2014/main" id="{DA6C2449-82F5-4D4B-856D-8794EE6D5A3B}"/>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Donner une destination aux findings</a:t>
            </a:r>
          </a:p>
        </p:txBody>
      </p:sp>
      <p:graphicFrame>
        <p:nvGraphicFramePr>
          <p:cNvPr id="7" name=""/>
          <p:cNvGraphicFramePr/>
          <p:nvPr/>
        </p:nvGraphicFramePr>
        <p:xfrm>
          <a:off xmlns:a="http://schemas.openxmlformats.org/drawingml/2006/main" x="685800" y="1962150"/>
          <a:ext xmlns:a="http://schemas.openxmlformats.org/drawingml/2006/main" cx="10820400" cy="4000500"/>
        </p:xfrm>
        <a:graphic xmlns:a="http://schemas.openxmlformats.org/drawingml/2006/main">
          <a:graphicData uri="http://schemas.openxmlformats.org/drawingml/2006/table">
            <a:tbl>
              <a:tblPr firstRow="1" bandRow="0"/>
              <a:tblGrid>
                <a:gridCol w="3524250"/>
                <a:gridCol w="7296150"/>
              </a:tblGrid>
              <a:tr h="800100">
                <a:tc>
                  <a:txBody>
                    <a:bodyPr lIns="171450" tIns="76200" rIns="152400" bIns="76200">
                      <a:noAutofit/>
                    </a:bodyPr>
                    <a:lstStyle/>
                    <a:p>
                      <a:r>
                        <a:rPr sz="1875" b="1">
                          <a:solidFill>
                            <a:srgbClr val="FFFFFF"/>
                          </a:solidFill>
                          <a:latin typeface="Arial"/>
                          <a:ea typeface="Arial"/>
                          <a:cs typeface="Arial"/>
                        </a:rPr>
                        <a:t>Traitement terminal</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Condition à conserver</a:t>
                      </a:r>
                    </a:p>
                  </a:txBody>
                  <a:tcPr marL="91440" marR="91440" marT="45720" marB="45720" anchor="ctr">
                    <a:solidFill>
                      <a:srgbClr val="0D1B29"/>
                    </a:solidFill>
                  </a:tcPr>
                </a:tc>
              </a:tr>
              <a:tr h="800100">
                <a:tc>
                  <a:txBody>
                    <a:bodyPr lIns="171450" tIns="76200" rIns="152400" bIns="76200">
                      <a:noAutofit/>
                    </a:bodyPr>
                    <a:lstStyle/>
                    <a:p>
                      <a:r>
                        <a:rPr sz="2025" b="1">
                          <a:solidFill>
                            <a:srgbClr val="183044"/>
                          </a:solidFill>
                          <a:latin typeface="Arial"/>
                          <a:ea typeface="Arial"/>
                          <a:cs typeface="Arial"/>
                        </a:rPr>
                        <a:t>RESOLVED LOCALLY</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Traitement local expliqué</a:t>
                      </a:r>
                    </a:p>
                  </a:txBody>
                  <a:tcPr marL="91440" marR="91440" marT="45720" marB="45720" anchor="ctr">
                    <a:solidFill>
                      <a:srgbClr val="FFFFFF"/>
                    </a:solidFill>
                  </a:tcPr>
                </a:tc>
              </a:tr>
              <a:tr h="800100">
                <a:tc>
                  <a:txBody>
                    <a:bodyPr lIns="171450" tIns="76200" rIns="152400" bIns="76200">
                      <a:noAutofit/>
                    </a:bodyPr>
                    <a:lstStyle/>
                    <a:p>
                      <a:r>
                        <a:rPr sz="2025" b="1">
                          <a:solidFill>
                            <a:srgbClr val="183044"/>
                          </a:solidFill>
                          <a:latin typeface="Arial"/>
                          <a:ea typeface="Arial"/>
                          <a:cs typeface="Arial"/>
                        </a:rPr>
                        <a:t>PROMOTED TO LEDGER / RULE</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Décision ou règle effectivement référencée</a:t>
                      </a:r>
                    </a:p>
                  </a:txBody>
                  <a:tcPr marL="91440" marR="91440" marT="45720" marB="45720" anchor="ctr">
                    <a:solidFill>
                      <a:srgbClr val="F2F6F8"/>
                    </a:solidFill>
                  </a:tcPr>
                </a:tc>
              </a:tr>
              <a:tr h="800100">
                <a:tc>
                  <a:txBody>
                    <a:bodyPr lIns="171450" tIns="76200" rIns="152400" bIns="76200">
                      <a:noAutofit/>
                    </a:bodyPr>
                    <a:lstStyle/>
                    <a:p>
                      <a:r>
                        <a:rPr sz="2025" b="1">
                          <a:solidFill>
                            <a:srgbClr val="183044"/>
                          </a:solidFill>
                          <a:latin typeface="Arial"/>
                          <a:ea typeface="Arial"/>
                          <a:cs typeface="Arial"/>
                        </a:rPr>
                        <a:t>DEFERRED TO LOT</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Lot destinataire au moins Planned</a:t>
                      </a:r>
                    </a:p>
                  </a:txBody>
                  <a:tcPr marL="91440" marR="91440" marT="45720" marB="45720" anchor="ctr">
                    <a:solidFill>
                      <a:srgbClr val="FFFFFF"/>
                    </a:solidFill>
                  </a:tcPr>
                </a:tc>
              </a:tr>
              <a:tr h="800100">
                <a:tc>
                  <a:txBody>
                    <a:bodyPr lIns="171450" tIns="76200" rIns="152400" bIns="76200">
                      <a:noAutofit/>
                    </a:bodyPr>
                    <a:lstStyle/>
                    <a:p>
                      <a:r>
                        <a:rPr sz="2025" b="1">
                          <a:solidFill>
                            <a:srgbClr val="183044"/>
                          </a:solidFill>
                          <a:latin typeface="Arial"/>
                          <a:ea typeface="Arial"/>
                          <a:cs typeface="Arial"/>
                        </a:rPr>
                        <a:t>DISCARDED</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Rejet avec une raison conservée</a:t>
                      </a:r>
                    </a:p>
                  </a:txBody>
                  <a:tcPr marL="91440" marR="91440" marT="45720" marB="45720" anchor="ctr">
                    <a:solidFill>
                      <a:srgbClr val="F2F6F8"/>
                    </a:solidFill>
                  </a:tcPr>
                </a:tc>
              </a:tr>
            </a:tbl>
          </a:graphicData>
        </a:graphic>
      </p:graphicFrame>
      <p:sp>
        <p:nvSpPr>
          <p:cNvPr id="4" name="slide-number">
            <a:extLst xmlns:a="http://schemas.openxmlformats.org/drawingml/2006/main">
              <a:ext uri="{FF2B5EF4-FFF2-40B4-BE49-F238E27FC236}">
                <a16:creationId xmlns:a16="http://schemas.microsoft.com/office/drawing/2014/main" id="{4CA06C97-8CD5-423C-AD15-7F0742D52E7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36</a:t>
            </a:r>
          </a:p>
        </p:txBody>
      </p:sp>
    </p:spTree>
    <p:extLst>
      <p:ext uri="{BB962C8B-B14F-4D97-AF65-F5344CB8AC3E}">
        <p14:creationId xmlns:p14="http://schemas.microsoft.com/office/powerpoint/2010/main" val="18965153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4C2ABB35-0D10-4609-9104-64766CE5F6B7}"/>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06  DÉCOUVERTES ET CHANGEMENTS</a:t>
            </a:r>
          </a:p>
        </p:txBody>
      </p:sp>
      <p:sp>
        <p:nvSpPr>
          <p:cNvPr id="2" name="title">
            <a:extLst xmlns:a="http://schemas.openxmlformats.org/drawingml/2006/main">
              <a:ext uri="{FF2B5EF4-FFF2-40B4-BE49-F238E27FC236}">
                <a16:creationId xmlns:a16="http://schemas.microsoft.com/office/drawing/2014/main" id="{8BA7F334-F341-4E38-B7B4-01054B518E2B}"/>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Faire évoluer une règle du projet</a:t>
            </a:r>
          </a:p>
        </p:txBody>
      </p:sp>
      <p:sp>
        <p:nvSpPr>
          <p:cNvPr id="3" name="item-1">
            <a:extLst xmlns:a="http://schemas.openxmlformats.org/drawingml/2006/main">
              <a:ext uri="{FF2B5EF4-FFF2-40B4-BE49-F238E27FC236}">
                <a16:creationId xmlns:a16="http://schemas.microsoft.com/office/drawing/2014/main" id="{01955A54-446D-43B5-81DF-214A6D4A22F7}"/>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Finding → décision humaine → LEDGER</a:t>
            </a:r>
          </a:p>
        </p:txBody>
      </p:sp>
      <p:sp>
        <p:nvSpPr>
          <p:cNvPr id="4" name="item-2">
            <a:extLst xmlns:a="http://schemas.openxmlformats.org/drawingml/2006/main">
              <a:ext uri="{FF2B5EF4-FFF2-40B4-BE49-F238E27FC236}">
                <a16:creationId xmlns:a16="http://schemas.microsoft.com/office/drawing/2014/main" id="{103AE67F-ADEA-4FF7-897F-262E78706754}"/>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Ancienne règle conservée si remplacée</a:t>
            </a:r>
          </a:p>
        </p:txBody>
      </p:sp>
      <p:sp>
        <p:nvSpPr>
          <p:cNvPr id="5" name="item-3">
            <a:extLst xmlns:a="http://schemas.openxmlformats.org/drawingml/2006/main">
              <a:ext uri="{FF2B5EF4-FFF2-40B4-BE49-F238E27FC236}">
                <a16:creationId xmlns:a16="http://schemas.microsoft.com/office/drawing/2014/main" id="{E9D3BCDA-0909-4B1C-92F5-13C9E6198083}"/>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Nouvelle règle et portée d’application</a:t>
            </a:r>
          </a:p>
        </p:txBody>
      </p:sp>
      <p:sp>
        <p:nvSpPr>
          <p:cNvPr id="6" name="item-4">
            <a:extLst xmlns:a="http://schemas.openxmlformats.org/drawingml/2006/main">
              <a:ext uri="{FF2B5EF4-FFF2-40B4-BE49-F238E27FC236}">
                <a16:creationId xmlns:a16="http://schemas.microsoft.com/office/drawing/2014/main" id="{84D5FB93-28DD-4560-AA24-CAC00B797714}"/>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Examen des lots et validations affectés</a:t>
            </a:r>
          </a:p>
        </p:txBody>
      </p:sp>
      <p:sp>
        <p:nvSpPr>
          <p:cNvPr id="7" name="slide-number">
            <a:extLst xmlns:a="http://schemas.openxmlformats.org/drawingml/2006/main">
              <a:ext uri="{FF2B5EF4-FFF2-40B4-BE49-F238E27FC236}">
                <a16:creationId xmlns:a16="http://schemas.microsoft.com/office/drawing/2014/main" id="{8770018E-90C8-4A47-AF71-C5B2D000248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37</a:t>
            </a:r>
          </a:p>
        </p:txBody>
      </p:sp>
    </p:spTree>
    <p:extLst>
      <p:ext uri="{BB962C8B-B14F-4D97-AF65-F5344CB8AC3E}">
        <p14:creationId xmlns:p14="http://schemas.microsoft.com/office/powerpoint/2010/main" val="157130541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BCA47D4D-615D-4DBD-A32B-FF92BF30C6C1}"/>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07  VALIDATION PAR LES GATES</a:t>
            </a:r>
          </a:p>
        </p:txBody>
      </p:sp>
      <p:sp>
        <p:nvSpPr>
          <p:cNvPr id="2" name="title">
            <a:extLst xmlns:a="http://schemas.openxmlformats.org/drawingml/2006/main">
              <a:ext uri="{FF2B5EF4-FFF2-40B4-BE49-F238E27FC236}">
                <a16:creationId xmlns:a16="http://schemas.microsoft.com/office/drawing/2014/main" id="{A2E4BA55-D44B-48E2-8985-3F13134CC3FF}"/>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Trois types de gates</a:t>
            </a:r>
          </a:p>
        </p:txBody>
      </p:sp>
      <p:graphicFrame>
        <p:nvGraphicFramePr>
          <p:cNvPr id="7" name=""/>
          <p:cNvGraphicFramePr/>
          <p:nvPr/>
        </p:nvGraphicFramePr>
        <p:xfrm>
          <a:off xmlns:a="http://schemas.openxmlformats.org/drawingml/2006/main" x="685800" y="1962150"/>
          <a:ext xmlns:a="http://schemas.openxmlformats.org/drawingml/2006/main" cx="10820400" cy="3276600"/>
        </p:xfrm>
        <a:graphic xmlns:a="http://schemas.openxmlformats.org/drawingml/2006/main">
          <a:graphicData uri="http://schemas.openxmlformats.org/drawingml/2006/table">
            <a:tbl>
              <a:tblPr firstRow="1" bandRow="0"/>
              <a:tblGrid>
                <a:gridCol w="3524250"/>
                <a:gridCol w="7296150"/>
              </a:tblGrid>
              <a:tr h="819150">
                <a:tc>
                  <a:txBody>
                    <a:bodyPr lIns="171450" tIns="76200" rIns="152400" bIns="76200">
                      <a:noAutofit/>
                    </a:bodyPr>
                    <a:lstStyle/>
                    <a:p>
                      <a:r>
                        <a:rPr sz="1875" b="1">
                          <a:solidFill>
                            <a:srgbClr val="FFFFFF"/>
                          </a:solidFill>
                          <a:latin typeface="Arial"/>
                          <a:ea typeface="Arial"/>
                          <a:cs typeface="Arial"/>
                        </a:rPr>
                        <a:t>Type</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Nature du verdict</a:t>
                      </a:r>
                    </a:p>
                  </a:txBody>
                  <a:tcPr marL="91440" marR="91440" marT="45720" marB="45720" anchor="ctr">
                    <a:solidFill>
                      <a:srgbClr val="0D1B29"/>
                    </a:solidFill>
                  </a:tcPr>
                </a:tc>
              </a:tr>
              <a:tr h="819150">
                <a:tc>
                  <a:txBody>
                    <a:bodyPr lIns="171450" tIns="76200" rIns="152400" bIns="76200">
                      <a:noAutofit/>
                    </a:bodyPr>
                    <a:lstStyle/>
                    <a:p>
                      <a:r>
                        <a:rPr sz="2025" b="1">
                          <a:solidFill>
                            <a:srgbClr val="183044"/>
                          </a:solidFill>
                          <a:latin typeface="Arial"/>
                          <a:ea typeface="Arial"/>
                          <a:cs typeface="Arial"/>
                        </a:rPr>
                        <a:t>AUTO</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Verdict déterministe d’une commande ou d’un contrôle</a:t>
                      </a:r>
                    </a:p>
                  </a:txBody>
                  <a:tcPr marL="91440" marR="91440" marT="45720" marB="45720" anchor="ctr">
                    <a:solidFill>
                      <a:srgbClr val="FFFFFF"/>
                    </a:solidFill>
                  </a:tcPr>
                </a:tc>
              </a:tr>
              <a:tr h="819150">
                <a:tc>
                  <a:txBody>
                    <a:bodyPr lIns="171450" tIns="76200" rIns="152400" bIns="76200">
                      <a:noAutofit/>
                    </a:bodyPr>
                    <a:lstStyle/>
                    <a:p>
                      <a:r>
                        <a:rPr sz="2025" b="1">
                          <a:solidFill>
                            <a:srgbClr val="183044"/>
                          </a:solidFill>
                          <a:latin typeface="Arial"/>
                          <a:ea typeface="Arial"/>
                          <a:cs typeface="Arial"/>
                        </a:rPr>
                        <a:t>LLM</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Analyse sémantique argumentée</a:t>
                      </a:r>
                    </a:p>
                  </a:txBody>
                  <a:tcPr marL="91440" marR="91440" marT="45720" marB="45720" anchor="ctr">
                    <a:solidFill>
                      <a:srgbClr val="F2F6F8"/>
                    </a:solidFill>
                  </a:tcPr>
                </a:tc>
              </a:tr>
              <a:tr h="819150">
                <a:tc>
                  <a:txBody>
                    <a:bodyPr lIns="171450" tIns="76200" rIns="152400" bIns="76200">
                      <a:noAutofit/>
                    </a:bodyPr>
                    <a:lstStyle/>
                    <a:p>
                      <a:r>
                        <a:rPr sz="2025" b="1">
                          <a:solidFill>
                            <a:srgbClr val="183044"/>
                          </a:solidFill>
                          <a:latin typeface="Arial"/>
                          <a:ea typeface="Arial"/>
                          <a:cs typeface="Arial"/>
                        </a:rPr>
                        <a:t>HUMAN</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Validation identifiée et datée par une personne</a:t>
                      </a:r>
                    </a:p>
                  </a:txBody>
                  <a:tcPr marL="91440" marR="91440" marT="45720" marB="45720" anchor="ctr">
                    <a:solidFill>
                      <a:srgbClr val="FFFFFF"/>
                    </a:solidFill>
                  </a:tcPr>
                </a:tc>
              </a:tr>
            </a:tbl>
          </a:graphicData>
        </a:graphic>
      </p:graphicFrame>
      <p:sp>
        <p:nvSpPr>
          <p:cNvPr id="4" name="slide-number">
            <a:extLst xmlns:a="http://schemas.openxmlformats.org/drawingml/2006/main">
              <a:ext uri="{FF2B5EF4-FFF2-40B4-BE49-F238E27FC236}">
                <a16:creationId xmlns:a16="http://schemas.microsoft.com/office/drawing/2014/main" id="{B631B7D0-F0D3-4425-8C4E-89F7F8078602}"/>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38</a:t>
            </a:r>
          </a:p>
        </p:txBody>
      </p:sp>
    </p:spTree>
    <p:extLst>
      <p:ext uri="{BB962C8B-B14F-4D97-AF65-F5344CB8AC3E}">
        <p14:creationId xmlns:p14="http://schemas.microsoft.com/office/powerpoint/2010/main" val="158216522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C1427A4F-227B-468D-9DE8-9F79EE6C7C3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07  VALIDATION PAR LES GATES</a:t>
            </a:r>
          </a:p>
        </p:txBody>
      </p:sp>
      <p:sp>
        <p:nvSpPr>
          <p:cNvPr id="2" name="title">
            <a:extLst xmlns:a="http://schemas.openxmlformats.org/drawingml/2006/main">
              <a:ext uri="{FF2B5EF4-FFF2-40B4-BE49-F238E27FC236}">
                <a16:creationId xmlns:a16="http://schemas.microsoft.com/office/drawing/2014/main" id="{BEE2109A-06BB-4673-8EE2-56FD1650F42D}"/>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Quatre verdicts possibles</a:t>
            </a:r>
          </a:p>
        </p:txBody>
      </p:sp>
      <p:graphicFrame>
        <p:nvGraphicFramePr>
          <p:cNvPr id="7" name=""/>
          <p:cNvGraphicFramePr/>
          <p:nvPr/>
        </p:nvGraphicFramePr>
        <p:xfrm>
          <a:off xmlns:a="http://schemas.openxmlformats.org/drawingml/2006/main" x="685800" y="1962150"/>
          <a:ext xmlns:a="http://schemas.openxmlformats.org/drawingml/2006/main" cx="10820400" cy="4000500"/>
        </p:xfrm>
        <a:graphic xmlns:a="http://schemas.openxmlformats.org/drawingml/2006/main">
          <a:graphicData uri="http://schemas.openxmlformats.org/drawingml/2006/table">
            <a:tbl>
              <a:tblPr firstRow="1" bandRow="0"/>
              <a:tblGrid>
                <a:gridCol w="3524250"/>
                <a:gridCol w="7296150"/>
              </a:tblGrid>
              <a:tr h="800100">
                <a:tc>
                  <a:txBody>
                    <a:bodyPr lIns="171450" tIns="76200" rIns="152400" bIns="76200">
                      <a:noAutofit/>
                    </a:bodyPr>
                    <a:lstStyle/>
                    <a:p>
                      <a:r>
                        <a:rPr sz="1875" b="1">
                          <a:solidFill>
                            <a:srgbClr val="FFFFFF"/>
                          </a:solidFill>
                          <a:latin typeface="Arial"/>
                          <a:ea typeface="Arial"/>
                          <a:cs typeface="Arial"/>
                        </a:rPr>
                        <a:t>Verdict</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Signification</a:t>
                      </a:r>
                    </a:p>
                  </a:txBody>
                  <a:tcPr marL="91440" marR="91440" marT="45720" marB="45720" anchor="ctr">
                    <a:solidFill>
                      <a:srgbClr val="0D1B29"/>
                    </a:solidFill>
                  </a:tcPr>
                </a:tc>
              </a:tr>
              <a:tr h="800100">
                <a:tc>
                  <a:txBody>
                    <a:bodyPr lIns="171450" tIns="76200" rIns="152400" bIns="76200">
                      <a:noAutofit/>
                    </a:bodyPr>
                    <a:lstStyle/>
                    <a:p>
                      <a:r>
                        <a:rPr sz="2025" b="1">
                          <a:solidFill>
                            <a:srgbClr val="183044"/>
                          </a:solidFill>
                          <a:latin typeface="Arial"/>
                          <a:ea typeface="Arial"/>
                          <a:cs typeface="Arial"/>
                        </a:rPr>
                        <a:t>TO TEST</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Évaluation encore à effectuer</a:t>
                      </a:r>
                    </a:p>
                  </a:txBody>
                  <a:tcPr marL="91440" marR="91440" marT="45720" marB="45720" anchor="ctr">
                    <a:solidFill>
                      <a:srgbClr val="FFFFFF"/>
                    </a:solidFill>
                  </a:tcPr>
                </a:tc>
              </a:tr>
              <a:tr h="800100">
                <a:tc>
                  <a:txBody>
                    <a:bodyPr lIns="171450" tIns="76200" rIns="152400" bIns="76200">
                      <a:noAutofit/>
                    </a:bodyPr>
                    <a:lstStyle/>
                    <a:p>
                      <a:r>
                        <a:rPr sz="2025" b="1">
                          <a:solidFill>
                            <a:srgbClr val="183044"/>
                          </a:solidFill>
                          <a:latin typeface="Arial"/>
                          <a:ea typeface="Arial"/>
                          <a:cs typeface="Arial"/>
                        </a:rPr>
                        <a:t>PASS</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Condition satisfaite sur le résultat identifié</a:t>
                      </a:r>
                    </a:p>
                  </a:txBody>
                  <a:tcPr marL="91440" marR="91440" marT="45720" marB="45720" anchor="ctr">
                    <a:solidFill>
                      <a:srgbClr val="F2F6F8"/>
                    </a:solidFill>
                  </a:tcPr>
                </a:tc>
              </a:tr>
              <a:tr h="800100">
                <a:tc>
                  <a:txBody>
                    <a:bodyPr lIns="171450" tIns="76200" rIns="152400" bIns="76200">
                      <a:noAutofit/>
                    </a:bodyPr>
                    <a:lstStyle/>
                    <a:p>
                      <a:r>
                        <a:rPr sz="2025" b="1">
                          <a:solidFill>
                            <a:srgbClr val="183044"/>
                          </a:solidFill>
                          <a:latin typeface="Arial"/>
                          <a:ea typeface="Arial"/>
                          <a:cs typeface="Arial"/>
                        </a:rPr>
                        <a:t>FAIL</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Condition non satisfaite</a:t>
                      </a:r>
                    </a:p>
                  </a:txBody>
                  <a:tcPr marL="91440" marR="91440" marT="45720" marB="45720" anchor="ctr">
                    <a:solidFill>
                      <a:srgbClr val="FFFFFF"/>
                    </a:solidFill>
                  </a:tcPr>
                </a:tc>
              </a:tr>
              <a:tr h="800100">
                <a:tc>
                  <a:txBody>
                    <a:bodyPr lIns="171450" tIns="76200" rIns="152400" bIns="76200">
                      <a:noAutofit/>
                    </a:bodyPr>
                    <a:lstStyle/>
                    <a:p>
                      <a:r>
                        <a:rPr sz="2025" b="1">
                          <a:solidFill>
                            <a:srgbClr val="183044"/>
                          </a:solidFill>
                          <a:latin typeface="Arial"/>
                          <a:ea typeface="Arial"/>
                          <a:cs typeface="Arial"/>
                        </a:rPr>
                        <a:t>N/A</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Non-applicabilité décidée par l’humain dans le ledger</a:t>
                      </a:r>
                    </a:p>
                  </a:txBody>
                  <a:tcPr marL="91440" marR="91440" marT="45720" marB="45720" anchor="ctr">
                    <a:solidFill>
                      <a:srgbClr val="F2F6F8"/>
                    </a:solidFill>
                  </a:tcPr>
                </a:tc>
              </a:tr>
            </a:tbl>
          </a:graphicData>
        </a:graphic>
      </p:graphicFrame>
      <p:sp>
        <p:nvSpPr>
          <p:cNvPr id="4" name="slide-number">
            <a:extLst xmlns:a="http://schemas.openxmlformats.org/drawingml/2006/main">
              <a:ext uri="{FF2B5EF4-FFF2-40B4-BE49-F238E27FC236}">
                <a16:creationId xmlns:a16="http://schemas.microsoft.com/office/drawing/2014/main" id="{91AD2E1F-7AD5-466F-ABB8-980E8EDF7E7F}"/>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39</a:t>
            </a:r>
          </a:p>
        </p:txBody>
      </p:sp>
    </p:spTree>
    <p:extLst>
      <p:ext uri="{BB962C8B-B14F-4D97-AF65-F5344CB8AC3E}">
        <p14:creationId xmlns:p14="http://schemas.microsoft.com/office/powerpoint/2010/main" val="154723193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F29F163F-9C17-46A8-AF42-8BC4C6A9556C}"/>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07  VALIDATION PAR LES GATES</a:t>
            </a:r>
          </a:p>
        </p:txBody>
      </p:sp>
      <p:sp>
        <p:nvSpPr>
          <p:cNvPr id="2" name="title">
            <a:extLst xmlns:a="http://schemas.openxmlformats.org/drawingml/2006/main">
              <a:ext uri="{FF2B5EF4-FFF2-40B4-BE49-F238E27FC236}">
                <a16:creationId xmlns:a16="http://schemas.microsoft.com/office/drawing/2014/main" id="{83D8D0E6-FACD-4B11-A670-ECB1B28BEB8B}"/>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AUTO • construire et tester</a:t>
            </a:r>
          </a:p>
        </p:txBody>
      </p:sp>
      <p:sp>
        <p:nvSpPr>
          <p:cNvPr id="3" name="code">
            <a:extLst xmlns:a="http://schemas.openxmlformats.org/drawingml/2006/main">
              <a:ext uri="{FF2B5EF4-FFF2-40B4-BE49-F238E27FC236}">
                <a16:creationId xmlns:a16="http://schemas.microsoft.com/office/drawing/2014/main" id="{B9730894-4096-4DBE-B9A0-5E82E1250AB1}"/>
              </a:ext>
            </a:extLst>
          </p:cNvPr>
          <p:cNvSpPr>
            <a:spLocks xmlns:a="http://schemas.openxmlformats.org/drawingml/2006/main" noGrp="1"/>
          </p:cNvSpPr>
          <p:nvPr/>
        </p:nvSpPr>
        <p:spPr>
          <a:xfrm xmlns:a="http://schemas.openxmlformats.org/drawingml/2006/main">
            <a:off x="685800" y="2152650"/>
            <a:ext cx="108204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G-003-001 : build et tests de plateforme</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dotnet build TextAid.sln -m:1</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dotnet test TextAid.sln -m:1</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Preuves enregistrées et candidat identifié</a:t>
            </a:r>
          </a:p>
        </p:txBody>
      </p:sp>
      <p:sp>
        <p:nvSpPr>
          <p:cNvPr id="4" name="slide-number">
            <a:extLst xmlns:a="http://schemas.openxmlformats.org/drawingml/2006/main">
              <a:ext uri="{FF2B5EF4-FFF2-40B4-BE49-F238E27FC236}">
                <a16:creationId xmlns:a16="http://schemas.microsoft.com/office/drawing/2014/main" id="{400EA1FA-9041-4BD9-B769-7CD8C553D96C}"/>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40</a:t>
            </a:r>
          </a:p>
        </p:txBody>
      </p:sp>
    </p:spTree>
    <p:extLst>
      <p:ext uri="{BB962C8B-B14F-4D97-AF65-F5344CB8AC3E}">
        <p14:creationId xmlns:p14="http://schemas.microsoft.com/office/powerpoint/2010/main" val="209409561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9E18AD92-2FE0-4D1F-852C-A7C66405B7E5}"/>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07  VALIDATION PAR LES GATES</a:t>
            </a:r>
          </a:p>
        </p:txBody>
      </p:sp>
      <p:sp>
        <p:nvSpPr>
          <p:cNvPr id="2" name="title">
            <a:extLst xmlns:a="http://schemas.openxmlformats.org/drawingml/2006/main">
              <a:ext uri="{FF2B5EF4-FFF2-40B4-BE49-F238E27FC236}">
                <a16:creationId xmlns:a16="http://schemas.microsoft.com/office/drawing/2014/main" id="{DC62FF7D-1C79-437E-8B73-D30E6794405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LLM • une analyse justifiée</a:t>
            </a:r>
          </a:p>
        </p:txBody>
      </p:sp>
      <p:sp>
        <p:nvSpPr>
          <p:cNvPr id="3" name="item-1">
            <a:extLst xmlns:a="http://schemas.openxmlformats.org/drawingml/2006/main">
              <a:ext uri="{FF2B5EF4-FFF2-40B4-BE49-F238E27FC236}">
                <a16:creationId xmlns:a16="http://schemas.microsoft.com/office/drawing/2014/main" id="{AB0B0018-F47C-49D9-A7A9-0D8D5E014067}"/>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Exemple pédagogique : cohérence SPEC / GATES</a:t>
            </a:r>
          </a:p>
        </p:txBody>
      </p:sp>
      <p:sp>
        <p:nvSpPr>
          <p:cNvPr id="4" name="item-2">
            <a:extLst xmlns:a="http://schemas.openxmlformats.org/drawingml/2006/main">
              <a:ext uri="{FF2B5EF4-FFF2-40B4-BE49-F238E27FC236}">
                <a16:creationId xmlns:a16="http://schemas.microsoft.com/office/drawing/2014/main" id="{52243207-DBC5-4C8B-9DE3-C651BD500520}"/>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Indiquer les exigences et les cas examinés</a:t>
            </a:r>
          </a:p>
        </p:txBody>
      </p:sp>
      <p:sp>
        <p:nvSpPr>
          <p:cNvPr id="5" name="item-3">
            <a:extLst xmlns:a="http://schemas.openxmlformats.org/drawingml/2006/main">
              <a:ext uri="{FF2B5EF4-FFF2-40B4-BE49-F238E27FC236}">
                <a16:creationId xmlns:a16="http://schemas.microsoft.com/office/drawing/2014/main" id="{B843A5B1-FE43-4EA9-81CB-5B2393AF56E8}"/>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Décrire les écarts et justifier le verdict</a:t>
            </a:r>
          </a:p>
        </p:txBody>
      </p:sp>
      <p:sp>
        <p:nvSpPr>
          <p:cNvPr id="6" name="item-4">
            <a:extLst xmlns:a="http://schemas.openxmlformats.org/drawingml/2006/main">
              <a:ext uri="{FF2B5EF4-FFF2-40B4-BE49-F238E27FC236}">
                <a16:creationId xmlns:a16="http://schemas.microsoft.com/office/drawing/2014/main" id="{0AEFAAFF-FC08-4E8A-8E09-673EB1DC8981}"/>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La validation métier reste à l’humain</a:t>
            </a:r>
          </a:p>
        </p:txBody>
      </p:sp>
      <p:sp>
        <p:nvSpPr>
          <p:cNvPr id="7" name="slide-number">
            <a:extLst xmlns:a="http://schemas.openxmlformats.org/drawingml/2006/main">
              <a:ext uri="{FF2B5EF4-FFF2-40B4-BE49-F238E27FC236}">
                <a16:creationId xmlns:a16="http://schemas.microsoft.com/office/drawing/2014/main" id="{F3AE8203-0678-4495-8AF1-1B4BFF20E0E7}"/>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41</a:t>
            </a:r>
          </a:p>
        </p:txBody>
      </p:sp>
    </p:spTree>
    <p:extLst>
      <p:ext uri="{BB962C8B-B14F-4D97-AF65-F5344CB8AC3E}">
        <p14:creationId xmlns:p14="http://schemas.microsoft.com/office/powerpoint/2010/main" val="55867904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A1F9FA69-8C16-4174-A8C8-F3DBEF0B1ACD}"/>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07  VALIDATION PAR LES GATES</a:t>
            </a:r>
          </a:p>
        </p:txBody>
      </p:sp>
      <p:sp>
        <p:nvSpPr>
          <p:cNvPr id="2" name="title">
            <a:extLst xmlns:a="http://schemas.openxmlformats.org/drawingml/2006/main">
              <a:ext uri="{FF2B5EF4-FFF2-40B4-BE49-F238E27FC236}">
                <a16:creationId xmlns:a16="http://schemas.microsoft.com/office/drawing/2014/main" id="{AE272564-CC5B-4E1C-AD01-58B04D3DFEBC}"/>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HUMAN • un parcours réellement validé</a:t>
            </a:r>
          </a:p>
        </p:txBody>
      </p:sp>
      <p:sp>
        <p:nvSpPr>
          <p:cNvPr id="3" name="item-1">
            <a:extLst xmlns:a="http://schemas.openxmlformats.org/drawingml/2006/main">
              <a:ext uri="{FF2B5EF4-FFF2-40B4-BE49-F238E27FC236}">
                <a16:creationId xmlns:a16="http://schemas.microsoft.com/office/drawing/2014/main" id="{124CFD98-D61D-42E7-BBE3-F45CABBE4BA6}"/>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G-003-002 : Replace, Copy, Cancel et échecs sûrs</a:t>
            </a:r>
          </a:p>
        </p:txBody>
      </p:sp>
      <p:sp>
        <p:nvSpPr>
          <p:cNvPr id="4" name="item-2">
            <a:extLst xmlns:a="http://schemas.openxmlformats.org/drawingml/2006/main">
              <a:ext uri="{FF2B5EF4-FFF2-40B4-BE49-F238E27FC236}">
                <a16:creationId xmlns:a16="http://schemas.microsoft.com/office/drawing/2014/main" id="{6471DCA2-7D92-40B3-A6E8-DB5CF0D300B8}"/>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Plusieurs applications sources</a:t>
            </a:r>
          </a:p>
        </p:txBody>
      </p:sp>
      <p:sp>
        <p:nvSpPr>
          <p:cNvPr id="5" name="item-3">
            <a:extLst xmlns:a="http://schemas.openxmlformats.org/drawingml/2006/main">
              <a:ext uri="{FF2B5EF4-FFF2-40B4-BE49-F238E27FC236}">
                <a16:creationId xmlns:a16="http://schemas.microsoft.com/office/drawing/2014/main" id="{D54A2700-7982-4C9E-B1D4-AA1B210B4BDB}"/>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Lisibilité, redimensionnement et fenêtre visible</a:t>
            </a:r>
          </a:p>
        </p:txBody>
      </p:sp>
      <p:sp>
        <p:nvSpPr>
          <p:cNvPr id="6" name="item-4">
            <a:extLst xmlns:a="http://schemas.openxmlformats.org/drawingml/2006/main">
              <a:ext uri="{FF2B5EF4-FFF2-40B4-BE49-F238E27FC236}">
                <a16:creationId xmlns:a16="http://schemas.microsoft.com/office/drawing/2014/main" id="{9AAC4554-0F62-4290-BD5A-3779F65D8E59}"/>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Nom, date, candidat et commentaire</a:t>
            </a:r>
          </a:p>
        </p:txBody>
      </p:sp>
      <p:sp>
        <p:nvSpPr>
          <p:cNvPr id="7" name="slide-number">
            <a:extLst xmlns:a="http://schemas.openxmlformats.org/drawingml/2006/main">
              <a:ext uri="{FF2B5EF4-FFF2-40B4-BE49-F238E27FC236}">
                <a16:creationId xmlns:a16="http://schemas.microsoft.com/office/drawing/2014/main" id="{9E72676D-58BA-4D94-8873-37FC013846F0}"/>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42</a:t>
            </a:r>
          </a:p>
        </p:txBody>
      </p:sp>
    </p:spTree>
    <p:extLst>
      <p:ext uri="{BB962C8B-B14F-4D97-AF65-F5344CB8AC3E}">
        <p14:creationId xmlns:p14="http://schemas.microsoft.com/office/powerpoint/2010/main" val="108794501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DFDF3AC8-F27B-42F8-BE31-7DE35DCBBF8D}"/>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07  VALIDATION PAR LES GATES</a:t>
            </a:r>
          </a:p>
        </p:txBody>
      </p:sp>
      <p:sp>
        <p:nvSpPr>
          <p:cNvPr id="2" name="title">
            <a:extLst xmlns:a="http://schemas.openxmlformats.org/drawingml/2006/main">
              <a:ext uri="{FF2B5EF4-FFF2-40B4-BE49-F238E27FC236}">
                <a16:creationId xmlns:a16="http://schemas.microsoft.com/office/drawing/2014/main" id="{1A5C26FA-2AD8-40A2-A750-07D8540AB3C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Après modification, réexaminer les PASS</a:t>
            </a:r>
          </a:p>
        </p:txBody>
      </p:sp>
      <p:sp>
        <p:nvSpPr>
          <p:cNvPr id="3" name="item-1">
            <a:extLst xmlns:a="http://schemas.openxmlformats.org/drawingml/2006/main">
              <a:ext uri="{FF2B5EF4-FFF2-40B4-BE49-F238E27FC236}">
                <a16:creationId xmlns:a16="http://schemas.microsoft.com/office/drawing/2014/main" id="{ABD3AE86-2F43-4827-A5A7-16D11BE30B5A}"/>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Conserver les évaluations antérieures</a:t>
            </a:r>
          </a:p>
        </p:txBody>
      </p:sp>
      <p:sp>
        <p:nvSpPr>
          <p:cNvPr id="4" name="item-2">
            <a:extLst xmlns:a="http://schemas.openxmlformats.org/drawingml/2006/main">
              <a:ext uri="{FF2B5EF4-FFF2-40B4-BE49-F238E27FC236}">
                <a16:creationId xmlns:a16="http://schemas.microsoft.com/office/drawing/2014/main" id="{5211E784-0ED3-4944-A87E-2FE374394E18}"/>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Examiner l’impact dans GATES</a:t>
            </a:r>
          </a:p>
        </p:txBody>
      </p:sp>
      <p:sp>
        <p:nvSpPr>
          <p:cNvPr id="5" name="item-3">
            <a:extLst xmlns:a="http://schemas.openxmlformats.org/drawingml/2006/main">
              <a:ext uri="{FF2B5EF4-FFF2-40B4-BE49-F238E27FC236}">
                <a16:creationId xmlns:a16="http://schemas.microsoft.com/office/drawing/2014/main" id="{F2BB0FE0-8420-4C76-8779-45C54269B60B}"/>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Remettre les gates affectées à TO TEST</a:t>
            </a:r>
          </a:p>
        </p:txBody>
      </p:sp>
      <p:sp>
        <p:nvSpPr>
          <p:cNvPr id="6" name="item-4">
            <a:extLst xmlns:a="http://schemas.openxmlformats.org/drawingml/2006/main">
              <a:ext uri="{FF2B5EF4-FFF2-40B4-BE49-F238E27FC236}">
                <a16:creationId xmlns:a16="http://schemas.microsoft.com/office/drawing/2014/main" id="{907E3D9D-09A7-426F-9699-FFEF9E2EB489}"/>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Si l’impact est incertain, réévaluer les gates applicables</a:t>
            </a:r>
          </a:p>
        </p:txBody>
      </p:sp>
      <p:sp>
        <p:nvSpPr>
          <p:cNvPr id="7" name="slide-number">
            <a:extLst xmlns:a="http://schemas.openxmlformats.org/drawingml/2006/main">
              <a:ext uri="{FF2B5EF4-FFF2-40B4-BE49-F238E27FC236}">
                <a16:creationId xmlns:a16="http://schemas.microsoft.com/office/drawing/2014/main" id="{A1D59509-8CF0-4845-B4B8-5548ED9D624C}"/>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43</a:t>
            </a:r>
          </a:p>
        </p:txBody>
      </p:sp>
    </p:spTree>
    <p:extLst>
      <p:ext uri="{BB962C8B-B14F-4D97-AF65-F5344CB8AC3E}">
        <p14:creationId xmlns:p14="http://schemas.microsoft.com/office/powerpoint/2010/main" val="184521704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dule">
            <a:extLst xmlns:a="http://schemas.openxmlformats.org/drawingml/2006/main">
              <a:ext uri="{FF2B5EF4-FFF2-40B4-BE49-F238E27FC236}">
                <a16:creationId xmlns:a16="http://schemas.microsoft.com/office/drawing/2014/main" id="{92F14E21-5A39-454A-B628-F395D58CCF2D}"/>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07  VALIDATION PAR LES GATES</a:t>
            </a:r>
          </a:p>
        </p:txBody>
      </p:sp>
      <p:sp>
        <p:nvSpPr>
          <p:cNvPr id="2" name="title">
            <a:extLst xmlns:a="http://schemas.openxmlformats.org/drawingml/2006/main">
              <a:ext uri="{FF2B5EF4-FFF2-40B4-BE49-F238E27FC236}">
                <a16:creationId xmlns:a16="http://schemas.microsoft.com/office/drawing/2014/main" id="{FDDAE508-3C2A-49CE-B10D-396A04A89EFC}"/>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Atelier 3 • quelles validations refaire ?</a:t>
            </a:r>
          </a:p>
        </p:txBody>
      </p:sp>
      <p:sp>
        <p:nvSpPr>
          <p:cNvPr id="3" name="step-1">
            <a:extLst xmlns:a="http://schemas.openxmlformats.org/drawingml/2006/main">
              <a:ext uri="{FF2B5EF4-FFF2-40B4-BE49-F238E27FC236}">
                <a16:creationId xmlns:a16="http://schemas.microsoft.com/office/drawing/2014/main" id="{2823722A-D17F-4C91-9ADE-995DE449B29F}"/>
              </a:ext>
            </a:extLst>
          </p:cNvPr>
          <p:cNvSpPr>
            <a:spLocks xmlns:a="http://schemas.openxmlformats.org/drawingml/2006/main" noGrp="1"/>
          </p:cNvSpPr>
          <p:nvPr/>
        </p:nvSpPr>
        <p:spPr>
          <a:xfrm xmlns:a="http://schemas.openxmlformats.org/drawingml/2006/main">
            <a:off x="685800" y="20764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01</a:t>
            </a:r>
          </a:p>
        </p:txBody>
      </p:sp>
      <p:sp>
        <p:nvSpPr>
          <p:cNvPr id="4" name="instruction-1">
            <a:extLst xmlns:a="http://schemas.openxmlformats.org/drawingml/2006/main">
              <a:ext uri="{FF2B5EF4-FFF2-40B4-BE49-F238E27FC236}">
                <a16:creationId xmlns:a16="http://schemas.microsoft.com/office/drawing/2014/main" id="{E6DAB334-CFC7-4614-ADCB-079B8F5B7EBB}"/>
              </a:ext>
            </a:extLst>
          </p:cNvPr>
          <p:cNvSpPr>
            <a:spLocks xmlns:a="http://schemas.openxmlformats.org/drawingml/2006/main" noGrp="1"/>
          </p:cNvSpPr>
          <p:nvPr/>
        </p:nvSpPr>
        <p:spPr>
          <a:xfrm xmlns:a="http://schemas.openxmlformats.org/drawingml/2006/main">
            <a:off x="1666875" y="20764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Candidat A : AUTO PASS, HUMAN PASS</a:t>
            </a:r>
          </a:p>
        </p:txBody>
      </p:sp>
      <p:sp>
        <p:nvSpPr>
          <p:cNvPr id="5" name="step-2">
            <a:extLst xmlns:a="http://schemas.openxmlformats.org/drawingml/2006/main">
              <a:ext uri="{FF2B5EF4-FFF2-40B4-BE49-F238E27FC236}">
                <a16:creationId xmlns:a16="http://schemas.microsoft.com/office/drawing/2014/main" id="{8FA9E7A5-736F-4932-A996-FE4DAB0CD43F}"/>
              </a:ext>
            </a:extLst>
          </p:cNvPr>
          <p:cNvSpPr>
            <a:spLocks xmlns:a="http://schemas.openxmlformats.org/drawingml/2006/main" noGrp="1"/>
          </p:cNvSpPr>
          <p:nvPr/>
        </p:nvSpPr>
        <p:spPr>
          <a:xfrm xmlns:a="http://schemas.openxmlformats.org/drawingml/2006/main">
            <a:off x="685800" y="29718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02</a:t>
            </a:r>
          </a:p>
        </p:txBody>
      </p:sp>
      <p:sp>
        <p:nvSpPr>
          <p:cNvPr id="6" name="instruction-2">
            <a:extLst xmlns:a="http://schemas.openxmlformats.org/drawingml/2006/main">
              <a:ext uri="{FF2B5EF4-FFF2-40B4-BE49-F238E27FC236}">
                <a16:creationId xmlns:a16="http://schemas.microsoft.com/office/drawing/2014/main" id="{86AC7998-8785-4EC3-A612-83390483076D}"/>
              </a:ext>
            </a:extLst>
          </p:cNvPr>
          <p:cNvSpPr>
            <a:spLocks xmlns:a="http://schemas.openxmlformats.org/drawingml/2006/main" noGrp="1"/>
          </p:cNvSpPr>
          <p:nvPr/>
        </p:nvSpPr>
        <p:spPr>
          <a:xfrm xmlns:a="http://schemas.openxmlformats.org/drawingml/2006/main">
            <a:off x="1666875" y="29718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Correction du collage → candidat B</a:t>
            </a:r>
          </a:p>
        </p:txBody>
      </p:sp>
      <p:sp>
        <p:nvSpPr>
          <p:cNvPr id="7" name="step-3">
            <a:extLst xmlns:a="http://schemas.openxmlformats.org/drawingml/2006/main">
              <a:ext uri="{FF2B5EF4-FFF2-40B4-BE49-F238E27FC236}">
                <a16:creationId xmlns:a16="http://schemas.microsoft.com/office/drawing/2014/main" id="{5060089E-FA4A-4036-8C60-4F52B2ADDF2E}"/>
              </a:ext>
            </a:extLst>
          </p:cNvPr>
          <p:cNvSpPr>
            <a:spLocks xmlns:a="http://schemas.openxmlformats.org/drawingml/2006/main" noGrp="1"/>
          </p:cNvSpPr>
          <p:nvPr/>
        </p:nvSpPr>
        <p:spPr>
          <a:xfrm xmlns:a="http://schemas.openxmlformats.org/drawingml/2006/main">
            <a:off x="685800" y="38671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03</a:t>
            </a:r>
          </a:p>
        </p:txBody>
      </p:sp>
      <p:sp>
        <p:nvSpPr>
          <p:cNvPr id="8" name="instruction-3">
            <a:extLst xmlns:a="http://schemas.openxmlformats.org/drawingml/2006/main">
              <a:ext uri="{FF2B5EF4-FFF2-40B4-BE49-F238E27FC236}">
                <a16:creationId xmlns:a16="http://schemas.microsoft.com/office/drawing/2014/main" id="{DCCFF46D-23CF-4376-BDE0-F3FEEE737270}"/>
              </a:ext>
            </a:extLst>
          </p:cNvPr>
          <p:cNvSpPr>
            <a:spLocks xmlns:a="http://schemas.openxmlformats.org/drawingml/2006/main" noGrp="1"/>
          </p:cNvSpPr>
          <p:nvPr/>
        </p:nvSpPr>
        <p:spPr>
          <a:xfrm xmlns:a="http://schemas.openxmlformats.org/drawingml/2006/main">
            <a:off x="1666875" y="38671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Le résultat Copy paraît inchangé</a:t>
            </a:r>
          </a:p>
        </p:txBody>
      </p:sp>
      <p:sp>
        <p:nvSpPr>
          <p:cNvPr id="9" name="step-4">
            <a:extLst xmlns:a="http://schemas.openxmlformats.org/drawingml/2006/main">
              <a:ext uri="{FF2B5EF4-FFF2-40B4-BE49-F238E27FC236}">
                <a16:creationId xmlns:a16="http://schemas.microsoft.com/office/drawing/2014/main" id="{48AE8A99-03A4-4805-BF68-58DDD98C294D}"/>
              </a:ext>
            </a:extLst>
          </p:cNvPr>
          <p:cNvSpPr>
            <a:spLocks xmlns:a="http://schemas.openxmlformats.org/drawingml/2006/main" noGrp="1"/>
          </p:cNvSpPr>
          <p:nvPr/>
        </p:nvSpPr>
        <p:spPr>
          <a:xfrm xmlns:a="http://schemas.openxmlformats.org/drawingml/2006/main">
            <a:off x="685800" y="47625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04</a:t>
            </a:r>
          </a:p>
        </p:txBody>
      </p:sp>
      <p:sp>
        <p:nvSpPr>
          <p:cNvPr id="10" name="instruction-4">
            <a:extLst xmlns:a="http://schemas.openxmlformats.org/drawingml/2006/main">
              <a:ext uri="{FF2B5EF4-FFF2-40B4-BE49-F238E27FC236}">
                <a16:creationId xmlns:a16="http://schemas.microsoft.com/office/drawing/2014/main" id="{D9232B3A-8046-4FC2-8854-9080335D7098}"/>
              </a:ext>
            </a:extLst>
          </p:cNvPr>
          <p:cNvSpPr>
            <a:spLocks xmlns:a="http://schemas.openxmlformats.org/drawingml/2006/main" noGrp="1"/>
          </p:cNvSpPr>
          <p:nvPr/>
        </p:nvSpPr>
        <p:spPr>
          <a:xfrm xmlns:a="http://schemas.openxmlformats.org/drawingml/2006/main">
            <a:off x="1666875" y="47625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Décider des gates affectées et justifier les autres</a:t>
            </a:r>
          </a:p>
        </p:txBody>
      </p:sp>
      <p:sp>
        <p:nvSpPr>
          <p:cNvPr id="11" name="slide-number">
            <a:extLst xmlns:a="http://schemas.openxmlformats.org/drawingml/2006/main">
              <a:ext uri="{FF2B5EF4-FFF2-40B4-BE49-F238E27FC236}">
                <a16:creationId xmlns:a16="http://schemas.microsoft.com/office/drawing/2014/main" id="{5027EC31-009D-4EFD-A8F7-6C9885D57C04}"/>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44</a:t>
            </a:r>
          </a:p>
        </p:txBody>
      </p:sp>
    </p:spTree>
    <p:extLst>
      <p:ext uri="{BB962C8B-B14F-4D97-AF65-F5344CB8AC3E}">
        <p14:creationId xmlns:p14="http://schemas.microsoft.com/office/powerpoint/2010/main" val="173770331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FEF54530-F626-4EC8-9282-91AFE63EE4E4}"/>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08  CONVERGENCE ET FERMETURE</a:t>
            </a:r>
          </a:p>
        </p:txBody>
      </p:sp>
      <p:sp>
        <p:nvSpPr>
          <p:cNvPr id="2" name="title">
            <a:extLst xmlns:a="http://schemas.openxmlformats.org/drawingml/2006/main">
              <a:ext uri="{FF2B5EF4-FFF2-40B4-BE49-F238E27FC236}">
                <a16:creationId xmlns:a16="http://schemas.microsoft.com/office/drawing/2014/main" id="{0F94DA7D-86AA-4B51-88BC-920670C73D7C}"/>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Préparer la fermeture</a:t>
            </a:r>
          </a:p>
        </p:txBody>
      </p:sp>
      <p:sp>
        <p:nvSpPr>
          <p:cNvPr id="3" name="item-1">
            <a:extLst xmlns:a="http://schemas.openxmlformats.org/drawingml/2006/main">
              <a:ext uri="{FF2B5EF4-FFF2-40B4-BE49-F238E27FC236}">
                <a16:creationId xmlns:a16="http://schemas.microsoft.com/office/drawing/2014/main" id="{7EFF1B36-FB1E-4051-8266-85DE1AC49817}"/>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Travail terminé et résultat identifié</a:t>
            </a:r>
          </a:p>
        </p:txBody>
      </p:sp>
      <p:sp>
        <p:nvSpPr>
          <p:cNvPr id="4" name="item-2">
            <a:extLst xmlns:a="http://schemas.openxmlformats.org/drawingml/2006/main">
              <a:ext uri="{FF2B5EF4-FFF2-40B4-BE49-F238E27FC236}">
                <a16:creationId xmlns:a16="http://schemas.microsoft.com/office/drawing/2014/main" id="{301601A8-A779-4470-A46A-9F63E1DFADEB}"/>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Gates actives PASS valables ou N/A autorisées</a:t>
            </a:r>
          </a:p>
        </p:txBody>
      </p:sp>
      <p:sp>
        <p:nvSpPr>
          <p:cNvPr id="5" name="item-3">
            <a:extLst xmlns:a="http://schemas.openxmlformats.org/drawingml/2006/main">
              <a:ext uri="{FF2B5EF4-FFF2-40B4-BE49-F238E27FC236}">
                <a16:creationId xmlns:a16="http://schemas.microsoft.com/office/drawing/2014/main" id="{FCA79EFD-B970-4512-97F5-93DD5A6D079D}"/>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Chaque exigence active examinée</a:t>
            </a:r>
          </a:p>
        </p:txBody>
      </p:sp>
      <p:sp>
        <p:nvSpPr>
          <p:cNvPr id="6" name="item-4">
            <a:extLst xmlns:a="http://schemas.openxmlformats.org/drawingml/2006/main">
              <a:ext uri="{FF2B5EF4-FFF2-40B4-BE49-F238E27FC236}">
                <a16:creationId xmlns:a16="http://schemas.microsoft.com/office/drawing/2014/main" id="{88E272B3-0824-40AE-BFDF-4723C90D5BC6}"/>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Chaque finding reçoit un traitement terminal</a:t>
            </a:r>
          </a:p>
        </p:txBody>
      </p:sp>
      <p:sp>
        <p:nvSpPr>
          <p:cNvPr id="7" name="slide-number">
            <a:extLst xmlns:a="http://schemas.openxmlformats.org/drawingml/2006/main">
              <a:ext uri="{FF2B5EF4-FFF2-40B4-BE49-F238E27FC236}">
                <a16:creationId xmlns:a16="http://schemas.microsoft.com/office/drawing/2014/main" id="{6A545EF2-61E0-4313-BD3B-FE761CA0335A}"/>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45</a:t>
            </a:r>
          </a:p>
        </p:txBody>
      </p:sp>
    </p:spTree>
    <p:extLst>
      <p:ext uri="{BB962C8B-B14F-4D97-AF65-F5344CB8AC3E}">
        <p14:creationId xmlns:p14="http://schemas.microsoft.com/office/powerpoint/2010/main" val="1155575708"/>
      </p:ext>
    </p:extLst>
  </p:cSld>
</p:sld>
</file>

<file path=ppt/slides/slide46.xml><?xml version="1.0" encoding="utf-8"?>
<p:sld xmlns:p="http://schemas.openxmlformats.org/presentationml/2006/main">
  <p:cSld>
    <p:bg>
      <p:bgPr>
        <a:solidFill xmlns:a="http://schemas.openxmlformats.org/drawingml/2006/main">
          <a:srgbClr val="0D1B29"/>
        </a:solidFill>
      </p:bgPr>
    </p:bg>
    <p:spTree>
      <p:nvGrpSpPr>
        <p:cNvPr id="1" name=""/>
        <p:cNvGrpSpPr/>
        <p:nvPr/>
      </p:nvGrpSpPr>
      <p:grpSpPr>
        <a:xfrm xmlns:a="http://schemas.openxmlformats.org/drawingml/2006/main"/>
      </p:grpSpPr>
      <p:sp>
        <p:nvSpPr>
          <p:cNvPr id="6" name="module">
            <a:extLst xmlns:a="http://schemas.openxmlformats.org/drawingml/2006/main">
              <a:ext uri="{FF2B5EF4-FFF2-40B4-BE49-F238E27FC236}">
                <a16:creationId xmlns:a16="http://schemas.microsoft.com/office/drawing/2014/main" id="{1CBD9BFB-37F5-4E34-B63C-79151802D69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DE1E5"/>
                </a:solidFill>
                <a:latin typeface="Arial"/>
                <a:ea typeface="Arial"/>
                <a:cs typeface="Arial"/>
              </a:defRPr>
            </a:pPr>
            <a:r>
              <a:rPr sz="1500" b="1">
                <a:solidFill>
                  <a:srgbClr val="7DE1E5"/>
                </a:solidFill>
                <a:latin typeface="Arial"/>
                <a:ea typeface="Arial"/>
                <a:cs typeface="Arial"/>
              </a:rPr>
              <a:t>08  CONVERGENCE ET FERMETURE</a:t>
            </a:r>
          </a:p>
        </p:txBody>
      </p:sp>
      <p:sp>
        <p:nvSpPr>
          <p:cNvPr id="2" name="title">
            <a:extLst xmlns:a="http://schemas.openxmlformats.org/drawingml/2006/main">
              <a:ext uri="{FF2B5EF4-FFF2-40B4-BE49-F238E27FC236}">
                <a16:creationId xmlns:a16="http://schemas.microsoft.com/office/drawing/2014/main" id="{91BDBE8A-AC7E-4A83-97E0-B89B5AA4CEFD}"/>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1F6FA"/>
                </a:solidFill>
                <a:latin typeface="Arial"/>
                <a:ea typeface="Arial"/>
                <a:cs typeface="Arial"/>
              </a:defRPr>
            </a:pPr>
            <a:r>
              <a:rPr sz="3300" b="1">
                <a:solidFill>
                  <a:srgbClr val="F1F6FA"/>
                </a:solidFill>
                <a:latin typeface="Arial"/>
                <a:ea typeface="Arial"/>
                <a:cs typeface="Arial"/>
              </a:rPr>
              <a:t>Le prompt de fermeture</a:t>
            </a:r>
          </a:p>
        </p:txBody>
      </p:sp>
      <p:sp>
        <p:nvSpPr>
          <p:cNvPr id="3" name="prompt">
            <a:extLst xmlns:a="http://schemas.openxmlformats.org/drawingml/2006/main">
              <a:ext uri="{FF2B5EF4-FFF2-40B4-BE49-F238E27FC236}">
                <a16:creationId xmlns:a16="http://schemas.microsoft.com/office/drawing/2014/main" id="{EDA9491F-D69E-45FE-836D-2DB94C4C09EE}"/>
              </a:ext>
            </a:extLst>
          </p:cNvPr>
          <p:cNvSpPr>
            <a:spLocks xmlns:a="http://schemas.openxmlformats.org/drawingml/2006/main" noGrp="1"/>
          </p:cNvSpPr>
          <p:nvPr/>
        </p:nvSpPr>
        <p:spPr>
          <a:xfrm xmlns:a="http://schemas.openxmlformats.org/drawingml/2006/main">
            <a:off x="685800" y="2495550"/>
            <a:ext cx="108204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00" b="1">
                <a:solidFill>
                  <a:srgbClr val="F1F6FA"/>
                </a:solidFill>
                <a:latin typeface="Arial"/>
                <a:ea typeface="Arial"/>
                <a:cs typeface="Arial"/>
              </a:defRPr>
            </a:pPr>
            <a:r>
              <a:rPr sz="3900" b="1">
                <a:solidFill>
                  <a:srgbClr val="F1F6FA"/>
                </a:solidFill>
                <a:latin typeface="Arial"/>
                <a:ea typeface="Arial"/>
                <a:cs typeface="Arial"/>
              </a:rPr>
              <a:t>Ferme le lot en cours.</a:t>
            </a:r>
          </a:p>
        </p:txBody>
      </p:sp>
      <p:sp>
        <p:nvSpPr>
          <p:cNvPr id="4" name="meaning">
            <a:extLst xmlns:a="http://schemas.openxmlformats.org/drawingml/2006/main">
              <a:ext uri="{FF2B5EF4-FFF2-40B4-BE49-F238E27FC236}">
                <a16:creationId xmlns:a16="http://schemas.microsoft.com/office/drawing/2014/main" id="{C1E89812-20FE-49DB-B2B8-09293D8B9FA2}"/>
              </a:ext>
            </a:extLst>
          </p:cNvPr>
          <p:cNvSpPr>
            <a:spLocks xmlns:a="http://schemas.openxmlformats.org/drawingml/2006/main" noGrp="1"/>
          </p:cNvSpPr>
          <p:nvPr/>
        </p:nvSpPr>
        <p:spPr>
          <a:xfrm xmlns:a="http://schemas.openxmlformats.org/drawingml/2006/main">
            <a:off x="685800" y="51625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3CF83"/>
                </a:solidFill>
                <a:latin typeface="Arial"/>
                <a:ea typeface="Arial"/>
                <a:cs typeface="Arial"/>
              </a:defRPr>
            </a:pPr>
            <a:r>
              <a:rPr sz="2250" b="0">
                <a:solidFill>
                  <a:srgbClr val="F3CF83"/>
                </a:solidFill>
                <a:latin typeface="Arial"/>
                <a:ea typeface="Arial"/>
                <a:cs typeface="Arial"/>
              </a:rPr>
              <a:t>La procédure vérifie les conditions et applique la décision humaine.</a:t>
            </a:r>
          </a:p>
        </p:txBody>
      </p:sp>
      <p:sp>
        <p:nvSpPr>
          <p:cNvPr id="5" name="slide-number">
            <a:extLst xmlns:a="http://schemas.openxmlformats.org/drawingml/2006/main">
              <a:ext uri="{FF2B5EF4-FFF2-40B4-BE49-F238E27FC236}">
                <a16:creationId xmlns:a16="http://schemas.microsoft.com/office/drawing/2014/main" id="{1BCA65BD-38E9-46BF-B866-E69FCD5961E2}"/>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BC0D3"/>
                </a:solidFill>
                <a:latin typeface="Arial"/>
                <a:ea typeface="Arial"/>
                <a:cs typeface="Arial"/>
              </a:defRPr>
            </a:pPr>
            <a:r>
              <a:rPr sz="1350" b="0">
                <a:solidFill>
                  <a:srgbClr val="ABC0D3"/>
                </a:solidFill>
                <a:latin typeface="Arial"/>
                <a:ea typeface="Arial"/>
                <a:cs typeface="Arial"/>
              </a:rPr>
              <a:t>46</a:t>
            </a:r>
          </a:p>
        </p:txBody>
      </p:sp>
    </p:spTree>
    <p:extLst>
      <p:ext uri="{BB962C8B-B14F-4D97-AF65-F5344CB8AC3E}">
        <p14:creationId xmlns:p14="http://schemas.microsoft.com/office/powerpoint/2010/main" val="463329649"/>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E487A05C-C551-409E-8045-6EC24A20D488}"/>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08  CONVERGENCE ET FERMETURE</a:t>
            </a:r>
          </a:p>
        </p:txBody>
      </p:sp>
      <p:sp>
        <p:nvSpPr>
          <p:cNvPr id="2" name="title">
            <a:extLst xmlns:a="http://schemas.openxmlformats.org/drawingml/2006/main">
              <a:ext uri="{FF2B5EF4-FFF2-40B4-BE49-F238E27FC236}">
                <a16:creationId xmlns:a16="http://schemas.microsoft.com/office/drawing/2014/main" id="{3766AD0E-AC1C-4431-ABB5-67A86CB71B72}"/>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CONVERGENCE compare intention et résultat</a:t>
            </a:r>
          </a:p>
        </p:txBody>
      </p:sp>
      <p:sp>
        <p:nvSpPr>
          <p:cNvPr id="3" name="item-1">
            <a:extLst xmlns:a="http://schemas.openxmlformats.org/drawingml/2006/main">
              <a:ext uri="{FF2B5EF4-FFF2-40B4-BE49-F238E27FC236}">
                <a16:creationId xmlns:a16="http://schemas.microsoft.com/office/drawing/2014/main" id="{B913ACCD-6A38-42C4-8740-F2495A430D01}"/>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Résultat obtenu et identifié</a:t>
            </a:r>
          </a:p>
        </p:txBody>
      </p:sp>
      <p:sp>
        <p:nvSpPr>
          <p:cNvPr id="4" name="item-2">
            <a:extLst xmlns:a="http://schemas.openxmlformats.org/drawingml/2006/main">
              <a:ext uri="{FF2B5EF4-FFF2-40B4-BE49-F238E27FC236}">
                <a16:creationId xmlns:a16="http://schemas.microsoft.com/office/drawing/2014/main" id="{9F715464-3E76-4B5A-AFDA-288691110F44}"/>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Satisfaction ou écart pour chaque exigence active</a:t>
            </a:r>
          </a:p>
        </p:txBody>
      </p:sp>
      <p:sp>
        <p:nvSpPr>
          <p:cNvPr id="5" name="item-3">
            <a:extLst xmlns:a="http://schemas.openxmlformats.org/drawingml/2006/main">
              <a:ext uri="{FF2B5EF4-FFF2-40B4-BE49-F238E27FC236}">
                <a16:creationId xmlns:a16="http://schemas.microsoft.com/office/drawing/2014/main" id="{13936364-EC85-48E7-9716-8C0972A8534F}"/>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Résultats essentiels des gates</a:t>
            </a:r>
          </a:p>
        </p:txBody>
      </p:sp>
      <p:sp>
        <p:nvSpPr>
          <p:cNvPr id="6" name="item-4">
            <a:extLst xmlns:a="http://schemas.openxmlformats.org/drawingml/2006/main">
              <a:ext uri="{FF2B5EF4-FFF2-40B4-BE49-F238E27FC236}">
                <a16:creationId xmlns:a16="http://schemas.microsoft.com/office/drawing/2014/main" id="{34862527-5F7F-4EBE-A052-ED3B05B4304B}"/>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Destinations des findings et travail résiduel</a:t>
            </a:r>
          </a:p>
        </p:txBody>
      </p:sp>
      <p:sp>
        <p:nvSpPr>
          <p:cNvPr id="7" name="slide-number">
            <a:extLst xmlns:a="http://schemas.openxmlformats.org/drawingml/2006/main">
              <a:ext uri="{FF2B5EF4-FFF2-40B4-BE49-F238E27FC236}">
                <a16:creationId xmlns:a16="http://schemas.microsoft.com/office/drawing/2014/main" id="{ECA98563-6003-4CC8-88F1-9C7BCED88BF8}"/>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47</a:t>
            </a:r>
          </a:p>
        </p:txBody>
      </p:sp>
    </p:spTree>
    <p:extLst>
      <p:ext uri="{BB962C8B-B14F-4D97-AF65-F5344CB8AC3E}">
        <p14:creationId xmlns:p14="http://schemas.microsoft.com/office/powerpoint/2010/main" val="8250923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C4FC2658-B117-4EF1-B663-3BFA2B4C9756}"/>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08  CONVERGENCE ET FERMETURE</a:t>
            </a:r>
          </a:p>
        </p:txBody>
      </p:sp>
      <p:sp>
        <p:nvSpPr>
          <p:cNvPr id="2" name="title">
            <a:extLst xmlns:a="http://schemas.openxmlformats.org/drawingml/2006/main">
              <a:ext uri="{FF2B5EF4-FFF2-40B4-BE49-F238E27FC236}">
                <a16:creationId xmlns:a16="http://schemas.microsoft.com/office/drawing/2014/main" id="{85797E73-8C11-47B8-85EF-6375993D63E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TOTAL et PARTIAL</a:t>
            </a:r>
          </a:p>
        </p:txBody>
      </p:sp>
      <p:graphicFrame>
        <p:nvGraphicFramePr>
          <p:cNvPr id="7" name=""/>
          <p:cNvGraphicFramePr/>
          <p:nvPr/>
        </p:nvGraphicFramePr>
        <p:xfrm>
          <a:off xmlns:a="http://schemas.openxmlformats.org/drawingml/2006/main" x="685800" y="1962150"/>
          <a:ext xmlns:a="http://schemas.openxmlformats.org/drawingml/2006/main" cx="10820400" cy="3276600"/>
        </p:xfrm>
        <a:graphic xmlns:a="http://schemas.openxmlformats.org/drawingml/2006/main">
          <a:graphicData uri="http://schemas.openxmlformats.org/drawingml/2006/table">
            <a:tbl>
              <a:tblPr firstRow="1" bandRow="0"/>
              <a:tblGrid>
                <a:gridCol w="3524250"/>
                <a:gridCol w="7296150"/>
              </a:tblGrid>
              <a:tr h="819150">
                <a:tc>
                  <a:txBody>
                    <a:bodyPr lIns="171450" tIns="76200" rIns="152400" bIns="76200">
                      <a:noAutofit/>
                    </a:bodyPr>
                    <a:lstStyle/>
                    <a:p>
                      <a:r>
                        <a:rPr sz="1875" b="1">
                          <a:solidFill>
                            <a:srgbClr val="FFFFFF"/>
                          </a:solidFill>
                          <a:latin typeface="Arial"/>
                          <a:ea typeface="Arial"/>
                          <a:cs typeface="Arial"/>
                        </a:rPr>
                        <a:t>Niveau</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Condition</a:t>
                      </a:r>
                    </a:p>
                  </a:txBody>
                  <a:tcPr marL="91440" marR="91440" marT="45720" marB="45720" anchor="ctr">
                    <a:solidFill>
                      <a:srgbClr val="0D1B29"/>
                    </a:solidFill>
                  </a:tcPr>
                </a:tc>
              </a:tr>
              <a:tr h="819150">
                <a:tc>
                  <a:txBody>
                    <a:bodyPr lIns="171450" tIns="76200" rIns="152400" bIns="76200">
                      <a:noAutofit/>
                    </a:bodyPr>
                    <a:lstStyle/>
                    <a:p>
                      <a:r>
                        <a:rPr sz="2025" b="1">
                          <a:solidFill>
                            <a:srgbClr val="183044"/>
                          </a:solidFill>
                          <a:latin typeface="Arial"/>
                          <a:ea typeface="Arial"/>
                          <a:cs typeface="Arial"/>
                        </a:rPr>
                        <a:t>TOTAL</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Toutes les exigences actives sont satisfaites</a:t>
                      </a:r>
                    </a:p>
                  </a:txBody>
                  <a:tcPr marL="91440" marR="91440" marT="45720" marB="45720" anchor="ctr">
                    <a:solidFill>
                      <a:srgbClr val="FFFFFF"/>
                    </a:solidFill>
                  </a:tcPr>
                </a:tc>
              </a:tr>
              <a:tr h="819150">
                <a:tc>
                  <a:txBody>
                    <a:bodyPr lIns="171450" tIns="76200" rIns="152400" bIns="76200">
                      <a:noAutofit/>
                    </a:bodyPr>
                    <a:lstStyle/>
                    <a:p>
                      <a:r>
                        <a:rPr sz="2025" b="1">
                          <a:solidFill>
                            <a:srgbClr val="183044"/>
                          </a:solidFill>
                          <a:latin typeface="Arial"/>
                          <a:ea typeface="Arial"/>
                          <a:cs typeface="Arial"/>
                        </a:rPr>
                        <a:t>PARTIAL</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Au moins un écart est accepté par l’humain</a:t>
                      </a:r>
                    </a:p>
                  </a:txBody>
                  <a:tcPr marL="91440" marR="91440" marT="45720" marB="45720" anchor="ctr">
                    <a:solidFill>
                      <a:srgbClr val="F2F6F8"/>
                    </a:solidFill>
                  </a:tcPr>
                </a:tc>
              </a:tr>
              <a:tr h="819150">
                <a:tc>
                  <a:txBody>
                    <a:bodyPr lIns="171450" tIns="76200" rIns="152400" bIns="76200">
                      <a:noAutofit/>
                    </a:bodyPr>
                    <a:lstStyle/>
                    <a:p>
                      <a:r>
                        <a:rPr sz="2025" b="1">
                          <a:solidFill>
                            <a:srgbClr val="183044"/>
                          </a:solidFill>
                          <a:latin typeface="Arial"/>
                          <a:ea typeface="Arial"/>
                          <a:cs typeface="Arial"/>
                        </a:rPr>
                        <a:t>Dans les deux cas</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Toutes les gates actives sont PASS valables ou N/A autorisées</a:t>
                      </a:r>
                    </a:p>
                  </a:txBody>
                  <a:tcPr marL="91440" marR="91440" marT="45720" marB="45720" anchor="ctr">
                    <a:solidFill>
                      <a:srgbClr val="FFFFFF"/>
                    </a:solidFill>
                  </a:tcPr>
                </a:tc>
              </a:tr>
            </a:tbl>
          </a:graphicData>
        </a:graphic>
      </p:graphicFrame>
      <p:sp>
        <p:nvSpPr>
          <p:cNvPr id="4" name="slide-number">
            <a:extLst xmlns:a="http://schemas.openxmlformats.org/drawingml/2006/main">
              <a:ext uri="{FF2B5EF4-FFF2-40B4-BE49-F238E27FC236}">
                <a16:creationId xmlns:a16="http://schemas.microsoft.com/office/drawing/2014/main" id="{49483986-132F-4A46-824D-7CF2B3130AA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48</a:t>
            </a:r>
          </a:p>
        </p:txBody>
      </p:sp>
    </p:spTree>
    <p:extLst>
      <p:ext uri="{BB962C8B-B14F-4D97-AF65-F5344CB8AC3E}">
        <p14:creationId xmlns:p14="http://schemas.microsoft.com/office/powerpoint/2010/main" val="1758132206"/>
      </p:ext>
    </p:extLst>
  </p:cSld>
</p:sld>
</file>

<file path=ppt/slides/slide49.xml><?xml version="1.0" encoding="utf-8"?>
<p:sld xmlns:p="http://schemas.openxmlformats.org/presentationml/2006/main">
  <p:cSld>
    <p:bg>
      <p:bgPr>
        <a:solidFill xmlns:a="http://schemas.openxmlformats.org/drawingml/2006/main">
          <a:srgbClr val="0D1B29"/>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CA18E2B5-6520-47DF-908A-20200541F78F}"/>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DE1E5"/>
                </a:solidFill>
                <a:latin typeface="Arial"/>
                <a:ea typeface="Arial"/>
                <a:cs typeface="Arial"/>
              </a:defRPr>
            </a:pPr>
            <a:r>
              <a:rPr sz="1500" b="1">
                <a:solidFill>
                  <a:srgbClr val="7DE1E5"/>
                </a:solidFill>
                <a:latin typeface="Arial"/>
                <a:ea typeface="Arial"/>
                <a:cs typeface="Arial"/>
              </a:rPr>
              <a:t>08  CONVERGENCE ET FERMETURE</a:t>
            </a:r>
          </a:p>
        </p:txBody>
      </p:sp>
      <p:sp>
        <p:nvSpPr>
          <p:cNvPr id="2" name="title">
            <a:extLst xmlns:a="http://schemas.openxmlformats.org/drawingml/2006/main">
              <a:ext uri="{FF2B5EF4-FFF2-40B4-BE49-F238E27FC236}">
                <a16:creationId xmlns:a16="http://schemas.microsoft.com/office/drawing/2014/main" id="{CD12913A-B138-4C04-999E-54BA48BDB385}"/>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1F6FA"/>
                </a:solidFill>
                <a:latin typeface="Arial"/>
                <a:ea typeface="Arial"/>
                <a:cs typeface="Arial"/>
              </a:defRPr>
            </a:pPr>
            <a:r>
              <a:rPr sz="3300" b="1">
                <a:solidFill>
                  <a:srgbClr val="F1F6FA"/>
                </a:solidFill>
                <a:latin typeface="Arial"/>
                <a:ea typeface="Arial"/>
                <a:cs typeface="Arial"/>
              </a:rPr>
              <a:t>Cas réel • la fermeture partielle de LOT-010</a:t>
            </a:r>
          </a:p>
        </p:txBody>
      </p:sp>
      <p:sp>
        <p:nvSpPr>
          <p:cNvPr id="3" name="item-1">
            <a:extLst xmlns:a="http://schemas.openxmlformats.org/drawingml/2006/main">
              <a:ext uri="{FF2B5EF4-FFF2-40B4-BE49-F238E27FC236}">
                <a16:creationId xmlns:a16="http://schemas.microsoft.com/office/drawing/2014/main" id="{A13ACB07-56F5-446B-BA09-13C15A3698F6}"/>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F1F6FA"/>
                </a:solidFill>
                <a:latin typeface="Arial"/>
                <a:ea typeface="Arial"/>
                <a:cs typeface="Arial"/>
              </a:defRPr>
            </a:pPr>
            <a:r>
              <a:rPr sz="2700" b="1">
                <a:solidFill>
                  <a:srgbClr val="F1F6FA"/>
                </a:solidFill>
                <a:latin typeface="Arial"/>
                <a:ea typeface="Arial"/>
                <a:cs typeface="Arial"/>
              </a:rPr>
              <a:t>D-041 identifie le candidat accepté</a:t>
            </a:r>
          </a:p>
        </p:txBody>
      </p:sp>
      <p:sp>
        <p:nvSpPr>
          <p:cNvPr id="4" name="item-2">
            <a:extLst xmlns:a="http://schemas.openxmlformats.org/drawingml/2006/main">
              <a:ext uri="{FF2B5EF4-FFF2-40B4-BE49-F238E27FC236}">
                <a16:creationId xmlns:a16="http://schemas.microsoft.com/office/drawing/2014/main" id="{E23FB104-D1D9-469C-9A69-75821252BEF9}"/>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Contrôles VS Code et DPI / multi-écran différés</a:t>
            </a:r>
          </a:p>
        </p:txBody>
      </p:sp>
      <p:sp>
        <p:nvSpPr>
          <p:cNvPr id="5" name="item-3">
            <a:extLst xmlns:a="http://schemas.openxmlformats.org/drawingml/2006/main">
              <a:ext uri="{FF2B5EF4-FFF2-40B4-BE49-F238E27FC236}">
                <a16:creationId xmlns:a16="http://schemas.microsoft.com/office/drawing/2014/main" id="{36E61FF1-5E29-497D-990F-9259139F503C}"/>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G-010-002 : N/A dans les conditions documentées</a:t>
            </a:r>
          </a:p>
        </p:txBody>
      </p:sp>
      <p:sp>
        <p:nvSpPr>
          <p:cNvPr id="6" name="item-4">
            <a:extLst xmlns:a="http://schemas.openxmlformats.org/drawingml/2006/main">
              <a:ext uri="{FF2B5EF4-FFF2-40B4-BE49-F238E27FC236}">
                <a16:creationId xmlns:a16="http://schemas.microsoft.com/office/drawing/2014/main" id="{A5D0AA22-39F6-44CD-A559-A587CC1F904E}"/>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F1F6FA"/>
                </a:solidFill>
                <a:latin typeface="Arial"/>
                <a:ea typeface="Arial"/>
                <a:cs typeface="Arial"/>
              </a:defRPr>
            </a:pPr>
            <a:r>
              <a:rPr sz="2700" b="0">
                <a:solidFill>
                  <a:srgbClr val="F1F6FA"/>
                </a:solidFill>
                <a:latin typeface="Arial"/>
                <a:ea typeface="Arial"/>
                <a:cs typeface="Arial"/>
              </a:rPr>
              <a:t>CONVERGENCE : PARTIAL et travail résiduel explicite</a:t>
            </a:r>
          </a:p>
        </p:txBody>
      </p:sp>
      <p:sp>
        <p:nvSpPr>
          <p:cNvPr id="7" name="slide-number">
            <a:extLst xmlns:a="http://schemas.openxmlformats.org/drawingml/2006/main">
              <a:ext uri="{FF2B5EF4-FFF2-40B4-BE49-F238E27FC236}">
                <a16:creationId xmlns:a16="http://schemas.microsoft.com/office/drawing/2014/main" id="{0CEE2831-D6BF-4B26-B5EA-493F794A61B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ABC0D3"/>
                </a:solidFill>
                <a:latin typeface="Arial"/>
                <a:ea typeface="Arial"/>
                <a:cs typeface="Arial"/>
              </a:defRPr>
            </a:pPr>
            <a:r>
              <a:rPr sz="1350" b="0">
                <a:solidFill>
                  <a:srgbClr val="ABC0D3"/>
                </a:solidFill>
                <a:latin typeface="Arial"/>
                <a:ea typeface="Arial"/>
                <a:cs typeface="Arial"/>
              </a:rPr>
              <a:t>49</a:t>
            </a:r>
          </a:p>
        </p:txBody>
      </p:sp>
    </p:spTree>
    <p:extLst>
      <p:ext uri="{BB962C8B-B14F-4D97-AF65-F5344CB8AC3E}">
        <p14:creationId xmlns:p14="http://schemas.microsoft.com/office/powerpoint/2010/main" val="128560697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EDF67822-E94F-4985-8450-E6C2FD42309D}"/>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08  CONVERGENCE ET FERMETURE</a:t>
            </a:r>
          </a:p>
        </p:txBody>
      </p:sp>
      <p:sp>
        <p:nvSpPr>
          <p:cNvPr id="2" name="title">
            <a:extLst xmlns:a="http://schemas.openxmlformats.org/drawingml/2006/main">
              <a:ext uri="{FF2B5EF4-FFF2-40B4-BE49-F238E27FC236}">
                <a16:creationId xmlns:a16="http://schemas.microsoft.com/office/drawing/2014/main" id="{80FC97B6-5C7F-43EE-A6F2-00A56EE72494}"/>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Refuser une fermeture impossible</a:t>
            </a:r>
          </a:p>
        </p:txBody>
      </p:sp>
      <p:sp>
        <p:nvSpPr>
          <p:cNvPr id="3" name="item-1">
            <a:extLst xmlns:a="http://schemas.openxmlformats.org/drawingml/2006/main">
              <a:ext uri="{FF2B5EF4-FFF2-40B4-BE49-F238E27FC236}">
                <a16:creationId xmlns:a16="http://schemas.microsoft.com/office/drawing/2014/main" id="{80EE126A-7437-456F-98FF-ABD071F3E237}"/>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Gate active FAIL ou TO TEST</a:t>
            </a:r>
          </a:p>
        </p:txBody>
      </p:sp>
      <p:sp>
        <p:nvSpPr>
          <p:cNvPr id="4" name="item-2">
            <a:extLst xmlns:a="http://schemas.openxmlformats.org/drawingml/2006/main">
              <a:ext uri="{FF2B5EF4-FFF2-40B4-BE49-F238E27FC236}">
                <a16:creationId xmlns:a16="http://schemas.microsoft.com/office/drawing/2014/main" id="{1D199E49-B141-4CE2-9CDA-D34215A6F9A3}"/>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Validation HUMAN absente ou devenue inapplicable</a:t>
            </a:r>
          </a:p>
        </p:txBody>
      </p:sp>
      <p:sp>
        <p:nvSpPr>
          <p:cNvPr id="5" name="item-3">
            <a:extLst xmlns:a="http://schemas.openxmlformats.org/drawingml/2006/main">
              <a:ext uri="{FF2B5EF4-FFF2-40B4-BE49-F238E27FC236}">
                <a16:creationId xmlns:a16="http://schemas.microsoft.com/office/drawing/2014/main" id="{742DE224-5C37-47CA-96BD-216A91DD7E40}"/>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Écart non accepté ou exigence non examinée</a:t>
            </a:r>
          </a:p>
        </p:txBody>
      </p:sp>
      <p:sp>
        <p:nvSpPr>
          <p:cNvPr id="6" name="item-4">
            <a:extLst xmlns:a="http://schemas.openxmlformats.org/drawingml/2006/main">
              <a:ext uri="{FF2B5EF4-FFF2-40B4-BE49-F238E27FC236}">
                <a16:creationId xmlns:a16="http://schemas.microsoft.com/office/drawing/2014/main" id="{639D6F94-AB4D-4B31-82F5-46E5E8483287}"/>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Finding OPEN ou incohérence documentaire bloquante</a:t>
            </a:r>
          </a:p>
        </p:txBody>
      </p:sp>
      <p:sp>
        <p:nvSpPr>
          <p:cNvPr id="7" name="slide-number">
            <a:extLst xmlns:a="http://schemas.openxmlformats.org/drawingml/2006/main">
              <a:ext uri="{FF2B5EF4-FFF2-40B4-BE49-F238E27FC236}">
                <a16:creationId xmlns:a16="http://schemas.microsoft.com/office/drawing/2014/main" id="{6F886302-1615-4355-B3AE-EDAA50C8E89E}"/>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50</a:t>
            </a:r>
          </a:p>
        </p:txBody>
      </p:sp>
    </p:spTree>
    <p:extLst>
      <p:ext uri="{BB962C8B-B14F-4D97-AF65-F5344CB8AC3E}">
        <p14:creationId xmlns:p14="http://schemas.microsoft.com/office/powerpoint/2010/main" val="128371067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B7140475-C220-4A3D-A0C8-EB065E8555C6}"/>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08  CONVERGENCE ET FERMETURE</a:t>
            </a:r>
          </a:p>
        </p:txBody>
      </p:sp>
      <p:sp>
        <p:nvSpPr>
          <p:cNvPr id="2" name="title">
            <a:extLst xmlns:a="http://schemas.openxmlformats.org/drawingml/2006/main">
              <a:ext uri="{FF2B5EF4-FFF2-40B4-BE49-F238E27FC236}">
                <a16:creationId xmlns:a16="http://schemas.microsoft.com/office/drawing/2014/main" id="{4C3DDBF6-B8BD-447D-BE4C-83F0B5DA3D98}"/>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Appliquer la fermeture acceptée</a:t>
            </a:r>
          </a:p>
        </p:txBody>
      </p:sp>
      <p:sp>
        <p:nvSpPr>
          <p:cNvPr id="3" name="item-1">
            <a:extLst xmlns:a="http://schemas.openxmlformats.org/drawingml/2006/main">
              <a:ext uri="{FF2B5EF4-FFF2-40B4-BE49-F238E27FC236}">
                <a16:creationId xmlns:a16="http://schemas.microsoft.com/office/drawing/2014/main" id="{233172F4-F51A-4F17-A19C-72E2BCA61208}"/>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Acceptation humaine du résultat et des écarts présentés</a:t>
            </a:r>
          </a:p>
        </p:txBody>
      </p:sp>
      <p:sp>
        <p:nvSpPr>
          <p:cNvPr id="4" name="item-2">
            <a:extLst xmlns:a="http://schemas.openxmlformats.org/drawingml/2006/main">
              <a:ext uri="{FF2B5EF4-FFF2-40B4-BE49-F238E27FC236}">
                <a16:creationId xmlns:a16="http://schemas.microsoft.com/office/drawing/2014/main" id="{CC2E1E66-DDEC-47A8-A30E-4CACB9E084BE}"/>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Finalisation de CONVERGENCE</a:t>
            </a:r>
          </a:p>
        </p:txBody>
      </p:sp>
      <p:sp>
        <p:nvSpPr>
          <p:cNvPr id="5" name="item-3">
            <a:extLst xmlns:a="http://schemas.openxmlformats.org/drawingml/2006/main">
              <a:ext uri="{FF2B5EF4-FFF2-40B4-BE49-F238E27FC236}">
                <a16:creationId xmlns:a16="http://schemas.microsoft.com/office/drawing/2014/main" id="{1DCB7013-093D-4E46-9A49-5489D3D0F031}"/>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Mises à jour approuvées et cohérence vérifiée</a:t>
            </a:r>
          </a:p>
        </p:txBody>
      </p:sp>
      <p:sp>
        <p:nvSpPr>
          <p:cNvPr id="6" name="item-4">
            <a:extLst xmlns:a="http://schemas.openxmlformats.org/drawingml/2006/main">
              <a:ext uri="{FF2B5EF4-FFF2-40B4-BE49-F238E27FC236}">
                <a16:creationId xmlns:a16="http://schemas.microsoft.com/office/drawing/2014/main" id="{D080CB90-732B-4C64-AD40-32C7771CA4B0}"/>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STATUS passe à Closed en dernier, puis HISTORY</a:t>
            </a:r>
          </a:p>
        </p:txBody>
      </p:sp>
      <p:sp>
        <p:nvSpPr>
          <p:cNvPr id="7" name="slide-number">
            <a:extLst xmlns:a="http://schemas.openxmlformats.org/drawingml/2006/main">
              <a:ext uri="{FF2B5EF4-FFF2-40B4-BE49-F238E27FC236}">
                <a16:creationId xmlns:a16="http://schemas.microsoft.com/office/drawing/2014/main" id="{58141A22-D331-461B-885D-0565B215170C}"/>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51</a:t>
            </a:r>
          </a:p>
        </p:txBody>
      </p:sp>
    </p:spTree>
    <p:extLst>
      <p:ext uri="{BB962C8B-B14F-4D97-AF65-F5344CB8AC3E}">
        <p14:creationId xmlns:p14="http://schemas.microsoft.com/office/powerpoint/2010/main" val="131095157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60CA1A78-471F-4F5A-9576-A9CC89D287A0}"/>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09  SITUATIONS PARTICULIÈRES</a:t>
            </a:r>
          </a:p>
        </p:txBody>
      </p:sp>
      <p:sp>
        <p:nvSpPr>
          <p:cNvPr id="2" name="title">
            <a:extLst xmlns:a="http://schemas.openxmlformats.org/drawingml/2006/main">
              <a:ext uri="{FF2B5EF4-FFF2-40B4-BE49-F238E27FC236}">
                <a16:creationId xmlns:a16="http://schemas.microsoft.com/office/drawing/2014/main" id="{22C9B646-34A3-410E-B5FF-86FE79939D1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Blocked • conserver la condition de reprise</a:t>
            </a:r>
          </a:p>
        </p:txBody>
      </p:sp>
      <p:sp>
        <p:nvSpPr>
          <p:cNvPr id="3" name="item-1">
            <a:extLst xmlns:a="http://schemas.openxmlformats.org/drawingml/2006/main">
              <a:ext uri="{FF2B5EF4-FFF2-40B4-BE49-F238E27FC236}">
                <a16:creationId xmlns:a16="http://schemas.microsoft.com/office/drawing/2014/main" id="{35CFBBAD-A543-41F0-A766-30578C71B691}"/>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Décrire la cause réelle du blocage</a:t>
            </a:r>
          </a:p>
        </p:txBody>
      </p:sp>
      <p:sp>
        <p:nvSpPr>
          <p:cNvPr id="4" name="item-2">
            <a:extLst xmlns:a="http://schemas.openxmlformats.org/drawingml/2006/main">
              <a:ext uri="{FF2B5EF4-FFF2-40B4-BE49-F238E27FC236}">
                <a16:creationId xmlns:a16="http://schemas.microsoft.com/office/drawing/2014/main" id="{4AEF48D7-A69E-44A2-ADB8-D5EC2F9BB17E}"/>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Indiquer la condition de levée</a:t>
            </a:r>
          </a:p>
        </p:txBody>
      </p:sp>
      <p:sp>
        <p:nvSpPr>
          <p:cNvPr id="5" name="item-3">
            <a:extLst xmlns:a="http://schemas.openxmlformats.org/drawingml/2006/main">
              <a:ext uri="{FF2B5EF4-FFF2-40B4-BE49-F238E27FC236}">
                <a16:creationId xmlns:a16="http://schemas.microsoft.com/office/drawing/2014/main" id="{01E3A120-DB3E-4C8A-92F1-BD4133A33B7C}"/>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Conserver la prochaine action et les décisions attendues</a:t>
            </a:r>
          </a:p>
        </p:txBody>
      </p:sp>
      <p:sp>
        <p:nvSpPr>
          <p:cNvPr id="6" name="item-4">
            <a:extLst xmlns:a="http://schemas.openxmlformats.org/drawingml/2006/main">
              <a:ext uri="{FF2B5EF4-FFF2-40B4-BE49-F238E27FC236}">
                <a16:creationId xmlns:a16="http://schemas.microsoft.com/office/drawing/2014/main" id="{AC7A6835-D450-472F-B341-FC624A1E6ECB}"/>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Aucun autre lot du même projet ne démarre</a:t>
            </a:r>
          </a:p>
        </p:txBody>
      </p:sp>
      <p:sp>
        <p:nvSpPr>
          <p:cNvPr id="7" name="slide-number">
            <a:extLst xmlns:a="http://schemas.openxmlformats.org/drawingml/2006/main">
              <a:ext uri="{FF2B5EF4-FFF2-40B4-BE49-F238E27FC236}">
                <a16:creationId xmlns:a16="http://schemas.microsoft.com/office/drawing/2014/main" id="{CB63971C-B58A-4AD5-95F0-A6798E112EE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52</a:t>
            </a:r>
          </a:p>
        </p:txBody>
      </p:sp>
    </p:spTree>
    <p:extLst>
      <p:ext uri="{BB962C8B-B14F-4D97-AF65-F5344CB8AC3E}">
        <p14:creationId xmlns:p14="http://schemas.microsoft.com/office/powerpoint/2010/main" val="177160418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858F8760-4C40-4AAE-8923-1380F2E8D69B}"/>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09  SITUATIONS PARTICULIÈRES</a:t>
            </a:r>
          </a:p>
        </p:txBody>
      </p:sp>
      <p:sp>
        <p:nvSpPr>
          <p:cNvPr id="2" name="title">
            <a:extLst xmlns:a="http://schemas.openxmlformats.org/drawingml/2006/main">
              <a:ext uri="{FF2B5EF4-FFF2-40B4-BE49-F238E27FC236}">
                <a16:creationId xmlns:a16="http://schemas.microsoft.com/office/drawing/2014/main" id="{A6D033E6-5AE6-43C3-A5C3-73E9A2CEDDB5}"/>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Sous-lot • suspendre puis reprendre le parent</a:t>
            </a:r>
          </a:p>
        </p:txBody>
      </p:sp>
      <p:sp>
        <p:nvSpPr>
          <p:cNvPr id="3" name="item-1">
            <a:extLst xmlns:a="http://schemas.openxmlformats.org/drawingml/2006/main">
              <a:ext uri="{FF2B5EF4-FFF2-40B4-BE49-F238E27FC236}">
                <a16:creationId xmlns:a16="http://schemas.microsoft.com/office/drawing/2014/main" id="{DAC66159-5B36-49F1-8C8D-DA84220EF5C8}"/>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Parent In-progress → Stand-by</a:t>
            </a:r>
          </a:p>
        </p:txBody>
      </p:sp>
      <p:sp>
        <p:nvSpPr>
          <p:cNvPr id="4" name="item-2">
            <a:extLst xmlns:a="http://schemas.openxmlformats.org/drawingml/2006/main">
              <a:ext uri="{FF2B5EF4-FFF2-40B4-BE49-F238E27FC236}">
                <a16:creationId xmlns:a16="http://schemas.microsoft.com/office/drawing/2014/main" id="{24E14022-C1ED-43CF-83AC-B00B438EBEDC}"/>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Sous-lot seul In-progress</a:t>
            </a:r>
          </a:p>
        </p:txBody>
      </p:sp>
      <p:sp>
        <p:nvSpPr>
          <p:cNvPr id="5" name="item-3">
            <a:extLst xmlns:a="http://schemas.openxmlformats.org/drawingml/2006/main">
              <a:ext uri="{FF2B5EF4-FFF2-40B4-BE49-F238E27FC236}">
                <a16:creationId xmlns:a16="http://schemas.microsoft.com/office/drawing/2014/main" id="{ED8BF289-0FB0-4802-A485-89A698856254}"/>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Sous-lot Closed, Cancelled ou Obsolete</a:t>
            </a:r>
          </a:p>
        </p:txBody>
      </p:sp>
      <p:sp>
        <p:nvSpPr>
          <p:cNvPr id="6" name="item-4">
            <a:extLst xmlns:a="http://schemas.openxmlformats.org/drawingml/2006/main">
              <a:ext uri="{FF2B5EF4-FFF2-40B4-BE49-F238E27FC236}">
                <a16:creationId xmlns:a16="http://schemas.microsoft.com/office/drawing/2014/main" id="{3C770B7C-D5A2-4C72-B049-E9F0CAE5BC82}"/>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Retour humain du parent après examen de l’impact</a:t>
            </a:r>
          </a:p>
        </p:txBody>
      </p:sp>
      <p:sp>
        <p:nvSpPr>
          <p:cNvPr id="7" name="slide-number">
            <a:extLst xmlns:a="http://schemas.openxmlformats.org/drawingml/2006/main">
              <a:ext uri="{FF2B5EF4-FFF2-40B4-BE49-F238E27FC236}">
                <a16:creationId xmlns:a16="http://schemas.microsoft.com/office/drawing/2014/main" id="{A364B44A-04EB-48A2-8A9C-137F190CE2D9}"/>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53</a:t>
            </a:r>
          </a:p>
        </p:txBody>
      </p:sp>
    </p:spTree>
    <p:extLst>
      <p:ext uri="{BB962C8B-B14F-4D97-AF65-F5344CB8AC3E}">
        <p14:creationId xmlns:p14="http://schemas.microsoft.com/office/powerpoint/2010/main" val="88519632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9A05E82F-A886-42DB-B5B4-66741C7AA41A}"/>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09  SITUATIONS PARTICULIÈRES</a:t>
            </a:r>
          </a:p>
        </p:txBody>
      </p:sp>
      <p:sp>
        <p:nvSpPr>
          <p:cNvPr id="2" name="title">
            <a:extLst xmlns:a="http://schemas.openxmlformats.org/drawingml/2006/main">
              <a:ext uri="{FF2B5EF4-FFF2-40B4-BE49-F238E27FC236}">
                <a16:creationId xmlns:a16="http://schemas.microsoft.com/office/drawing/2014/main" id="{C901A8EF-59DC-497F-838B-101ACB01AAF8}"/>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Cancelled, Obsolete et Abandoned</a:t>
            </a:r>
          </a:p>
        </p:txBody>
      </p:sp>
      <p:graphicFrame>
        <p:nvGraphicFramePr>
          <p:cNvPr id="7" name=""/>
          <p:cNvGraphicFramePr/>
          <p:nvPr/>
        </p:nvGraphicFramePr>
        <p:xfrm>
          <a:off xmlns:a="http://schemas.openxmlformats.org/drawingml/2006/main" x="685800" y="1962150"/>
          <a:ext xmlns:a="http://schemas.openxmlformats.org/drawingml/2006/main" cx="10820400" cy="3276600"/>
        </p:xfrm>
        <a:graphic xmlns:a="http://schemas.openxmlformats.org/drawingml/2006/main">
          <a:graphicData uri="http://schemas.openxmlformats.org/drawingml/2006/table">
            <a:tbl>
              <a:tblPr firstRow="1" bandRow="0"/>
              <a:tblGrid>
                <a:gridCol w="3524250"/>
                <a:gridCol w="7296150"/>
              </a:tblGrid>
              <a:tr h="819150">
                <a:tc>
                  <a:txBody>
                    <a:bodyPr lIns="171450" tIns="76200" rIns="152400" bIns="76200">
                      <a:noAutofit/>
                    </a:bodyPr>
                    <a:lstStyle/>
                    <a:p>
                      <a:r>
                        <a:rPr sz="1875" b="1">
                          <a:solidFill>
                            <a:srgbClr val="FFFFFF"/>
                          </a:solidFill>
                          <a:latin typeface="Arial"/>
                          <a:ea typeface="Arial"/>
                          <a:cs typeface="Arial"/>
                        </a:rPr>
                        <a:t>État</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Situation</a:t>
                      </a:r>
                    </a:p>
                  </a:txBody>
                  <a:tcPr marL="91440" marR="91440" marT="45720" marB="45720" anchor="ctr">
                    <a:solidFill>
                      <a:srgbClr val="0D1B29"/>
                    </a:solidFill>
                  </a:tcPr>
                </a:tc>
              </a:tr>
              <a:tr h="819150">
                <a:tc>
                  <a:txBody>
                    <a:bodyPr lIns="171450" tIns="76200" rIns="152400" bIns="76200">
                      <a:noAutofit/>
                    </a:bodyPr>
                    <a:lstStyle/>
                    <a:p>
                      <a:r>
                        <a:rPr sz="2025" b="1">
                          <a:solidFill>
                            <a:srgbClr val="183044"/>
                          </a:solidFill>
                          <a:latin typeface="Arial"/>
                          <a:ea typeface="Arial"/>
                          <a:cs typeface="Arial"/>
                        </a:rPr>
                        <a:t>Cancelled</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Arrêt avant fermeture, sans remplacement</a:t>
                      </a:r>
                    </a:p>
                  </a:txBody>
                  <a:tcPr marL="91440" marR="91440" marT="45720" marB="45720" anchor="ctr">
                    <a:solidFill>
                      <a:srgbClr val="FFFFFF"/>
                    </a:solidFill>
                  </a:tcPr>
                </a:tc>
              </a:tr>
              <a:tr h="819150">
                <a:tc>
                  <a:txBody>
                    <a:bodyPr lIns="171450" tIns="76200" rIns="152400" bIns="76200">
                      <a:noAutofit/>
                    </a:bodyPr>
                    <a:lstStyle/>
                    <a:p>
                      <a:r>
                        <a:rPr sz="2025" b="1">
                          <a:solidFill>
                            <a:srgbClr val="183044"/>
                          </a:solidFill>
                          <a:latin typeface="Arial"/>
                          <a:ea typeface="Arial"/>
                          <a:cs typeface="Arial"/>
                        </a:rPr>
                        <a:t>Obsolete</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Remplacement identifié, avant ou après fermeture</a:t>
                      </a:r>
                    </a:p>
                  </a:txBody>
                  <a:tcPr marL="91440" marR="91440" marT="45720" marB="45720" anchor="ctr">
                    <a:solidFill>
                      <a:srgbClr val="F2F6F8"/>
                    </a:solidFill>
                  </a:tcPr>
                </a:tc>
              </a:tr>
              <a:tr h="819150">
                <a:tc>
                  <a:txBody>
                    <a:bodyPr lIns="171450" tIns="76200" rIns="152400" bIns="76200">
                      <a:noAutofit/>
                    </a:bodyPr>
                    <a:lstStyle/>
                    <a:p>
                      <a:r>
                        <a:rPr sz="2025" b="1">
                          <a:solidFill>
                            <a:srgbClr val="183044"/>
                          </a:solidFill>
                          <a:latin typeface="Arial"/>
                          <a:ea typeface="Arial"/>
                          <a:cs typeface="Arial"/>
                        </a:rPr>
                        <a:t>Abandoned</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Résultat déjà fermé, ensuite non retenu sans remplacement</a:t>
                      </a:r>
                    </a:p>
                  </a:txBody>
                  <a:tcPr marL="91440" marR="91440" marT="45720" marB="45720" anchor="ctr">
                    <a:solidFill>
                      <a:srgbClr val="FFFFFF"/>
                    </a:solidFill>
                  </a:tcPr>
                </a:tc>
              </a:tr>
            </a:tbl>
          </a:graphicData>
        </a:graphic>
      </p:graphicFrame>
      <p:sp>
        <p:nvSpPr>
          <p:cNvPr id="4" name="slide-number">
            <a:extLst xmlns:a="http://schemas.openxmlformats.org/drawingml/2006/main">
              <a:ext uri="{FF2B5EF4-FFF2-40B4-BE49-F238E27FC236}">
                <a16:creationId xmlns:a16="http://schemas.microsoft.com/office/drawing/2014/main" id="{3835E6A9-54BB-4561-969F-6598DFA965CF}"/>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54</a:t>
            </a:r>
          </a:p>
        </p:txBody>
      </p:sp>
    </p:spTree>
    <p:extLst>
      <p:ext uri="{BB962C8B-B14F-4D97-AF65-F5344CB8AC3E}">
        <p14:creationId xmlns:p14="http://schemas.microsoft.com/office/powerpoint/2010/main" val="580656895"/>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7EA3BD18-D4C5-41EA-8F98-CFAB10CAC543}"/>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09  SITUATIONS PARTICULIÈRES</a:t>
            </a:r>
          </a:p>
        </p:txBody>
      </p:sp>
      <p:sp>
        <p:nvSpPr>
          <p:cNvPr id="2" name="title">
            <a:extLst xmlns:a="http://schemas.openxmlformats.org/drawingml/2006/main">
              <a:ext uri="{FF2B5EF4-FFF2-40B4-BE49-F238E27FC236}">
                <a16:creationId xmlns:a16="http://schemas.microsoft.com/office/drawing/2014/main" id="{CC9E54AD-FB15-493F-887F-119E4C83945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Reprendre un lot fermé avec modification</a:t>
            </a:r>
          </a:p>
        </p:txBody>
      </p:sp>
      <p:sp>
        <p:nvSpPr>
          <p:cNvPr id="3" name="item-1">
            <a:extLst xmlns:a="http://schemas.openxmlformats.org/drawingml/2006/main">
              <a:ext uri="{FF2B5EF4-FFF2-40B4-BE49-F238E27FC236}">
                <a16:creationId xmlns:a16="http://schemas.microsoft.com/office/drawing/2014/main" id="{78D1E719-E4E1-44B3-B6D5-794F2172DEBD}"/>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Décision humaine au LEDGER</a:t>
            </a:r>
          </a:p>
        </p:txBody>
      </p:sp>
      <p:sp>
        <p:nvSpPr>
          <p:cNvPr id="4" name="item-2">
            <a:extLst xmlns:a="http://schemas.openxmlformats.org/drawingml/2006/main">
              <a:ext uri="{FF2B5EF4-FFF2-40B4-BE49-F238E27FC236}">
                <a16:creationId xmlns:a16="http://schemas.microsoft.com/office/drawing/2014/main" id="{B5E895D9-58D5-4F4A-870A-03C1C511948D}"/>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Ancienne convergence dans Historical convergences</a:t>
            </a:r>
          </a:p>
        </p:txBody>
      </p:sp>
      <p:sp>
        <p:nvSpPr>
          <p:cNvPr id="5" name="item-3">
            <a:extLst xmlns:a="http://schemas.openxmlformats.org/drawingml/2006/main">
              <a:ext uri="{FF2B5EF4-FFF2-40B4-BE49-F238E27FC236}">
                <a16:creationId xmlns:a16="http://schemas.microsoft.com/office/drawing/2014/main" id="{3AC37D63-AA75-4B29-BA38-4AE4B940E627}"/>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Évaluations conservées, gates applicables à TO TEST</a:t>
            </a:r>
          </a:p>
        </p:txBody>
      </p:sp>
      <p:sp>
        <p:nvSpPr>
          <p:cNvPr id="6" name="item-4">
            <a:extLst xmlns:a="http://schemas.openxmlformats.org/drawingml/2006/main">
              <a:ext uri="{FF2B5EF4-FFF2-40B4-BE49-F238E27FC236}">
                <a16:creationId xmlns:a16="http://schemas.microsoft.com/office/drawing/2014/main" id="{38EA4A07-C9F9-467C-9F82-B21ED98E454E}"/>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In-progress avant modification, puis nouvelle fermeture</a:t>
            </a:r>
          </a:p>
        </p:txBody>
      </p:sp>
      <p:sp>
        <p:nvSpPr>
          <p:cNvPr id="7" name="slide-number">
            <a:extLst xmlns:a="http://schemas.openxmlformats.org/drawingml/2006/main">
              <a:ext uri="{FF2B5EF4-FFF2-40B4-BE49-F238E27FC236}">
                <a16:creationId xmlns:a16="http://schemas.microsoft.com/office/drawing/2014/main" id="{9C469649-0A57-4BCA-BE46-BBCDAD61B1D8}"/>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55</a:t>
            </a:r>
          </a:p>
        </p:txBody>
      </p:sp>
    </p:spTree>
    <p:extLst>
      <p:ext uri="{BB962C8B-B14F-4D97-AF65-F5344CB8AC3E}">
        <p14:creationId xmlns:p14="http://schemas.microsoft.com/office/powerpoint/2010/main" val="132502443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570B81C1-88DB-4E0F-A7BF-4CEE834C8AF6}"/>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09  SITUATIONS PARTICULIÈRES</a:t>
            </a:r>
          </a:p>
        </p:txBody>
      </p:sp>
      <p:sp>
        <p:nvSpPr>
          <p:cNvPr id="2" name="title">
            <a:extLst xmlns:a="http://schemas.openxmlformats.org/drawingml/2006/main">
              <a:ext uri="{FF2B5EF4-FFF2-40B4-BE49-F238E27FC236}">
                <a16:creationId xmlns:a16="http://schemas.microsoft.com/office/drawing/2014/main" id="{A2D530E6-EA54-4DD5-8B01-E7CC592823A8}"/>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Réconcilier une opération interrompue</a:t>
            </a:r>
          </a:p>
        </p:txBody>
      </p:sp>
      <p:sp>
        <p:nvSpPr>
          <p:cNvPr id="3" name="item-1">
            <a:extLst xmlns:a="http://schemas.openxmlformats.org/drawingml/2006/main">
              <a:ext uri="{FF2B5EF4-FFF2-40B4-BE49-F238E27FC236}">
                <a16:creationId xmlns:a16="http://schemas.microsoft.com/office/drawing/2014/main" id="{7503DA62-17D8-4FF7-84E5-8737C672F109}"/>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Lire la décision et comparer les écritures</a:t>
            </a:r>
          </a:p>
        </p:txBody>
      </p:sp>
      <p:sp>
        <p:nvSpPr>
          <p:cNvPr id="4" name="item-2">
            <a:extLst xmlns:a="http://schemas.openxmlformats.org/drawingml/2006/main">
              <a:ext uri="{FF2B5EF4-FFF2-40B4-BE49-F238E27FC236}">
                <a16:creationId xmlns:a16="http://schemas.microsoft.com/office/drawing/2014/main" id="{B1946F90-240B-4AE1-BBA2-D19D4931ED3D}"/>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Préserver les traces et repérer ce qui manque</a:t>
            </a:r>
          </a:p>
        </p:txBody>
      </p:sp>
      <p:sp>
        <p:nvSpPr>
          <p:cNvPr id="5" name="item-3">
            <a:extLst xmlns:a="http://schemas.openxmlformats.org/drawingml/2006/main">
              <a:ext uri="{FF2B5EF4-FFF2-40B4-BE49-F238E27FC236}">
                <a16:creationId xmlns:a16="http://schemas.microsoft.com/office/drawing/2014/main" id="{B8C0A91A-1C6F-429E-AC62-83FD5B56B94B}"/>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Achever une décision déjà claire sans redemander son acceptation</a:t>
            </a:r>
          </a:p>
        </p:txBody>
      </p:sp>
      <p:sp>
        <p:nvSpPr>
          <p:cNvPr id="6" name="item-4">
            <a:extLst xmlns:a="http://schemas.openxmlformats.org/drawingml/2006/main">
              <a:ext uri="{FF2B5EF4-FFF2-40B4-BE49-F238E27FC236}">
                <a16:creationId xmlns:a16="http://schemas.microsoft.com/office/drawing/2014/main" id="{9ABEB7FB-CCE6-4EC6-8D23-DE3915A8E214}"/>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Demander une clarification si la décision reste ambiguë</a:t>
            </a:r>
          </a:p>
        </p:txBody>
      </p:sp>
      <p:sp>
        <p:nvSpPr>
          <p:cNvPr id="7" name="slide-number">
            <a:extLst xmlns:a="http://schemas.openxmlformats.org/drawingml/2006/main">
              <a:ext uri="{FF2B5EF4-FFF2-40B4-BE49-F238E27FC236}">
                <a16:creationId xmlns:a16="http://schemas.microsoft.com/office/drawing/2014/main" id="{0E63ED49-11FB-4AD7-9142-40FFAF797C37}"/>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56</a:t>
            </a:r>
          </a:p>
        </p:txBody>
      </p:sp>
    </p:spTree>
    <p:extLst>
      <p:ext uri="{BB962C8B-B14F-4D97-AF65-F5344CB8AC3E}">
        <p14:creationId xmlns:p14="http://schemas.microsoft.com/office/powerpoint/2010/main" val="69627661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B60B31CA-7599-41F5-823D-103D816BF461}"/>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09  SITUATIONS PARTICULIÈRES</a:t>
            </a:r>
          </a:p>
        </p:txBody>
      </p:sp>
      <p:sp>
        <p:nvSpPr>
          <p:cNvPr id="2" name="title">
            <a:extLst xmlns:a="http://schemas.openxmlformats.org/drawingml/2006/main">
              <a:ext uri="{FF2B5EF4-FFF2-40B4-BE49-F238E27FC236}">
                <a16:creationId xmlns:a16="http://schemas.microsoft.com/office/drawing/2014/main" id="{7BE397F5-091D-4680-A595-7C29138376E9}"/>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Une Application peut regrouper des projets</a:t>
            </a:r>
          </a:p>
        </p:txBody>
      </p:sp>
      <p:sp>
        <p:nvSpPr>
          <p:cNvPr id="3" name="item-1">
            <a:extLst xmlns:a="http://schemas.openxmlformats.org/drawingml/2006/main">
              <a:ext uri="{FF2B5EF4-FFF2-40B4-BE49-F238E27FC236}">
                <a16:creationId xmlns:a16="http://schemas.microsoft.com/office/drawing/2014/main" id="{1DAB061A-7DD6-421A-B2A6-36A47FB4F68A}"/>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APPLICATION et PROJECTS décrivent l’ensemble</a:t>
            </a:r>
          </a:p>
        </p:txBody>
      </p:sp>
      <p:sp>
        <p:nvSpPr>
          <p:cNvPr id="4" name="item-2">
            <a:extLst xmlns:a="http://schemas.openxmlformats.org/drawingml/2006/main">
              <a:ext uri="{FF2B5EF4-FFF2-40B4-BE49-F238E27FC236}">
                <a16:creationId xmlns:a16="http://schemas.microsoft.com/office/drawing/2014/main" id="{FDECAE98-8FDA-4BFA-A87C-AAE6F8A858D0}"/>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Chaque projet conserve ses artefacts et son créneau</a:t>
            </a:r>
          </a:p>
        </p:txBody>
      </p:sp>
      <p:sp>
        <p:nvSpPr>
          <p:cNvPr id="5" name="item-3">
            <a:extLst xmlns:a="http://schemas.openxmlformats.org/drawingml/2006/main">
              <a:ext uri="{FF2B5EF4-FFF2-40B4-BE49-F238E27FC236}">
                <a16:creationId xmlns:a16="http://schemas.microsoft.com/office/drawing/2014/main" id="{C4DA3778-7EB7-4647-BBE0-16A86241A895}"/>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 STATUS global est une vue de coordination</a:t>
            </a:r>
          </a:p>
        </p:txBody>
      </p:sp>
      <p:sp>
        <p:nvSpPr>
          <p:cNvPr id="6" name="item-4">
            <a:extLst xmlns:a="http://schemas.openxmlformats.org/drawingml/2006/main">
              <a:ext uri="{FF2B5EF4-FFF2-40B4-BE49-F238E27FC236}">
                <a16:creationId xmlns:a16="http://schemas.microsoft.com/office/drawing/2014/main" id="{4D771856-DFCC-46BC-B030-350C18A9657D}"/>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L’intégration transversale appartient à un projet dédié</a:t>
            </a:r>
          </a:p>
        </p:txBody>
      </p:sp>
      <p:sp>
        <p:nvSpPr>
          <p:cNvPr id="7" name="slide-number">
            <a:extLst xmlns:a="http://schemas.openxmlformats.org/drawingml/2006/main">
              <a:ext uri="{FF2B5EF4-FFF2-40B4-BE49-F238E27FC236}">
                <a16:creationId xmlns:a16="http://schemas.microsoft.com/office/drawing/2014/main" id="{B2F124FB-380D-4862-A103-2A222D3342B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57</a:t>
            </a:r>
          </a:p>
        </p:txBody>
      </p:sp>
    </p:spTree>
    <p:extLst>
      <p:ext uri="{BB962C8B-B14F-4D97-AF65-F5344CB8AC3E}">
        <p14:creationId xmlns:p14="http://schemas.microsoft.com/office/powerpoint/2010/main" val="58208397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664B9457-AF1B-4D82-A750-122B3D472307}"/>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09  SITUATIONS PARTICULIÈRES</a:t>
            </a:r>
          </a:p>
        </p:txBody>
      </p:sp>
      <p:sp>
        <p:nvSpPr>
          <p:cNvPr id="2" name="title">
            <a:extLst xmlns:a="http://schemas.openxmlformats.org/drawingml/2006/main">
              <a:ext uri="{FF2B5EF4-FFF2-40B4-BE49-F238E27FC236}">
                <a16:creationId xmlns:a16="http://schemas.microsoft.com/office/drawing/2014/main" id="{8D5FACDA-9C55-41BC-85BC-04131F6F8ABB}"/>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 parallélisme exige un contrat explicite</a:t>
            </a:r>
          </a:p>
        </p:txBody>
      </p:sp>
      <p:sp>
        <p:nvSpPr>
          <p:cNvPr id="3" name="item-1">
            <a:extLst xmlns:a="http://schemas.openxmlformats.org/drawingml/2006/main">
              <a:ext uri="{FF2B5EF4-FFF2-40B4-BE49-F238E27FC236}">
                <a16:creationId xmlns:a16="http://schemas.microsoft.com/office/drawing/2014/main" id="{5AE77433-928F-432F-A4EB-DE3F6ABA7147}"/>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Décision architecturale avant les travaux parallèles</a:t>
            </a:r>
          </a:p>
        </p:txBody>
      </p:sp>
      <p:sp>
        <p:nvSpPr>
          <p:cNvPr id="4" name="item-2">
            <a:extLst xmlns:a="http://schemas.openxmlformats.org/drawingml/2006/main">
              <a:ext uri="{FF2B5EF4-FFF2-40B4-BE49-F238E27FC236}">
                <a16:creationId xmlns:a16="http://schemas.microsoft.com/office/drawing/2014/main" id="{98705037-99E3-4E58-AD9D-3FDB198E6E76}"/>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Périmètres, interfaces et dépendances</a:t>
            </a:r>
          </a:p>
        </p:txBody>
      </p:sp>
      <p:sp>
        <p:nvSpPr>
          <p:cNvPr id="5" name="item-3">
            <a:extLst xmlns:a="http://schemas.openxmlformats.org/drawingml/2006/main">
              <a:ext uri="{FF2B5EF4-FFF2-40B4-BE49-F238E27FC236}">
                <a16:creationId xmlns:a16="http://schemas.microsoft.com/office/drawing/2014/main" id="{832BF322-AC9A-4EBE-9D73-5ACF2394D29B}"/>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Zones partagées et propriétaires</a:t>
            </a:r>
          </a:p>
        </p:txBody>
      </p:sp>
      <p:sp>
        <p:nvSpPr>
          <p:cNvPr id="6" name="item-4">
            <a:extLst xmlns:a="http://schemas.openxmlformats.org/drawingml/2006/main">
              <a:ext uri="{FF2B5EF4-FFF2-40B4-BE49-F238E27FC236}">
                <a16:creationId xmlns:a16="http://schemas.microsoft.com/office/drawing/2014/main" id="{D3FDF644-ACAF-4610-BA82-C87C79CD870E}"/>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Coordination des écritures et résolution des conflits</a:t>
            </a:r>
          </a:p>
        </p:txBody>
      </p:sp>
      <p:sp>
        <p:nvSpPr>
          <p:cNvPr id="7" name="slide-number">
            <a:extLst xmlns:a="http://schemas.openxmlformats.org/drawingml/2006/main">
              <a:ext uri="{FF2B5EF4-FFF2-40B4-BE49-F238E27FC236}">
                <a16:creationId xmlns:a16="http://schemas.microsoft.com/office/drawing/2014/main" id="{6DE10415-5049-44A2-B890-62979AB97FBB}"/>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58</a:t>
            </a:r>
          </a:p>
        </p:txBody>
      </p:sp>
    </p:spTree>
    <p:extLst>
      <p:ext uri="{BB962C8B-B14F-4D97-AF65-F5344CB8AC3E}">
        <p14:creationId xmlns:p14="http://schemas.microsoft.com/office/powerpoint/2010/main" val="187848724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D69A22E1-97FC-4515-8173-940252BB6F5B}"/>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10  APPLICATION EN AUTONOMIE</a:t>
            </a:r>
          </a:p>
        </p:txBody>
      </p:sp>
      <p:sp>
        <p:nvSpPr>
          <p:cNvPr id="2" name="title">
            <a:extLst xmlns:a="http://schemas.openxmlformats.org/drawingml/2006/main">
              <a:ext uri="{FF2B5EF4-FFF2-40B4-BE49-F238E27FC236}">
                <a16:creationId xmlns:a16="http://schemas.microsoft.com/office/drawing/2014/main" id="{5AD3D910-E24E-4458-A092-1A2E5B9F633B}"/>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 cycle complet en deux prompts</a:t>
            </a:r>
          </a:p>
        </p:txBody>
      </p:sp>
      <p:sp>
        <p:nvSpPr>
          <p:cNvPr id="3" name="item-1">
            <a:extLst xmlns:a="http://schemas.openxmlformats.org/drawingml/2006/main">
              <a:ext uri="{FF2B5EF4-FFF2-40B4-BE49-F238E27FC236}">
                <a16:creationId xmlns:a16="http://schemas.microsoft.com/office/drawing/2014/main" id="{9D1BC63A-A556-4A71-A03D-A8591848BBF4}"/>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Lis le README et exécute le prochain lot.</a:t>
            </a:r>
          </a:p>
        </p:txBody>
      </p:sp>
      <p:sp>
        <p:nvSpPr>
          <p:cNvPr id="4" name="item-2">
            <a:extLst xmlns:a="http://schemas.openxmlformats.org/drawingml/2006/main">
              <a:ext uri="{FF2B5EF4-FFF2-40B4-BE49-F238E27FC236}">
                <a16:creationId xmlns:a16="http://schemas.microsoft.com/office/drawing/2014/main" id="{11A5BF80-0EB5-4A13-8131-50331CFD267D}"/>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Dialogues de validation et arbitrages si nécessaires</a:t>
            </a:r>
          </a:p>
        </p:txBody>
      </p:sp>
      <p:sp>
        <p:nvSpPr>
          <p:cNvPr id="5" name="item-3">
            <a:extLst xmlns:a="http://schemas.openxmlformats.org/drawingml/2006/main">
              <a:ext uri="{FF2B5EF4-FFF2-40B4-BE49-F238E27FC236}">
                <a16:creationId xmlns:a16="http://schemas.microsoft.com/office/drawing/2014/main" id="{77B15A69-73F8-44FE-A168-D65CDE675C49}"/>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Ferme le lot en cours.</a:t>
            </a:r>
          </a:p>
        </p:txBody>
      </p:sp>
      <p:sp>
        <p:nvSpPr>
          <p:cNvPr id="6" name="item-4">
            <a:extLst xmlns:a="http://schemas.openxmlformats.org/drawingml/2006/main">
              <a:ext uri="{FF2B5EF4-FFF2-40B4-BE49-F238E27FC236}">
                <a16:creationId xmlns:a16="http://schemas.microsoft.com/office/drawing/2014/main" id="{D546271C-8F73-48E2-B764-9169484DD996}"/>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 prochain lot s’appuie sur le résultat accepté</a:t>
            </a:r>
          </a:p>
        </p:txBody>
      </p:sp>
      <p:sp>
        <p:nvSpPr>
          <p:cNvPr id="7" name="slide-number">
            <a:extLst xmlns:a="http://schemas.openxmlformats.org/drawingml/2006/main">
              <a:ext uri="{FF2B5EF4-FFF2-40B4-BE49-F238E27FC236}">
                <a16:creationId xmlns:a16="http://schemas.microsoft.com/office/drawing/2014/main" id="{D7FBBBB8-AF97-4462-A2D1-1307ACF25380}"/>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59</a:t>
            </a:r>
          </a:p>
        </p:txBody>
      </p:sp>
    </p:spTree>
    <p:extLst>
      <p:ext uri="{BB962C8B-B14F-4D97-AF65-F5344CB8AC3E}">
        <p14:creationId xmlns:p14="http://schemas.microsoft.com/office/powerpoint/2010/main" val="115170536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dule">
            <a:extLst xmlns:a="http://schemas.openxmlformats.org/drawingml/2006/main">
              <a:ext uri="{FF2B5EF4-FFF2-40B4-BE49-F238E27FC236}">
                <a16:creationId xmlns:a16="http://schemas.microsoft.com/office/drawing/2014/main" id="{472AF714-DD20-4935-87D6-A482B6674C5A}"/>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10  APPLICATION EN AUTONOMIE</a:t>
            </a:r>
          </a:p>
        </p:txBody>
      </p:sp>
      <p:sp>
        <p:nvSpPr>
          <p:cNvPr id="2" name="title">
            <a:extLst xmlns:a="http://schemas.openxmlformats.org/drawingml/2006/main">
              <a:ext uri="{FF2B5EF4-FFF2-40B4-BE49-F238E27FC236}">
                <a16:creationId xmlns:a16="http://schemas.microsoft.com/office/drawing/2014/main" id="{DC5AD823-B429-4E66-8AFA-E7F7F431C29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Atelier 4 • peut-on fermer ce lot ?</a:t>
            </a:r>
          </a:p>
        </p:txBody>
      </p:sp>
      <p:sp>
        <p:nvSpPr>
          <p:cNvPr id="3" name="step-1">
            <a:extLst xmlns:a="http://schemas.openxmlformats.org/drawingml/2006/main">
              <a:ext uri="{FF2B5EF4-FFF2-40B4-BE49-F238E27FC236}">
                <a16:creationId xmlns:a16="http://schemas.microsoft.com/office/drawing/2014/main" id="{CEE2BB54-5EF7-4E02-A845-EE8E23AD73A4}"/>
              </a:ext>
            </a:extLst>
          </p:cNvPr>
          <p:cNvSpPr>
            <a:spLocks xmlns:a="http://schemas.openxmlformats.org/drawingml/2006/main" noGrp="1"/>
          </p:cNvSpPr>
          <p:nvPr/>
        </p:nvSpPr>
        <p:spPr>
          <a:xfrm xmlns:a="http://schemas.openxmlformats.org/drawingml/2006/main">
            <a:off x="685800" y="20764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01</a:t>
            </a:r>
          </a:p>
        </p:txBody>
      </p:sp>
      <p:sp>
        <p:nvSpPr>
          <p:cNvPr id="4" name="instruction-1">
            <a:extLst xmlns:a="http://schemas.openxmlformats.org/drawingml/2006/main">
              <a:ext uri="{FF2B5EF4-FFF2-40B4-BE49-F238E27FC236}">
                <a16:creationId xmlns:a16="http://schemas.microsoft.com/office/drawing/2014/main" id="{D324F4D8-1890-451D-B116-35707E357577}"/>
              </a:ext>
            </a:extLst>
          </p:cNvPr>
          <p:cNvSpPr>
            <a:spLocks xmlns:a="http://schemas.openxmlformats.org/drawingml/2006/main" noGrp="1"/>
          </p:cNvSpPr>
          <p:nvPr/>
        </p:nvSpPr>
        <p:spPr>
          <a:xfrm xmlns:a="http://schemas.openxmlformats.org/drawingml/2006/main">
            <a:off x="1666875" y="20764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AUTO PASS sur A ; candidat présenté : B</a:t>
            </a:r>
          </a:p>
        </p:txBody>
      </p:sp>
      <p:sp>
        <p:nvSpPr>
          <p:cNvPr id="5" name="step-2">
            <a:extLst xmlns:a="http://schemas.openxmlformats.org/drawingml/2006/main">
              <a:ext uri="{FF2B5EF4-FFF2-40B4-BE49-F238E27FC236}">
                <a16:creationId xmlns:a16="http://schemas.microsoft.com/office/drawing/2014/main" id="{3EA2BA15-7489-4CFC-A4D0-1833FBCF8990}"/>
              </a:ext>
            </a:extLst>
          </p:cNvPr>
          <p:cNvSpPr>
            <a:spLocks xmlns:a="http://schemas.openxmlformats.org/drawingml/2006/main" noGrp="1"/>
          </p:cNvSpPr>
          <p:nvPr/>
        </p:nvSpPr>
        <p:spPr>
          <a:xfrm xmlns:a="http://schemas.openxmlformats.org/drawingml/2006/main">
            <a:off x="685800" y="29718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02</a:t>
            </a:r>
          </a:p>
        </p:txBody>
      </p:sp>
      <p:sp>
        <p:nvSpPr>
          <p:cNvPr id="6" name="instruction-2">
            <a:extLst xmlns:a="http://schemas.openxmlformats.org/drawingml/2006/main">
              <a:ext uri="{FF2B5EF4-FFF2-40B4-BE49-F238E27FC236}">
                <a16:creationId xmlns:a16="http://schemas.microsoft.com/office/drawing/2014/main" id="{D3303A85-1AA0-494D-8368-3495F2747933}"/>
              </a:ext>
            </a:extLst>
          </p:cNvPr>
          <p:cNvSpPr>
            <a:spLocks xmlns:a="http://schemas.openxmlformats.org/drawingml/2006/main" noGrp="1"/>
          </p:cNvSpPr>
          <p:nvPr/>
        </p:nvSpPr>
        <p:spPr>
          <a:xfrm xmlns:a="http://schemas.openxmlformats.org/drawingml/2006/main">
            <a:off x="1666875" y="29718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HUMAN validée sans date ni résultat identifié</a:t>
            </a:r>
          </a:p>
        </p:txBody>
      </p:sp>
      <p:sp>
        <p:nvSpPr>
          <p:cNvPr id="7" name="step-3">
            <a:extLst xmlns:a="http://schemas.openxmlformats.org/drawingml/2006/main">
              <a:ext uri="{FF2B5EF4-FFF2-40B4-BE49-F238E27FC236}">
                <a16:creationId xmlns:a16="http://schemas.microsoft.com/office/drawing/2014/main" id="{68581DF2-B41C-4EB3-AA1C-1D56B76F62CE}"/>
              </a:ext>
            </a:extLst>
          </p:cNvPr>
          <p:cNvSpPr>
            <a:spLocks xmlns:a="http://schemas.openxmlformats.org/drawingml/2006/main" noGrp="1"/>
          </p:cNvSpPr>
          <p:nvPr/>
        </p:nvSpPr>
        <p:spPr>
          <a:xfrm xmlns:a="http://schemas.openxmlformats.org/drawingml/2006/main">
            <a:off x="685800" y="386715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03</a:t>
            </a:r>
          </a:p>
        </p:txBody>
      </p:sp>
      <p:sp>
        <p:nvSpPr>
          <p:cNvPr id="8" name="instruction-3">
            <a:extLst xmlns:a="http://schemas.openxmlformats.org/drawingml/2006/main">
              <a:ext uri="{FF2B5EF4-FFF2-40B4-BE49-F238E27FC236}">
                <a16:creationId xmlns:a16="http://schemas.microsoft.com/office/drawing/2014/main" id="{26B98638-6EE4-4926-91E7-5322004C4118}"/>
              </a:ext>
            </a:extLst>
          </p:cNvPr>
          <p:cNvSpPr>
            <a:spLocks xmlns:a="http://schemas.openxmlformats.org/drawingml/2006/main" noGrp="1"/>
          </p:cNvSpPr>
          <p:nvPr/>
        </p:nvSpPr>
        <p:spPr>
          <a:xfrm xmlns:a="http://schemas.openxmlformats.org/drawingml/2006/main">
            <a:off x="1666875" y="386715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Finding OPEN et « on verra plus tard »</a:t>
            </a:r>
          </a:p>
        </p:txBody>
      </p:sp>
      <p:sp>
        <p:nvSpPr>
          <p:cNvPr id="9" name="step-4">
            <a:extLst xmlns:a="http://schemas.openxmlformats.org/drawingml/2006/main">
              <a:ext uri="{FF2B5EF4-FFF2-40B4-BE49-F238E27FC236}">
                <a16:creationId xmlns:a16="http://schemas.microsoft.com/office/drawing/2014/main" id="{26528275-8D52-4BF0-A98B-64A9EA8ED5AE}"/>
              </a:ext>
            </a:extLst>
          </p:cNvPr>
          <p:cNvSpPr>
            <a:spLocks xmlns:a="http://schemas.openxmlformats.org/drawingml/2006/main" noGrp="1"/>
          </p:cNvSpPr>
          <p:nvPr/>
        </p:nvSpPr>
        <p:spPr>
          <a:xfrm xmlns:a="http://schemas.openxmlformats.org/drawingml/2006/main">
            <a:off x="685800" y="4762500"/>
            <a:ext cx="71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67E84"/>
                </a:solidFill>
                <a:latin typeface="Arial"/>
                <a:ea typeface="Arial"/>
                <a:cs typeface="Arial"/>
              </a:defRPr>
            </a:pPr>
            <a:r>
              <a:rPr sz="2775" b="1">
                <a:solidFill>
                  <a:srgbClr val="167E84"/>
                </a:solidFill>
                <a:latin typeface="Arial"/>
                <a:ea typeface="Arial"/>
                <a:cs typeface="Arial"/>
              </a:rPr>
              <a:t>04</a:t>
            </a:r>
          </a:p>
        </p:txBody>
      </p:sp>
      <p:sp>
        <p:nvSpPr>
          <p:cNvPr id="10" name="instruction-4">
            <a:extLst xmlns:a="http://schemas.openxmlformats.org/drawingml/2006/main">
              <a:ext uri="{FF2B5EF4-FFF2-40B4-BE49-F238E27FC236}">
                <a16:creationId xmlns:a16="http://schemas.microsoft.com/office/drawing/2014/main" id="{F902BBF7-037E-451C-A243-5E3773420874}"/>
              </a:ext>
            </a:extLst>
          </p:cNvPr>
          <p:cNvSpPr>
            <a:spLocks xmlns:a="http://schemas.openxmlformats.org/drawingml/2006/main" noGrp="1"/>
          </p:cNvSpPr>
          <p:nvPr/>
        </p:nvSpPr>
        <p:spPr>
          <a:xfrm xmlns:a="http://schemas.openxmlformats.org/drawingml/2006/main">
            <a:off x="1666875" y="4762500"/>
            <a:ext cx="962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83044"/>
                </a:solidFill>
                <a:latin typeface="Arial"/>
                <a:ea typeface="Arial"/>
                <a:cs typeface="Arial"/>
              </a:defRPr>
            </a:pPr>
            <a:r>
              <a:rPr sz="2550" b="0">
                <a:solidFill>
                  <a:srgbClr val="183044"/>
                </a:solidFill>
                <a:latin typeface="Arial"/>
                <a:ea typeface="Arial"/>
                <a:cs typeface="Arial"/>
              </a:rPr>
              <a:t>Une exigence active reste sans conclusion</a:t>
            </a:r>
          </a:p>
        </p:txBody>
      </p:sp>
      <p:sp>
        <p:nvSpPr>
          <p:cNvPr id="11" name="slide-number">
            <a:extLst xmlns:a="http://schemas.openxmlformats.org/drawingml/2006/main">
              <a:ext uri="{FF2B5EF4-FFF2-40B4-BE49-F238E27FC236}">
                <a16:creationId xmlns:a16="http://schemas.microsoft.com/office/drawing/2014/main" id="{534C7FDA-74DA-41C7-86E0-1F4FBE02339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60</a:t>
            </a:r>
          </a:p>
        </p:txBody>
      </p:sp>
    </p:spTree>
    <p:extLst>
      <p:ext uri="{BB962C8B-B14F-4D97-AF65-F5344CB8AC3E}">
        <p14:creationId xmlns:p14="http://schemas.microsoft.com/office/powerpoint/2010/main" val="32063396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70CF4BB6-AAB9-45EB-A174-EA0572213F85}"/>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10  APPLICATION EN AUTONOMIE</a:t>
            </a:r>
          </a:p>
        </p:txBody>
      </p:sp>
      <p:sp>
        <p:nvSpPr>
          <p:cNvPr id="2" name="title">
            <a:extLst xmlns:a="http://schemas.openxmlformats.org/drawingml/2006/main">
              <a:ext uri="{FF2B5EF4-FFF2-40B4-BE49-F238E27FC236}">
                <a16:creationId xmlns:a16="http://schemas.microsoft.com/office/drawing/2014/main" id="{D319EB7E-88F3-4CFB-9ED1-76C587F85E82}"/>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Correction • rétablir les conditions de fermeture</a:t>
            </a:r>
          </a:p>
        </p:txBody>
      </p:sp>
      <p:sp>
        <p:nvSpPr>
          <p:cNvPr id="3" name="item-1">
            <a:extLst xmlns:a="http://schemas.openxmlformats.org/drawingml/2006/main">
              <a:ext uri="{FF2B5EF4-FFF2-40B4-BE49-F238E27FC236}">
                <a16:creationId xmlns:a16="http://schemas.microsoft.com/office/drawing/2014/main" id="{00CD0E74-8F6A-418D-908B-746BF1E9910A}"/>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Conserver les preuves, puis évaluer B</a:t>
            </a:r>
          </a:p>
        </p:txBody>
      </p:sp>
      <p:sp>
        <p:nvSpPr>
          <p:cNvPr id="4" name="item-2">
            <a:extLst xmlns:a="http://schemas.openxmlformats.org/drawingml/2006/main">
              <a:ext uri="{FF2B5EF4-FFF2-40B4-BE49-F238E27FC236}">
                <a16:creationId xmlns:a16="http://schemas.microsoft.com/office/drawing/2014/main" id="{29CBAFEA-35D7-419E-846E-E3E2E4A9332A}"/>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Obtenir la validation humaine requise</a:t>
            </a:r>
          </a:p>
        </p:txBody>
      </p:sp>
      <p:sp>
        <p:nvSpPr>
          <p:cNvPr id="5" name="item-3">
            <a:extLst xmlns:a="http://schemas.openxmlformats.org/drawingml/2006/main">
              <a:ext uri="{FF2B5EF4-FFF2-40B4-BE49-F238E27FC236}">
                <a16:creationId xmlns:a16="http://schemas.microsoft.com/office/drawing/2014/main" id="{5BE6E441-58B7-451D-BB6B-BCD524B179C1}"/>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Traiter le finding et l’exigence active</a:t>
            </a:r>
          </a:p>
        </p:txBody>
      </p:sp>
      <p:sp>
        <p:nvSpPr>
          <p:cNvPr id="6" name="item-4">
            <a:extLst xmlns:a="http://schemas.openxmlformats.org/drawingml/2006/main">
              <a:ext uri="{FF2B5EF4-FFF2-40B4-BE49-F238E27FC236}">
                <a16:creationId xmlns:a16="http://schemas.microsoft.com/office/drawing/2014/main" id="{571E1068-6137-44AA-92B3-B2A23937C1DF}"/>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Présenter une convergence fondée sur les faits</a:t>
            </a:r>
          </a:p>
        </p:txBody>
      </p:sp>
      <p:sp>
        <p:nvSpPr>
          <p:cNvPr id="7" name="slide-number">
            <a:extLst xmlns:a="http://schemas.openxmlformats.org/drawingml/2006/main">
              <a:ext uri="{FF2B5EF4-FFF2-40B4-BE49-F238E27FC236}">
                <a16:creationId xmlns:a16="http://schemas.microsoft.com/office/drawing/2014/main" id="{AE816236-8D10-4453-AE77-368F48937E89}"/>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61</a:t>
            </a:r>
          </a:p>
        </p:txBody>
      </p:sp>
    </p:spTree>
    <p:extLst>
      <p:ext uri="{BB962C8B-B14F-4D97-AF65-F5344CB8AC3E}">
        <p14:creationId xmlns:p14="http://schemas.microsoft.com/office/powerpoint/2010/main" val="154478927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B729C329-2808-45F1-ABA3-49E7B0071965}"/>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10  APPLICATION EN AUTONOMIE</a:t>
            </a:r>
          </a:p>
        </p:txBody>
      </p:sp>
      <p:sp>
        <p:nvSpPr>
          <p:cNvPr id="2" name="title">
            <a:extLst xmlns:a="http://schemas.openxmlformats.org/drawingml/2006/main">
              <a:ext uri="{FF2B5EF4-FFF2-40B4-BE49-F238E27FC236}">
                <a16:creationId xmlns:a16="http://schemas.microsoft.com/office/drawing/2014/main" id="{8EAB4CE0-4CA4-44D5-BA46-7709F61C3D44}"/>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Les erreurs à reconnaître</a:t>
            </a:r>
          </a:p>
        </p:txBody>
      </p:sp>
      <p:sp>
        <p:nvSpPr>
          <p:cNvPr id="3" name="item-1">
            <a:extLst xmlns:a="http://schemas.openxmlformats.org/drawingml/2006/main">
              <a:ext uri="{FF2B5EF4-FFF2-40B4-BE49-F238E27FC236}">
                <a16:creationId xmlns:a16="http://schemas.microsoft.com/office/drawing/2014/main" id="{9C3A89AF-9A26-404A-9ECE-C20D8103B692}"/>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La conversation devient la seule source de contexte</a:t>
            </a:r>
          </a:p>
        </p:txBody>
      </p:sp>
      <p:sp>
        <p:nvSpPr>
          <p:cNvPr id="4" name="item-2">
            <a:extLst xmlns:a="http://schemas.openxmlformats.org/drawingml/2006/main">
              <a:ext uri="{FF2B5EF4-FFF2-40B4-BE49-F238E27FC236}">
                <a16:creationId xmlns:a16="http://schemas.microsoft.com/office/drawing/2014/main" id="{2140D21D-44CC-4640-B3BD-04601A2DCA7C}"/>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Le prompt remplace une SPEC ou des gates manquantes</a:t>
            </a:r>
          </a:p>
        </p:txBody>
      </p:sp>
      <p:sp>
        <p:nvSpPr>
          <p:cNvPr id="5" name="item-3">
            <a:extLst xmlns:a="http://schemas.openxmlformats.org/drawingml/2006/main">
              <a:ext uri="{FF2B5EF4-FFF2-40B4-BE49-F238E27FC236}">
                <a16:creationId xmlns:a16="http://schemas.microsoft.com/office/drawing/2014/main" id="{063E355A-AE71-4AA0-81D5-C223F6B102EE}"/>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 ancien PASS est reporté sans examen</a:t>
            </a:r>
          </a:p>
        </p:txBody>
      </p:sp>
      <p:sp>
        <p:nvSpPr>
          <p:cNvPr id="6" name="item-4">
            <a:extLst xmlns:a="http://schemas.openxmlformats.org/drawingml/2006/main">
              <a:ext uri="{FF2B5EF4-FFF2-40B4-BE49-F238E27FC236}">
                <a16:creationId xmlns:a16="http://schemas.microsoft.com/office/drawing/2014/main" id="{5D2A8535-CC27-48B6-849D-4A878FA50081}"/>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Un finding est oublié ou un écart dissimulé</a:t>
            </a:r>
          </a:p>
        </p:txBody>
      </p:sp>
      <p:sp>
        <p:nvSpPr>
          <p:cNvPr id="7" name="slide-number">
            <a:extLst xmlns:a="http://schemas.openxmlformats.org/drawingml/2006/main">
              <a:ext uri="{FF2B5EF4-FFF2-40B4-BE49-F238E27FC236}">
                <a16:creationId xmlns:a16="http://schemas.microsoft.com/office/drawing/2014/main" id="{0109F9AF-398C-4DF8-A8CF-9506F07CD99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62</a:t>
            </a:r>
          </a:p>
        </p:txBody>
      </p:sp>
    </p:spTree>
    <p:extLst>
      <p:ext uri="{BB962C8B-B14F-4D97-AF65-F5344CB8AC3E}">
        <p14:creationId xmlns:p14="http://schemas.microsoft.com/office/powerpoint/2010/main" val="160208361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5EF253E8-C4E2-4EF1-90E3-3B7DBAF88132}"/>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10  APPLICATION EN AUTONOMIE</a:t>
            </a:r>
          </a:p>
        </p:txBody>
      </p:sp>
      <p:sp>
        <p:nvSpPr>
          <p:cNvPr id="2" name="title">
            <a:extLst xmlns:a="http://schemas.openxmlformats.org/drawingml/2006/main">
              <a:ext uri="{FF2B5EF4-FFF2-40B4-BE49-F238E27FC236}">
                <a16:creationId xmlns:a16="http://schemas.microsoft.com/office/drawing/2014/main" id="{4D7F8529-9FCB-49E7-8550-6956F307728A}"/>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Préparer votre premier projet SAW</a:t>
            </a:r>
          </a:p>
        </p:txBody>
      </p:sp>
      <p:sp>
        <p:nvSpPr>
          <p:cNvPr id="3" name="item-1">
            <a:extLst xmlns:a="http://schemas.openxmlformats.org/drawingml/2006/main">
              <a:ext uri="{FF2B5EF4-FFF2-40B4-BE49-F238E27FC236}">
                <a16:creationId xmlns:a16="http://schemas.microsoft.com/office/drawing/2014/main" id="{E0EFB7AA-E17D-479A-9DED-A5B14622807B}"/>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Réunir les sources et clarifier le besoin</a:t>
            </a:r>
          </a:p>
        </p:txBody>
      </p:sp>
      <p:sp>
        <p:nvSpPr>
          <p:cNvPr id="4" name="item-2">
            <a:extLst xmlns:a="http://schemas.openxmlformats.org/drawingml/2006/main">
              <a:ext uri="{FF2B5EF4-FFF2-40B4-BE49-F238E27FC236}">
                <a16:creationId xmlns:a16="http://schemas.microsoft.com/office/drawing/2014/main" id="{1D4477B6-6551-45FD-BBF0-3AAC34FF24F0}"/>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Initialiser les six fichiers et la référence locale</a:t>
            </a:r>
          </a:p>
        </p:txBody>
      </p:sp>
      <p:sp>
        <p:nvSpPr>
          <p:cNvPr id="5" name="item-3">
            <a:extLst xmlns:a="http://schemas.openxmlformats.org/drawingml/2006/main">
              <a:ext uri="{FF2B5EF4-FFF2-40B4-BE49-F238E27FC236}">
                <a16:creationId xmlns:a16="http://schemas.microsoft.com/office/drawing/2014/main" id="{ACB5BB55-4A15-4535-9744-94F4C067A293}"/>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Préparer un premier lot et ses gates</a:t>
            </a:r>
          </a:p>
        </p:txBody>
      </p:sp>
      <p:sp>
        <p:nvSpPr>
          <p:cNvPr id="6" name="item-4">
            <a:extLst xmlns:a="http://schemas.openxmlformats.org/drawingml/2006/main">
              <a:ext uri="{FF2B5EF4-FFF2-40B4-BE49-F238E27FC236}">
                <a16:creationId xmlns:a16="http://schemas.microsoft.com/office/drawing/2014/main" id="{C88CF369-F907-4DA5-A568-4898145E8A57}"/>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Démarrer, examiner, décider et capitaliser</a:t>
            </a:r>
          </a:p>
        </p:txBody>
      </p:sp>
      <p:sp>
        <p:nvSpPr>
          <p:cNvPr id="7" name="slide-number">
            <a:extLst xmlns:a="http://schemas.openxmlformats.org/drawingml/2006/main">
              <a:ext uri="{FF2B5EF4-FFF2-40B4-BE49-F238E27FC236}">
                <a16:creationId xmlns:a16="http://schemas.microsoft.com/office/drawing/2014/main" id="{3D1AD2D6-9590-48AC-906F-5E7305449F0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63</a:t>
            </a:r>
          </a:p>
        </p:txBody>
      </p:sp>
    </p:spTree>
    <p:extLst>
      <p:ext uri="{BB962C8B-B14F-4D97-AF65-F5344CB8AC3E}">
        <p14:creationId xmlns:p14="http://schemas.microsoft.com/office/powerpoint/2010/main" val="78334754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dule">
            <a:extLst xmlns:a="http://schemas.openxmlformats.org/drawingml/2006/main">
              <a:ext uri="{FF2B5EF4-FFF2-40B4-BE49-F238E27FC236}">
                <a16:creationId xmlns:a16="http://schemas.microsoft.com/office/drawing/2014/main" id="{18A31419-DE50-4FFA-B822-7F2619D9F2E8}"/>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10  APPLICATION EN AUTONOMIE</a:t>
            </a:r>
          </a:p>
        </p:txBody>
      </p:sp>
      <p:sp>
        <p:nvSpPr>
          <p:cNvPr id="2" name="title">
            <a:extLst xmlns:a="http://schemas.openxmlformats.org/drawingml/2006/main">
              <a:ext uri="{FF2B5EF4-FFF2-40B4-BE49-F238E27FC236}">
                <a16:creationId xmlns:a16="http://schemas.microsoft.com/office/drawing/2014/main" id="{9C3E9E0A-4CC4-462F-AC6D-2252F3569E14}"/>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Ressources pour continuer</a:t>
            </a:r>
          </a:p>
        </p:txBody>
      </p:sp>
      <p:sp>
        <p:nvSpPr>
          <p:cNvPr id="3" name="item-1">
            <a:extLst xmlns:a="http://schemas.openxmlformats.org/drawingml/2006/main">
              <a:ext uri="{FF2B5EF4-FFF2-40B4-BE49-F238E27FC236}">
                <a16:creationId xmlns:a16="http://schemas.microsoft.com/office/drawing/2014/main" id="{5716EDB1-580A-448E-8439-3BCC89E08B34}"/>
              </a:ext>
            </a:extLst>
          </p:cNvPr>
          <p:cNvSpPr>
            <a:spLocks xmlns:a="http://schemas.openxmlformats.org/drawingml/2006/main" noGrp="1"/>
          </p:cNvSpPr>
          <p:nvPr/>
        </p:nvSpPr>
        <p:spPr>
          <a:xfrm xmlns:a="http://schemas.openxmlformats.org/drawingml/2006/main">
            <a:off x="685800" y="2095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Spécification SAW 3.2 FR et EN corrigée</a:t>
            </a:r>
          </a:p>
        </p:txBody>
      </p:sp>
      <p:sp>
        <p:nvSpPr>
          <p:cNvPr id="4" name="item-2">
            <a:extLst xmlns:a="http://schemas.openxmlformats.org/drawingml/2006/main">
              <a:ext uri="{FF2B5EF4-FFF2-40B4-BE49-F238E27FC236}">
                <a16:creationId xmlns:a16="http://schemas.microsoft.com/office/drawing/2014/main" id="{B525686A-5E9E-4A8D-8991-B35E9BBB46A1}"/>
              </a:ext>
            </a:extLst>
          </p:cNvPr>
          <p:cNvSpPr>
            <a:spLocks xmlns:a="http://schemas.openxmlformats.org/drawingml/2006/main" noGrp="1"/>
          </p:cNvSpPr>
          <p:nvPr/>
        </p:nvSpPr>
        <p:spPr>
          <a:xfrm xmlns:a="http://schemas.openxmlformats.org/drawingml/2006/main">
            <a:off x="685800" y="301942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Extraits documentaires complets de TextAid</a:t>
            </a:r>
          </a:p>
        </p:txBody>
      </p:sp>
      <p:sp>
        <p:nvSpPr>
          <p:cNvPr id="5" name="item-3">
            <a:extLst xmlns:a="http://schemas.openxmlformats.org/drawingml/2006/main">
              <a:ext uri="{FF2B5EF4-FFF2-40B4-BE49-F238E27FC236}">
                <a16:creationId xmlns:a16="http://schemas.microsoft.com/office/drawing/2014/main" id="{092E09DD-A9FD-41C0-90B3-FA47CE05693F}"/>
              </a:ext>
            </a:extLst>
          </p:cNvPr>
          <p:cNvSpPr>
            <a:spLocks xmlns:a="http://schemas.openxmlformats.org/drawingml/2006/main" noGrp="1"/>
          </p:cNvSpPr>
          <p:nvPr/>
        </p:nvSpPr>
        <p:spPr>
          <a:xfrm xmlns:a="http://schemas.openxmlformats.org/drawingml/2006/main">
            <a:off x="685800" y="394335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Modèles et fiches des quatre ateliers</a:t>
            </a:r>
          </a:p>
        </p:txBody>
      </p:sp>
      <p:sp>
        <p:nvSpPr>
          <p:cNvPr id="6" name="item-4">
            <a:extLst xmlns:a="http://schemas.openxmlformats.org/drawingml/2006/main">
              <a:ext uri="{FF2B5EF4-FFF2-40B4-BE49-F238E27FC236}">
                <a16:creationId xmlns:a16="http://schemas.microsoft.com/office/drawing/2014/main" id="{CDC81036-FDAF-44AB-8872-45B0CACE83E5}"/>
              </a:ext>
            </a:extLst>
          </p:cNvPr>
          <p:cNvSpPr>
            <a:spLocks xmlns:a="http://schemas.openxmlformats.org/drawingml/2006/main" noGrp="1"/>
          </p:cNvSpPr>
          <p:nvPr/>
        </p:nvSpPr>
        <p:spPr>
          <a:xfrm xmlns:a="http://schemas.openxmlformats.org/drawingml/2006/main">
            <a:off x="685800" y="4867275"/>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0">
                <a:solidFill>
                  <a:srgbClr val="183044"/>
                </a:solidFill>
                <a:latin typeface="Arial"/>
                <a:ea typeface="Arial"/>
                <a:cs typeface="Arial"/>
              </a:defRPr>
            </a:pPr>
            <a:r>
              <a:rPr sz="2700" b="0">
                <a:solidFill>
                  <a:srgbClr val="183044"/>
                </a:solidFill>
                <a:latin typeface="Arial"/>
                <a:ea typeface="Arial"/>
                <a:cs typeface="Arial"/>
              </a:rPr>
              <a:t>Livre : approfondir les raisons du SDD</a:t>
            </a:r>
          </a:p>
        </p:txBody>
      </p:sp>
      <p:sp>
        <p:nvSpPr>
          <p:cNvPr id="7" name="slide-number">
            <a:extLst xmlns:a="http://schemas.openxmlformats.org/drawingml/2006/main">
              <a:ext uri="{FF2B5EF4-FFF2-40B4-BE49-F238E27FC236}">
                <a16:creationId xmlns:a16="http://schemas.microsoft.com/office/drawing/2014/main" id="{1B374D99-07BE-44A5-B600-E97F04498D2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64</a:t>
            </a:r>
          </a:p>
        </p:txBody>
      </p:sp>
    </p:spTree>
    <p:extLst>
      <p:ext uri="{BB962C8B-B14F-4D97-AF65-F5344CB8AC3E}">
        <p14:creationId xmlns:p14="http://schemas.microsoft.com/office/powerpoint/2010/main" val="212959738"/>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EB95AA7E-AE35-4436-B81B-AFEDEE814944}"/>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8A27D87E-BEDF-4419-9F1A-057891D7AA74}"/>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vocabulaire normatif</a:t>
            </a:r>
          </a:p>
        </p:txBody>
      </p:sp>
      <p:graphicFrame>
        <p:nvGraphicFramePr>
          <p:cNvPr id="7" name=""/>
          <p:cNvGraphicFramePr/>
          <p:nvPr/>
        </p:nvGraphicFramePr>
        <p:xfrm>
          <a:off xmlns:a="http://schemas.openxmlformats.org/drawingml/2006/main" x="685800" y="1962150"/>
          <a:ext xmlns:a="http://schemas.openxmlformats.org/drawingml/2006/main" cx="10820400" cy="3276600"/>
        </p:xfrm>
        <a:graphic xmlns:a="http://schemas.openxmlformats.org/drawingml/2006/main">
          <a:graphicData uri="http://schemas.openxmlformats.org/drawingml/2006/table">
            <a:tbl>
              <a:tblPr firstRow="1" bandRow="0"/>
              <a:tblGrid>
                <a:gridCol w="3524250"/>
                <a:gridCol w="7296150"/>
              </a:tblGrid>
              <a:tr h="819150">
                <a:tc>
                  <a:txBody>
                    <a:bodyPr lIns="171450" tIns="76200" rIns="152400" bIns="76200">
                      <a:noAutofit/>
                    </a:bodyPr>
                    <a:lstStyle/>
                    <a:p>
                      <a:r>
                        <a:rPr sz="1875" b="1">
                          <a:solidFill>
                            <a:srgbClr val="FFFFFF"/>
                          </a:solidFill>
                          <a:latin typeface="Arial"/>
                          <a:ea typeface="Arial"/>
                          <a:cs typeface="Arial"/>
                        </a:rPr>
                        <a:t>Mot</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Sens</a:t>
                      </a:r>
                    </a:p>
                  </a:txBody>
                  <a:tcPr marL="91440" marR="91440" marT="45720" marB="45720" anchor="ctr">
                    <a:solidFill>
                      <a:srgbClr val="0D1B29"/>
                    </a:solidFill>
                  </a:tcPr>
                </a:tc>
              </a:tr>
              <a:tr h="819150">
                <a:tc>
                  <a:txBody>
                    <a:bodyPr lIns="171450" tIns="76200" rIns="152400" bIns="76200">
                      <a:noAutofit/>
                    </a:bodyPr>
                    <a:lstStyle/>
                    <a:p>
                      <a:r>
                        <a:rPr sz="2025" b="1">
                          <a:solidFill>
                            <a:srgbClr val="183044"/>
                          </a:solidFill>
                          <a:latin typeface="Arial"/>
                          <a:ea typeface="Arial"/>
                          <a:cs typeface="Arial"/>
                        </a:rPr>
                        <a:t>MUST / MUST NOT</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Obligation / interdiction absolue</a:t>
                      </a:r>
                    </a:p>
                  </a:txBody>
                  <a:tcPr marL="91440" marR="91440" marT="45720" marB="45720" anchor="ctr">
                    <a:solidFill>
                      <a:srgbClr val="FFFFFF"/>
                    </a:solidFill>
                  </a:tcPr>
                </a:tc>
              </a:tr>
              <a:tr h="819150">
                <a:tc>
                  <a:txBody>
                    <a:bodyPr lIns="171450" tIns="76200" rIns="152400" bIns="76200">
                      <a:noAutofit/>
                    </a:bodyPr>
                    <a:lstStyle/>
                    <a:p>
                      <a:r>
                        <a:rPr sz="2025" b="1">
                          <a:solidFill>
                            <a:srgbClr val="183044"/>
                          </a:solidFill>
                          <a:latin typeface="Arial"/>
                          <a:ea typeface="Arial"/>
                          <a:cs typeface="Arial"/>
                        </a:rPr>
                        <a:t>SHOULD / SHOULD NOT</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Recommandation forte / pratique déconseillée ; justifier un écart</a:t>
                      </a:r>
                    </a:p>
                  </a:txBody>
                  <a:tcPr marL="91440" marR="91440" marT="45720" marB="45720" anchor="ctr">
                    <a:solidFill>
                      <a:srgbClr val="F2F6F8"/>
                    </a:solidFill>
                  </a:tcPr>
                </a:tc>
              </a:tr>
              <a:tr h="819150">
                <a:tc>
                  <a:txBody>
                    <a:bodyPr lIns="171450" tIns="76200" rIns="152400" bIns="76200">
                      <a:noAutofit/>
                    </a:bodyPr>
                    <a:lstStyle/>
                    <a:p>
                      <a:r>
                        <a:rPr sz="2025" b="1">
                          <a:solidFill>
                            <a:srgbClr val="183044"/>
                          </a:solidFill>
                          <a:latin typeface="Arial"/>
                          <a:ea typeface="Arial"/>
                          <a:cs typeface="Arial"/>
                        </a:rPr>
                        <a:t>MAY</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Possibilité facultative</a:t>
                      </a:r>
                    </a:p>
                  </a:txBody>
                  <a:tcPr marL="91440" marR="91440" marT="45720" marB="45720" anchor="ctr">
                    <a:solidFill>
                      <a:srgbClr val="FFFFFF"/>
                    </a:solidFill>
                  </a:tcPr>
                </a:tc>
              </a:tr>
            </a:tbl>
          </a:graphicData>
        </a:graphic>
      </p:graphicFrame>
      <p:sp>
        <p:nvSpPr>
          <p:cNvPr id="4" name="slide-number">
            <a:extLst xmlns:a="http://schemas.openxmlformats.org/drawingml/2006/main">
              <a:ext uri="{FF2B5EF4-FFF2-40B4-BE49-F238E27FC236}">
                <a16:creationId xmlns:a16="http://schemas.microsoft.com/office/drawing/2014/main" id="{07E3F208-B9DC-4E66-A260-483F7F233068}"/>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65</a:t>
            </a:r>
          </a:p>
        </p:txBody>
      </p:sp>
    </p:spTree>
    <p:extLst>
      <p:ext uri="{BB962C8B-B14F-4D97-AF65-F5344CB8AC3E}">
        <p14:creationId xmlns:p14="http://schemas.microsoft.com/office/powerpoint/2010/main" val="1711784583"/>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3EBD8131-1932-4EEC-8B6C-05E12510CDEA}"/>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4B5ADD34-FAD4-4902-B79C-204E261DB5F7}"/>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modèle d’une exigence</a:t>
            </a:r>
          </a:p>
        </p:txBody>
      </p:sp>
      <p:sp>
        <p:nvSpPr>
          <p:cNvPr id="3" name="code">
            <a:extLst xmlns:a="http://schemas.openxmlformats.org/drawingml/2006/main">
              <a:ext uri="{FF2B5EF4-FFF2-40B4-BE49-F238E27FC236}">
                <a16:creationId xmlns:a16="http://schemas.microsoft.com/office/drawing/2014/main" id="{08372306-A9FA-4E23-BD88-DFE873990A0D}"/>
              </a:ext>
            </a:extLst>
          </p:cNvPr>
          <p:cNvSpPr>
            <a:spLocks xmlns:a="http://schemas.openxmlformats.org/drawingml/2006/main" noGrp="1"/>
          </p:cNvSpPr>
          <p:nvPr/>
        </p:nvSpPr>
        <p:spPr>
          <a:xfrm xmlns:a="http://schemas.openxmlformats.org/drawingml/2006/main">
            <a:off x="685800" y="2152650"/>
            <a:ext cx="108204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 REQ-001-001 — Copy completed result</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The system MUST copy the complete result.</a:t>
            </a:r>
          </a:p>
          <a:p xmlns:a="http://schemas.openxmlformats.org/drawingml/2006/main">
            <a:r>
              <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 [OBSOLETE] REQ-001-002 — Old behavior</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Replaced by: REQ-001-003</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Decision: D-001</a:t>
            </a:r>
          </a:p>
        </p:txBody>
      </p:sp>
      <p:sp>
        <p:nvSpPr>
          <p:cNvPr id="4" name="slide-number">
            <a:extLst xmlns:a="http://schemas.openxmlformats.org/drawingml/2006/main">
              <a:ext uri="{FF2B5EF4-FFF2-40B4-BE49-F238E27FC236}">
                <a16:creationId xmlns:a16="http://schemas.microsoft.com/office/drawing/2014/main" id="{C1D2E079-4768-48F6-8F25-02E357851F79}"/>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66</a:t>
            </a:r>
          </a:p>
        </p:txBody>
      </p:sp>
    </p:spTree>
    <p:extLst>
      <p:ext uri="{BB962C8B-B14F-4D97-AF65-F5344CB8AC3E}">
        <p14:creationId xmlns:p14="http://schemas.microsoft.com/office/powerpoint/2010/main" val="189429816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63B28F52-264F-427F-A88E-6A1DB98E64AC}"/>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8417E805-CB05-4B28-868C-6B562FE5EDF1}"/>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modèle d’un finding</a:t>
            </a:r>
          </a:p>
        </p:txBody>
      </p:sp>
      <p:sp>
        <p:nvSpPr>
          <p:cNvPr id="3" name="code">
            <a:extLst xmlns:a="http://schemas.openxmlformats.org/drawingml/2006/main">
              <a:ext uri="{FF2B5EF4-FFF2-40B4-BE49-F238E27FC236}">
                <a16:creationId xmlns:a16="http://schemas.microsoft.com/office/drawing/2014/main" id="{7B761795-F504-483B-A1C4-05516F6276F6}"/>
              </a:ext>
            </a:extLst>
          </p:cNvPr>
          <p:cNvSpPr>
            <a:spLocks xmlns:a="http://schemas.openxmlformats.org/drawingml/2006/main" noGrp="1"/>
          </p:cNvSpPr>
          <p:nvPr/>
        </p:nvSpPr>
        <p:spPr>
          <a:xfrm xmlns:a="http://schemas.openxmlformats.org/drawingml/2006/main">
            <a:off x="685800" y="2152650"/>
            <a:ext cx="108204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 F-001-001 — Source window unavailable</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Status: OPEN</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Found at: 2026-10-02T10:00:00+02:00</a:t>
            </a:r>
          </a:p>
          <a:p xmlns:a="http://schemas.openxmlformats.org/drawingml/2006/main">
            <a:r>
              <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Finding: The source window no longer exists.</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Evidence: Reproduction steps and observed message.</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Impact: Replace cannot complete safely.</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Destinations: Local</a:t>
            </a:r>
          </a:p>
        </p:txBody>
      </p:sp>
      <p:sp>
        <p:nvSpPr>
          <p:cNvPr id="4" name="slide-number">
            <a:extLst xmlns:a="http://schemas.openxmlformats.org/drawingml/2006/main">
              <a:ext uri="{FF2B5EF4-FFF2-40B4-BE49-F238E27FC236}">
                <a16:creationId xmlns:a16="http://schemas.microsoft.com/office/drawing/2014/main" id="{9CDE6BD8-9160-4072-8BD4-435B0F47440C}"/>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67</a:t>
            </a:r>
          </a:p>
        </p:txBody>
      </p:sp>
    </p:spTree>
    <p:extLst>
      <p:ext uri="{BB962C8B-B14F-4D97-AF65-F5344CB8AC3E}">
        <p14:creationId xmlns:p14="http://schemas.microsoft.com/office/powerpoint/2010/main" val="80198078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A896855E-D710-46C0-B041-C3F411D5FA74}"/>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A57D9098-55CD-4A52-B5C5-4579721CA67E}"/>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modèle d’une gate HUMAN</a:t>
            </a:r>
          </a:p>
        </p:txBody>
      </p:sp>
      <p:sp>
        <p:nvSpPr>
          <p:cNvPr id="3" name="code">
            <a:extLst xmlns:a="http://schemas.openxmlformats.org/drawingml/2006/main">
              <a:ext uri="{FF2B5EF4-FFF2-40B4-BE49-F238E27FC236}">
                <a16:creationId xmlns:a16="http://schemas.microsoft.com/office/drawing/2014/main" id="{40713B09-F9A2-47A0-A4BE-DF80992C169B}"/>
              </a:ext>
            </a:extLst>
          </p:cNvPr>
          <p:cNvSpPr>
            <a:spLocks xmlns:a="http://schemas.openxmlformats.org/drawingml/2006/main" noGrp="1"/>
          </p:cNvSpPr>
          <p:nvPr/>
        </p:nvSpPr>
        <p:spPr>
          <a:xfrm xmlns:a="http://schemas.openxmlformats.org/drawingml/2006/main">
            <a:off x="685800" y="2152650"/>
            <a:ext cx="10820400" cy="394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 G-001-001 — Copy walkthrough</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Type: HUMAN</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Status: TO TEST</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Condition: Copy leaves the source unchanged.</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Method: Run the defined user journey.</a:t>
            </a:r>
          </a:p>
          <a:p xmlns:a="http://schemas.openxmlformats.org/drawingml/2006/main">
            <a:r>
              <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Validated at:</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Validated by:</a:t>
            </a:r>
          </a:p>
          <a:p xmlns:a="http://schemas.openxmlformats.org/drawingml/2006/main">
            <a:pPr>
              <a:defRPr sz="2175" b="0">
                <a:solidFill>
                  <a:srgbClr val="183044"/>
                </a:solidFill>
                <a:latin typeface="Consolas"/>
                <a:ea typeface="Consolas"/>
                <a:cs typeface="Consolas"/>
              </a:defRPr>
            </a:pPr>
            <a:r>
              <a:rPr sz="2175" b="0">
                <a:solidFill>
                  <a:srgbClr val="183044"/>
                </a:solidFill>
                <a:latin typeface="Consolas"/>
                <a:ea typeface="Consolas"/>
                <a:cs typeface="Consolas"/>
              </a:rPr>
              <a:t>Evaluated result:</a:t>
            </a:r>
          </a:p>
        </p:txBody>
      </p:sp>
      <p:sp>
        <p:nvSpPr>
          <p:cNvPr id="4" name="slide-number">
            <a:extLst xmlns:a="http://schemas.openxmlformats.org/drawingml/2006/main">
              <a:ext uri="{FF2B5EF4-FFF2-40B4-BE49-F238E27FC236}">
                <a16:creationId xmlns:a16="http://schemas.microsoft.com/office/drawing/2014/main" id="{698557DB-7538-4481-8515-923837C0106E}"/>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68</a:t>
            </a:r>
          </a:p>
        </p:txBody>
      </p:sp>
    </p:spTree>
    <p:extLst>
      <p:ext uri="{BB962C8B-B14F-4D97-AF65-F5344CB8AC3E}">
        <p14:creationId xmlns:p14="http://schemas.microsoft.com/office/powerpoint/2010/main" val="195796393"/>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module">
            <a:extLst xmlns:a="http://schemas.openxmlformats.org/drawingml/2006/main">
              <a:ext uri="{FF2B5EF4-FFF2-40B4-BE49-F238E27FC236}">
                <a16:creationId xmlns:a16="http://schemas.microsoft.com/office/drawing/2014/main" id="{E7C55C44-9E7F-47A3-8583-36171AF00D0E}"/>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971412AA-FCEE-484A-A44E-BD9CB51D2C9B}"/>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états du lot</a:t>
            </a:r>
          </a:p>
        </p:txBody>
      </p:sp>
      <p:graphicFrame>
        <p:nvGraphicFramePr>
          <p:cNvPr id="7" name=""/>
          <p:cNvGraphicFramePr/>
          <p:nvPr/>
        </p:nvGraphicFramePr>
        <p:xfrm>
          <a:off xmlns:a="http://schemas.openxmlformats.org/drawingml/2006/main" x="685800" y="1962150"/>
          <a:ext xmlns:a="http://schemas.openxmlformats.org/drawingml/2006/main" cx="10820400" cy="4000500"/>
        </p:xfrm>
        <a:graphic xmlns:a="http://schemas.openxmlformats.org/drawingml/2006/main">
          <a:graphicData uri="http://schemas.openxmlformats.org/drawingml/2006/table">
            <a:tbl>
              <a:tblPr firstRow="1" bandRow="0"/>
              <a:tblGrid>
                <a:gridCol w="3524250"/>
                <a:gridCol w="7296150"/>
              </a:tblGrid>
              <a:tr h="666750">
                <a:tc>
                  <a:txBody>
                    <a:bodyPr lIns="171450" tIns="76200" rIns="152400" bIns="76200">
                      <a:noAutofit/>
                    </a:bodyPr>
                    <a:lstStyle/>
                    <a:p>
                      <a:r>
                        <a:rPr sz="1875" b="1">
                          <a:solidFill>
                            <a:srgbClr val="FFFFFF"/>
                          </a:solidFill>
                          <a:latin typeface="Arial"/>
                          <a:ea typeface="Arial"/>
                          <a:cs typeface="Arial"/>
                        </a:rPr>
                        <a:t>État</a:t>
                      </a:r>
                    </a:p>
                  </a:txBody>
                  <a:tcPr marL="91440" marR="91440" marT="45720" marB="45720" anchor="ctr">
                    <a:solidFill>
                      <a:srgbClr val="0D1B29"/>
                    </a:solidFill>
                  </a:tcPr>
                </a:tc>
                <a:tc>
                  <a:txBody>
                    <a:bodyPr lIns="171450" tIns="76200" rIns="152400" bIns="76200">
                      <a:noAutofit/>
                    </a:bodyPr>
                    <a:lstStyle/>
                    <a:p>
                      <a:r>
                        <a:rPr sz="1875" b="1">
                          <a:solidFill>
                            <a:srgbClr val="FFFFFF"/>
                          </a:solidFill>
                          <a:latin typeface="Arial"/>
                          <a:ea typeface="Arial"/>
                          <a:cs typeface="Arial"/>
                        </a:rPr>
                        <a:t>Sens</a:t>
                      </a:r>
                    </a:p>
                  </a:txBody>
                  <a:tcPr marL="91440" marR="91440" marT="45720" marB="45720" anchor="ctr">
                    <a:solidFill>
                      <a:srgbClr val="0D1B29"/>
                    </a:solidFill>
                  </a:tcPr>
                </a:tc>
              </a:tr>
              <a:tr h="666750">
                <a:tc>
                  <a:txBody>
                    <a:bodyPr lIns="171450" tIns="76200" rIns="152400" bIns="76200">
                      <a:noAutofit/>
                    </a:bodyPr>
                    <a:lstStyle/>
                    <a:p>
                      <a:r>
                        <a:rPr sz="2025" b="1">
                          <a:solidFill>
                            <a:srgbClr val="183044"/>
                          </a:solidFill>
                          <a:latin typeface="Arial"/>
                          <a:ea typeface="Arial"/>
                          <a:cs typeface="Arial"/>
                        </a:rPr>
                        <a:t>Draft / Planned</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Préparation / prêt à démarrer</a:t>
                      </a:r>
                    </a:p>
                  </a:txBody>
                  <a:tcPr marL="91440" marR="91440" marT="45720" marB="45720" anchor="ctr">
                    <a:solidFill>
                      <a:srgbClr val="FFFFFF"/>
                    </a:solidFill>
                  </a:tcPr>
                </a:tc>
              </a:tr>
              <a:tr h="666750">
                <a:tc>
                  <a:txBody>
                    <a:bodyPr lIns="171450" tIns="76200" rIns="152400" bIns="76200">
                      <a:noAutofit/>
                    </a:bodyPr>
                    <a:lstStyle/>
                    <a:p>
                      <a:r>
                        <a:rPr sz="2025" b="1">
                          <a:solidFill>
                            <a:srgbClr val="183044"/>
                          </a:solidFill>
                          <a:latin typeface="Arial"/>
                          <a:ea typeface="Arial"/>
                          <a:cs typeface="Arial"/>
                        </a:rPr>
                        <a:t>In-progress / Blocked</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Exécution / blocage</a:t>
                      </a:r>
                    </a:p>
                  </a:txBody>
                  <a:tcPr marL="91440" marR="91440" marT="45720" marB="45720" anchor="ctr">
                    <a:solidFill>
                      <a:srgbClr val="F2F6F8"/>
                    </a:solidFill>
                  </a:tcPr>
                </a:tc>
              </a:tr>
              <a:tr h="666750">
                <a:tc>
                  <a:txBody>
                    <a:bodyPr lIns="171450" tIns="76200" rIns="152400" bIns="76200">
                      <a:noAutofit/>
                    </a:bodyPr>
                    <a:lstStyle/>
                    <a:p>
                      <a:r>
                        <a:rPr sz="2025" b="1">
                          <a:solidFill>
                            <a:srgbClr val="183044"/>
                          </a:solidFill>
                          <a:latin typeface="Arial"/>
                          <a:ea typeface="Arial"/>
                          <a:cs typeface="Arial"/>
                        </a:rPr>
                        <a:t>Stand-by</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Parent suspendu pour un sous-lot</a:t>
                      </a:r>
                    </a:p>
                  </a:txBody>
                  <a:tcPr marL="91440" marR="91440" marT="45720" marB="45720" anchor="ctr">
                    <a:solidFill>
                      <a:srgbClr val="FFFFFF"/>
                    </a:solidFill>
                  </a:tcPr>
                </a:tc>
              </a:tr>
              <a:tr h="666750">
                <a:tc>
                  <a:txBody>
                    <a:bodyPr lIns="171450" tIns="76200" rIns="152400" bIns="76200">
                      <a:noAutofit/>
                    </a:bodyPr>
                    <a:lstStyle/>
                    <a:p>
                      <a:r>
                        <a:rPr sz="2025" b="1">
                          <a:solidFill>
                            <a:srgbClr val="183044"/>
                          </a:solidFill>
                          <a:latin typeface="Arial"/>
                          <a:ea typeface="Arial"/>
                          <a:cs typeface="Arial"/>
                        </a:rPr>
                        <a:t>Ready-to-close / Closed</a:t>
                      </a:r>
                    </a:p>
                  </a:txBody>
                  <a:tcPr marL="91440" marR="91440" marT="45720" marB="45720" anchor="ctr">
                    <a:solidFill>
                      <a:srgbClr val="F2F6F8"/>
                    </a:solidFill>
                  </a:tcPr>
                </a:tc>
                <a:tc>
                  <a:txBody>
                    <a:bodyPr lIns="171450" tIns="76200" rIns="152400" bIns="76200">
                      <a:noAutofit/>
                    </a:bodyPr>
                    <a:lstStyle/>
                    <a:p>
                      <a:r>
                        <a:rPr sz="2025" b="0">
                          <a:solidFill>
                            <a:srgbClr val="183044"/>
                          </a:solidFill>
                          <a:latin typeface="Arial"/>
                          <a:ea typeface="Arial"/>
                          <a:cs typeface="Arial"/>
                        </a:rPr>
                        <a:t>Fermeture en attente / résultat fermé</a:t>
                      </a:r>
                    </a:p>
                  </a:txBody>
                  <a:tcPr marL="91440" marR="91440" marT="45720" marB="45720" anchor="ctr">
                    <a:solidFill>
                      <a:srgbClr val="F2F6F8"/>
                    </a:solidFill>
                  </a:tcPr>
                </a:tc>
              </a:tr>
              <a:tr h="666750">
                <a:tc>
                  <a:txBody>
                    <a:bodyPr lIns="171450" tIns="76200" rIns="152400" bIns="76200">
                      <a:noAutofit/>
                    </a:bodyPr>
                    <a:lstStyle/>
                    <a:p>
                      <a:r>
                        <a:rPr sz="2025" b="1">
                          <a:solidFill>
                            <a:srgbClr val="183044"/>
                          </a:solidFill>
                          <a:latin typeface="Arial"/>
                          <a:ea typeface="Arial"/>
                          <a:cs typeface="Arial"/>
                        </a:rPr>
                        <a:t>Cancelled / Obsolete / Abandoned</a:t>
                      </a:r>
                    </a:p>
                  </a:txBody>
                  <a:tcPr marL="91440" marR="91440" marT="45720" marB="45720" anchor="ctr">
                    <a:solidFill>
                      <a:srgbClr val="FFFFFF"/>
                    </a:solidFill>
                  </a:tcPr>
                </a:tc>
                <a:tc>
                  <a:txBody>
                    <a:bodyPr lIns="171450" tIns="76200" rIns="152400" bIns="76200">
                      <a:noAutofit/>
                    </a:bodyPr>
                    <a:lstStyle/>
                    <a:p>
                      <a:r>
                        <a:rPr sz="2025" b="0">
                          <a:solidFill>
                            <a:srgbClr val="183044"/>
                          </a:solidFill>
                          <a:latin typeface="Arial"/>
                          <a:ea typeface="Arial"/>
                          <a:cs typeface="Arial"/>
                        </a:rPr>
                        <a:t>Arrêt / remplacement / résultat écarté</a:t>
                      </a:r>
                    </a:p>
                  </a:txBody>
                  <a:tcPr marL="91440" marR="91440" marT="45720" marB="45720" anchor="ctr">
                    <a:solidFill>
                      <a:srgbClr val="FFFFFF"/>
                    </a:solidFill>
                  </a:tcPr>
                </a:tc>
              </a:tr>
            </a:tbl>
          </a:graphicData>
        </a:graphic>
      </p:graphicFrame>
      <p:sp>
        <p:nvSpPr>
          <p:cNvPr id="4" name="slide-number">
            <a:extLst xmlns:a="http://schemas.openxmlformats.org/drawingml/2006/main">
              <a:ext uri="{FF2B5EF4-FFF2-40B4-BE49-F238E27FC236}">
                <a16:creationId xmlns:a16="http://schemas.microsoft.com/office/drawing/2014/main" id="{A7A58EB0-C3E7-470F-9525-FF5BDF352621}"/>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69</a:t>
            </a:r>
          </a:p>
        </p:txBody>
      </p:sp>
    </p:spTree>
    <p:extLst>
      <p:ext uri="{BB962C8B-B14F-4D97-AF65-F5344CB8AC3E}">
        <p14:creationId xmlns:p14="http://schemas.microsoft.com/office/powerpoint/2010/main" val="95555487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odule">
            <a:extLst xmlns:a="http://schemas.openxmlformats.org/drawingml/2006/main">
              <a:ext uri="{FF2B5EF4-FFF2-40B4-BE49-F238E27FC236}">
                <a16:creationId xmlns:a16="http://schemas.microsoft.com/office/drawing/2014/main" id="{7100A1B2-5D2F-482E-917C-81ABFF452202}"/>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B158CC3A-1388-46B2-8D77-A6DDD2E2C032}"/>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contrôle de fermeture</a:t>
            </a:r>
          </a:p>
        </p:txBody>
      </p:sp>
      <p:sp>
        <p:nvSpPr>
          <p:cNvPr id="3" name="item-1">
            <a:extLst xmlns:a="http://schemas.openxmlformats.org/drawingml/2006/main">
              <a:ext uri="{FF2B5EF4-FFF2-40B4-BE49-F238E27FC236}">
                <a16:creationId xmlns:a16="http://schemas.microsoft.com/office/drawing/2014/main" id="{2BBB2B12-3AA1-460E-B866-8020E94605F2}"/>
              </a:ext>
            </a:extLst>
          </p:cNvPr>
          <p:cNvSpPr>
            <a:spLocks xmlns:a="http://schemas.openxmlformats.org/drawingml/2006/main" noGrp="1"/>
          </p:cNvSpPr>
          <p:nvPr/>
        </p:nvSpPr>
        <p:spPr>
          <a:xfrm xmlns:a="http://schemas.openxmlformats.org/drawingml/2006/main">
            <a:off x="685800" y="20955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Résultat identifiable ; validations encore applicables</a:t>
            </a:r>
          </a:p>
        </p:txBody>
      </p:sp>
      <p:sp>
        <p:nvSpPr>
          <p:cNvPr id="4" name="item-2">
            <a:extLst xmlns:a="http://schemas.openxmlformats.org/drawingml/2006/main">
              <a:ext uri="{FF2B5EF4-FFF2-40B4-BE49-F238E27FC236}">
                <a16:creationId xmlns:a16="http://schemas.microsoft.com/office/drawing/2014/main" id="{6DB9764D-6E99-4C6E-9992-173F90473013}"/>
              </a:ext>
            </a:extLst>
          </p:cNvPr>
          <p:cNvSpPr>
            <a:spLocks xmlns:a="http://schemas.openxmlformats.org/drawingml/2006/main" noGrp="1"/>
          </p:cNvSpPr>
          <p:nvPr/>
        </p:nvSpPr>
        <p:spPr>
          <a:xfrm xmlns:a="http://schemas.openxmlformats.org/drawingml/2006/main">
            <a:off x="685800" y="28479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Aucune gate active FAIL ou TO TEST</a:t>
            </a:r>
          </a:p>
        </p:txBody>
      </p:sp>
      <p:sp>
        <p:nvSpPr>
          <p:cNvPr id="5" name="item-3">
            <a:extLst xmlns:a="http://schemas.openxmlformats.org/drawingml/2006/main">
              <a:ext uri="{FF2B5EF4-FFF2-40B4-BE49-F238E27FC236}">
                <a16:creationId xmlns:a16="http://schemas.microsoft.com/office/drawing/2014/main" id="{28567B19-FB75-4079-8E11-078B4A79962A}"/>
              </a:ext>
            </a:extLst>
          </p:cNvPr>
          <p:cNvSpPr>
            <a:spLocks xmlns:a="http://schemas.openxmlformats.org/drawingml/2006/main" noGrp="1"/>
          </p:cNvSpPr>
          <p:nvPr/>
        </p:nvSpPr>
        <p:spPr>
          <a:xfrm xmlns:a="http://schemas.openxmlformats.org/drawingml/2006/main">
            <a:off x="685800" y="36004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Exigences examinées ; écarts acceptés et référencés</a:t>
            </a:r>
          </a:p>
        </p:txBody>
      </p:sp>
      <p:sp>
        <p:nvSpPr>
          <p:cNvPr id="6" name="item-4">
            <a:extLst xmlns:a="http://schemas.openxmlformats.org/drawingml/2006/main">
              <a:ext uri="{FF2B5EF4-FFF2-40B4-BE49-F238E27FC236}">
                <a16:creationId xmlns:a16="http://schemas.microsoft.com/office/drawing/2014/main" id="{174D0901-273D-4D45-9A22-22F6F422385D}"/>
              </a:ext>
            </a:extLst>
          </p:cNvPr>
          <p:cNvSpPr>
            <a:spLocks xmlns:a="http://schemas.openxmlformats.org/drawingml/2006/main" noGrp="1"/>
          </p:cNvSpPr>
          <p:nvPr/>
        </p:nvSpPr>
        <p:spPr>
          <a:xfrm xmlns:a="http://schemas.openxmlformats.org/drawingml/2006/main">
            <a:off x="685800" y="4352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Findings terminaux ; décisions et destinations existantes</a:t>
            </a:r>
          </a:p>
        </p:txBody>
      </p:sp>
      <p:sp>
        <p:nvSpPr>
          <p:cNvPr id="7" name="item-5">
            <a:extLst xmlns:a="http://schemas.openxmlformats.org/drawingml/2006/main">
              <a:ext uri="{FF2B5EF4-FFF2-40B4-BE49-F238E27FC236}">
                <a16:creationId xmlns:a16="http://schemas.microsoft.com/office/drawing/2014/main" id="{D16528CA-7738-4406-BD8D-26BF8FAE97E1}"/>
              </a:ext>
            </a:extLst>
          </p:cNvPr>
          <p:cNvSpPr>
            <a:spLocks xmlns:a="http://schemas.openxmlformats.org/drawingml/2006/main" noGrp="1"/>
          </p:cNvSpPr>
          <p:nvPr/>
        </p:nvSpPr>
        <p:spPr>
          <a:xfrm xmlns:a="http://schemas.openxmlformats.org/drawingml/2006/main">
            <a:off x="685800" y="51054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Convergence acceptée ; cohérence vérifiée avant Closed</a:t>
            </a:r>
          </a:p>
        </p:txBody>
      </p:sp>
      <p:sp>
        <p:nvSpPr>
          <p:cNvPr id="8" name="slide-number">
            <a:extLst xmlns:a="http://schemas.openxmlformats.org/drawingml/2006/main">
              <a:ext uri="{FF2B5EF4-FFF2-40B4-BE49-F238E27FC236}">
                <a16:creationId xmlns:a16="http://schemas.microsoft.com/office/drawing/2014/main" id="{034E29E3-65E1-402B-BB88-536CCF634679}"/>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70</a:t>
            </a:r>
          </a:p>
        </p:txBody>
      </p:sp>
    </p:spTree>
    <p:extLst>
      <p:ext uri="{BB962C8B-B14F-4D97-AF65-F5344CB8AC3E}">
        <p14:creationId xmlns:p14="http://schemas.microsoft.com/office/powerpoint/2010/main" val="19595787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odule">
            <a:extLst xmlns:a="http://schemas.openxmlformats.org/drawingml/2006/main">
              <a:ext uri="{FF2B5EF4-FFF2-40B4-BE49-F238E27FC236}">
                <a16:creationId xmlns:a16="http://schemas.microsoft.com/office/drawing/2014/main" id="{1B5B13C6-DDDB-4302-9752-D6DDB41F26D1}"/>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C19967CE-AD00-4462-A11B-69ED30ECD672}"/>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décisions réservées à l’humain</a:t>
            </a:r>
          </a:p>
        </p:txBody>
      </p:sp>
      <p:sp>
        <p:nvSpPr>
          <p:cNvPr id="3" name="item-1">
            <a:extLst xmlns:a="http://schemas.openxmlformats.org/drawingml/2006/main">
              <a:ext uri="{FF2B5EF4-FFF2-40B4-BE49-F238E27FC236}">
                <a16:creationId xmlns:a16="http://schemas.microsoft.com/office/drawing/2014/main" id="{2952A617-2B0E-4D50-AA1F-4A0489D804B3}"/>
              </a:ext>
            </a:extLst>
          </p:cNvPr>
          <p:cNvSpPr>
            <a:spLocks xmlns:a="http://schemas.openxmlformats.org/drawingml/2006/main" noGrp="1"/>
          </p:cNvSpPr>
          <p:nvPr/>
        </p:nvSpPr>
        <p:spPr>
          <a:xfrm xmlns:a="http://schemas.openxmlformats.org/drawingml/2006/main">
            <a:off x="685800" y="20955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Intention du produit et changements de sens</a:t>
            </a:r>
          </a:p>
        </p:txBody>
      </p:sp>
      <p:sp>
        <p:nvSpPr>
          <p:cNvPr id="4" name="item-2">
            <a:extLst xmlns:a="http://schemas.openxmlformats.org/drawingml/2006/main">
              <a:ext uri="{FF2B5EF4-FFF2-40B4-BE49-F238E27FC236}">
                <a16:creationId xmlns:a16="http://schemas.microsoft.com/office/drawing/2014/main" id="{EAE9578B-76B3-4FDF-8DD1-44B934B89509}"/>
              </a:ext>
            </a:extLst>
          </p:cNvPr>
          <p:cNvSpPr>
            <a:spLocks xmlns:a="http://schemas.openxmlformats.org/drawingml/2006/main" noGrp="1"/>
          </p:cNvSpPr>
          <p:nvPr/>
        </p:nvSpPr>
        <p:spPr>
          <a:xfrm xmlns:a="http://schemas.openxmlformats.org/drawingml/2006/main">
            <a:off x="685800" y="28479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Évolutions de règles, validation HUMAN et N/A</a:t>
            </a:r>
          </a:p>
        </p:txBody>
      </p:sp>
      <p:sp>
        <p:nvSpPr>
          <p:cNvPr id="5" name="item-3">
            <a:extLst xmlns:a="http://schemas.openxmlformats.org/drawingml/2006/main">
              <a:ext uri="{FF2B5EF4-FFF2-40B4-BE49-F238E27FC236}">
                <a16:creationId xmlns:a16="http://schemas.microsoft.com/office/drawing/2014/main" id="{CFD8B341-5B84-4656-A551-9729FAD6F503}"/>
              </a:ext>
            </a:extLst>
          </p:cNvPr>
          <p:cNvSpPr>
            <a:spLocks xmlns:a="http://schemas.openxmlformats.org/drawingml/2006/main" noGrp="1"/>
          </p:cNvSpPr>
          <p:nvPr/>
        </p:nvSpPr>
        <p:spPr>
          <a:xfrm xmlns:a="http://schemas.openxmlformats.org/drawingml/2006/main">
            <a:off x="685800" y="36004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Acceptation des écarts et convergence partielle</a:t>
            </a:r>
          </a:p>
        </p:txBody>
      </p:sp>
      <p:sp>
        <p:nvSpPr>
          <p:cNvPr id="6" name="item-4">
            <a:extLst xmlns:a="http://schemas.openxmlformats.org/drawingml/2006/main">
              <a:ext uri="{FF2B5EF4-FFF2-40B4-BE49-F238E27FC236}">
                <a16:creationId xmlns:a16="http://schemas.microsoft.com/office/drawing/2014/main" id="{FA6C281D-BB25-4805-BF8E-E511D4491DA9}"/>
              </a:ext>
            </a:extLst>
          </p:cNvPr>
          <p:cNvSpPr>
            <a:spLocks xmlns:a="http://schemas.openxmlformats.org/drawingml/2006/main" noGrp="1"/>
          </p:cNvSpPr>
          <p:nvPr/>
        </p:nvSpPr>
        <p:spPr>
          <a:xfrm xmlns:a="http://schemas.openxmlformats.org/drawingml/2006/main">
            <a:off x="685800" y="4352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Lot issu d’un finding ; fermeture et reprises</a:t>
            </a:r>
          </a:p>
        </p:txBody>
      </p:sp>
      <p:sp>
        <p:nvSpPr>
          <p:cNvPr id="7" name="item-5">
            <a:extLst xmlns:a="http://schemas.openxmlformats.org/drawingml/2006/main">
              <a:ext uri="{FF2B5EF4-FFF2-40B4-BE49-F238E27FC236}">
                <a16:creationId xmlns:a16="http://schemas.microsoft.com/office/drawing/2014/main" id="{59F4B584-B7A4-4AFE-9BA9-1501761B2D46}"/>
              </a:ext>
            </a:extLst>
          </p:cNvPr>
          <p:cNvSpPr>
            <a:spLocks xmlns:a="http://schemas.openxmlformats.org/drawingml/2006/main" noGrp="1"/>
          </p:cNvSpPr>
          <p:nvPr/>
        </p:nvSpPr>
        <p:spPr>
          <a:xfrm xmlns:a="http://schemas.openxmlformats.org/drawingml/2006/main">
            <a:off x="685800" y="51054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Annulation, remplacement et abandon</a:t>
            </a:r>
          </a:p>
        </p:txBody>
      </p:sp>
      <p:sp>
        <p:nvSpPr>
          <p:cNvPr id="8" name="slide-number">
            <a:extLst xmlns:a="http://schemas.openxmlformats.org/drawingml/2006/main">
              <a:ext uri="{FF2B5EF4-FFF2-40B4-BE49-F238E27FC236}">
                <a16:creationId xmlns:a16="http://schemas.microsoft.com/office/drawing/2014/main" id="{7B593157-DC1D-4FF0-959F-E473B0D0FF75}"/>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71</a:t>
            </a:r>
          </a:p>
        </p:txBody>
      </p:sp>
    </p:spTree>
    <p:extLst>
      <p:ext uri="{BB962C8B-B14F-4D97-AF65-F5344CB8AC3E}">
        <p14:creationId xmlns:p14="http://schemas.microsoft.com/office/powerpoint/2010/main" val="578966563"/>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odule">
            <a:extLst xmlns:a="http://schemas.openxmlformats.org/drawingml/2006/main">
              <a:ext uri="{FF2B5EF4-FFF2-40B4-BE49-F238E27FC236}">
                <a16:creationId xmlns:a16="http://schemas.microsoft.com/office/drawing/2014/main" id="{4DFF9BDD-C67C-440B-ACAD-5FA4BD1B0EF1}"/>
              </a:ext>
            </a:extLst>
          </p:cNvPr>
          <p:cNvSpPr>
            <a:spLocks xmlns:a="http://schemas.openxmlformats.org/drawingml/2006/main" noGrp="1"/>
          </p:cNvSpPr>
          <p:nvPr/>
        </p:nvSpPr>
        <p:spPr>
          <a:xfrm xmlns:a="http://schemas.openxmlformats.org/drawingml/2006/main">
            <a:off x="685800" y="419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7E84"/>
                </a:solidFill>
                <a:latin typeface="Arial"/>
                <a:ea typeface="Arial"/>
                <a:cs typeface="Arial"/>
              </a:defRPr>
            </a:pPr>
            <a:r>
              <a:rPr sz="1500" b="1">
                <a:solidFill>
                  <a:srgbClr val="167E84"/>
                </a:solidFill>
                <a:latin typeface="Arial"/>
                <a:ea typeface="Arial"/>
                <a:cs typeface="Arial"/>
              </a:rPr>
              <a:t>11  ANNEXES DE RÉFÉRENCE</a:t>
            </a:r>
          </a:p>
        </p:txBody>
      </p:sp>
      <p:sp>
        <p:nvSpPr>
          <p:cNvPr id="2" name="title">
            <a:extLst xmlns:a="http://schemas.openxmlformats.org/drawingml/2006/main">
              <a:ext uri="{FF2B5EF4-FFF2-40B4-BE49-F238E27FC236}">
                <a16:creationId xmlns:a16="http://schemas.microsoft.com/office/drawing/2014/main" id="{A9683942-25BD-4E1F-AFB0-B6CE466B55E3}"/>
              </a:ext>
            </a:extLst>
          </p:cNvPr>
          <p:cNvSpPr>
            <a:spLocks xmlns:a="http://schemas.openxmlformats.org/drawingml/2006/main" noGrp="1"/>
          </p:cNvSpPr>
          <p:nvPr/>
        </p:nvSpPr>
        <p:spPr>
          <a:xfrm xmlns:a="http://schemas.openxmlformats.org/drawingml/2006/main">
            <a:off x="685800" y="895350"/>
            <a:ext cx="10820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3044"/>
                </a:solidFill>
                <a:latin typeface="Arial"/>
                <a:ea typeface="Arial"/>
                <a:cs typeface="Arial"/>
              </a:defRPr>
            </a:pPr>
            <a:r>
              <a:rPr sz="3300" b="1">
                <a:solidFill>
                  <a:srgbClr val="183044"/>
                </a:solidFill>
                <a:latin typeface="Arial"/>
                <a:ea typeface="Arial"/>
                <a:cs typeface="Arial"/>
              </a:rPr>
              <a:t>Annexe • sources et repères</a:t>
            </a:r>
          </a:p>
        </p:txBody>
      </p:sp>
      <p:sp>
        <p:nvSpPr>
          <p:cNvPr id="3" name="item-1">
            <a:extLst xmlns:a="http://schemas.openxmlformats.org/drawingml/2006/main">
              <a:ext uri="{FF2B5EF4-FFF2-40B4-BE49-F238E27FC236}">
                <a16:creationId xmlns:a16="http://schemas.microsoft.com/office/drawing/2014/main" id="{8F8C54C1-3311-4DA2-A0D4-DD110A56B05F}"/>
              </a:ext>
            </a:extLst>
          </p:cNvPr>
          <p:cNvSpPr>
            <a:spLocks xmlns:a="http://schemas.openxmlformats.org/drawingml/2006/main" noGrp="1"/>
          </p:cNvSpPr>
          <p:nvPr/>
        </p:nvSpPr>
        <p:spPr>
          <a:xfrm xmlns:a="http://schemas.openxmlformats.org/drawingml/2006/main">
            <a:off x="685800" y="20955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SAW 3.2 • révision 3.2.0-2026-09-27</a:t>
            </a:r>
          </a:p>
        </p:txBody>
      </p:sp>
      <p:sp>
        <p:nvSpPr>
          <p:cNvPr id="4" name="item-2">
            <a:extLst xmlns:a="http://schemas.openxmlformats.org/drawingml/2006/main">
              <a:ext uri="{FF2B5EF4-FFF2-40B4-BE49-F238E27FC236}">
                <a16:creationId xmlns:a16="http://schemas.microsoft.com/office/drawing/2014/main" id="{E3EDD9AE-C6A9-4E18-8619-DE00B669F935}"/>
              </a:ext>
            </a:extLst>
          </p:cNvPr>
          <p:cNvSpPr>
            <a:spLocks xmlns:a="http://schemas.openxmlformats.org/drawingml/2006/main" noGrp="1"/>
          </p:cNvSpPr>
          <p:nvPr/>
        </p:nvSpPr>
        <p:spPr>
          <a:xfrm xmlns:a="http://schemas.openxmlformats.org/drawingml/2006/main">
            <a:off x="685800" y="28479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Spécifications FR / EN, complètes et exécutables</a:t>
            </a:r>
          </a:p>
        </p:txBody>
      </p:sp>
      <p:sp>
        <p:nvSpPr>
          <p:cNvPr id="5" name="item-3">
            <a:extLst xmlns:a="http://schemas.openxmlformats.org/drawingml/2006/main">
              <a:ext uri="{FF2B5EF4-FFF2-40B4-BE49-F238E27FC236}">
                <a16:creationId xmlns:a16="http://schemas.microsoft.com/office/drawing/2014/main" id="{4A66D95D-5BB2-47FA-9069-0BCA6E4A6F6D}"/>
              </a:ext>
            </a:extLst>
          </p:cNvPr>
          <p:cNvSpPr>
            <a:spLocks xmlns:a="http://schemas.openxmlformats.org/drawingml/2006/main" noGrp="1"/>
          </p:cNvSpPr>
          <p:nvPr/>
        </p:nvSpPr>
        <p:spPr>
          <a:xfrm xmlns:a="http://schemas.openxmlformats.org/drawingml/2006/main">
            <a:off x="685800" y="36004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TextAid : LOT-003, D-008, LOT-010, D-041</a:t>
            </a:r>
          </a:p>
        </p:txBody>
      </p:sp>
      <p:sp>
        <p:nvSpPr>
          <p:cNvPr id="6" name="item-4">
            <a:extLst xmlns:a="http://schemas.openxmlformats.org/drawingml/2006/main">
              <a:ext uri="{FF2B5EF4-FFF2-40B4-BE49-F238E27FC236}">
                <a16:creationId xmlns:a16="http://schemas.microsoft.com/office/drawing/2014/main" id="{A179238D-FCFA-48E0-BD1A-94DFC1906035}"/>
              </a:ext>
            </a:extLst>
          </p:cNvPr>
          <p:cNvSpPr>
            <a:spLocks xmlns:a="http://schemas.openxmlformats.org/drawingml/2006/main" noGrp="1"/>
          </p:cNvSpPr>
          <p:nvPr/>
        </p:nvSpPr>
        <p:spPr>
          <a:xfrm xmlns:a="http://schemas.openxmlformats.org/drawingml/2006/main">
            <a:off x="685800" y="43529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Illustrations et couverture du livre d’Olivier Dahan</a:t>
            </a:r>
          </a:p>
        </p:txBody>
      </p:sp>
      <p:sp>
        <p:nvSpPr>
          <p:cNvPr id="7" name="item-5">
            <a:extLst xmlns:a="http://schemas.openxmlformats.org/drawingml/2006/main">
              <a:ext uri="{FF2B5EF4-FFF2-40B4-BE49-F238E27FC236}">
                <a16:creationId xmlns:a16="http://schemas.microsoft.com/office/drawing/2014/main" id="{982554E6-11E0-45D3-9083-F96873336CEE}"/>
              </a:ext>
            </a:extLst>
          </p:cNvPr>
          <p:cNvSpPr>
            <a:spLocks xmlns:a="http://schemas.openxmlformats.org/drawingml/2006/main" noGrp="1"/>
          </p:cNvSpPr>
          <p:nvPr/>
        </p:nvSpPr>
        <p:spPr>
          <a:xfrm xmlns:a="http://schemas.openxmlformats.org/drawingml/2006/main">
            <a:off x="685800" y="51054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83044"/>
                </a:solidFill>
                <a:latin typeface="Arial"/>
                <a:ea typeface="Arial"/>
                <a:cs typeface="Arial"/>
              </a:defRPr>
            </a:pPr>
            <a:r>
              <a:rPr sz="2325" b="0">
                <a:solidFill>
                  <a:srgbClr val="183044"/>
                </a:solidFill>
                <a:latin typeface="Arial"/>
                <a:ea typeface="Arial"/>
                <a:cs typeface="Arial"/>
              </a:rPr>
              <a:t>Modèles et scénarios signalés comme pédagogiques</a:t>
            </a:r>
          </a:p>
        </p:txBody>
      </p:sp>
      <p:sp>
        <p:nvSpPr>
          <p:cNvPr id="8" name="slide-number">
            <a:extLst xmlns:a="http://schemas.openxmlformats.org/drawingml/2006/main">
              <a:ext uri="{FF2B5EF4-FFF2-40B4-BE49-F238E27FC236}">
                <a16:creationId xmlns:a16="http://schemas.microsoft.com/office/drawing/2014/main" id="{00BD6AF6-8FA2-40FF-8AD9-64A41C4A4C88}"/>
              </a:ext>
            </a:extLst>
          </p:cNvPr>
          <p:cNvSpPr>
            <a:spLocks xmlns:a="http://schemas.openxmlformats.org/drawingml/2006/main" noGrp="1"/>
          </p:cNvSpPr>
          <p:nvPr/>
        </p:nvSpPr>
        <p:spPr>
          <a:xfrm xmlns:a="http://schemas.openxmlformats.org/drawingml/2006/main">
            <a:off x="10953750" y="636270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66B7B"/>
                </a:solidFill>
                <a:latin typeface="Arial"/>
                <a:ea typeface="Arial"/>
                <a:cs typeface="Arial"/>
              </a:defRPr>
            </a:pPr>
            <a:r>
              <a:rPr sz="1350" b="0">
                <a:solidFill>
                  <a:srgbClr val="566B7B"/>
                </a:solidFill>
                <a:latin typeface="Arial"/>
                <a:ea typeface="Arial"/>
                <a:cs typeface="Arial"/>
              </a:rPr>
              <a:t>72</a:t>
            </a:r>
          </a:p>
        </p:txBody>
      </p:sp>
    </p:spTree>
    <p:extLst>
      <p:ext uri="{BB962C8B-B14F-4D97-AF65-F5344CB8AC3E}">
        <p14:creationId xmlns:p14="http://schemas.microsoft.com/office/powerpoint/2010/main" val="14098280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2026-10-02T04:30:16.7970000Z</dcterms:created>
  <dcterms:modified xsi:type="dcterms:W3CDTF">2026-10-02T04:30:16.7970000Z</dcterms:modified>
</coreProperties>
</file>